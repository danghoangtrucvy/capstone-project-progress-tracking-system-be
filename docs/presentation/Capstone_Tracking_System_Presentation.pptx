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morning, we are Group 2, and today we present the Student Schedule and Guidance Management System, which we also call the Capstone Project Progress Tracking System. Our promise is simple: we want to move capstone supervision from scattered chats to one traceable lifecycle. On the right you can see that lifecycle in four moves. A group books a slot, meets its supervisor and logs what was decided, both sides sign the minutes, and finally the group is evaluated and the progress is reported.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Let us start with the context. Every semester, supervisors and project groups repeat the same cycle: they schedule a check-in, meet, record what was agreed, evaluate the work, and report progress. This cycle repeats with every group for fifteen weeks. Five kinds of people are involved: students, group leaders, instructors, the academic admin, and the department head. Today they coordinate through Zalo, email, Drive and Excel. For scheduling we took Calendly as our reference model, because it lets one side publish slots with a capacity and lets the other side book without any back-and-forth messages.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Running this cycle on general tools creates five obstacles. First, scheduling: times clash with teaching, groups compete for good slots through repeated messages, and nobody controls how many groups fit in one slot. Second, group information and documents are spread across Drive and email, so there is no single source of truth and no version history. Third, there is no shared question bank; review questions are prepared ad hoc. Fourth, and in our view the most painful, is what happens in meetings: new requirements are forgotten, and minutes are written days later, incomplete and never verified by the supervisor. Fifth, weekly and semester statistics are collected by hand, and grading stays subjective in private files.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Why does this happen? The root cause is that there is no system built for supervision. The workflow runs on tools that have no idea what a slot, a capacity or a booking is. There is no shared data model linking groups, bookings, meetings, requirements and scores, so nothing can be traced or aggregated. Records depend on individual people, there is no standard rubric, no automatic reminders, and topic knowledge stays with individual supervisors. The result, on the right, is lost time, scheduling conflicts and missed sessions, lost or disputed requirements, low transparency of real progress, and weak evidence behind grades.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From these problems we derived five business objectives, and each one has a target we can check. For scheduling, the target is zero double-bookings and zero capacity overflows. Second, one platform for groups, artifacts and the question bank, with every active group fully recorded. Third, traceable meetings: we aim to cut the time to finish minutes by seventy percent, and every requirement raised in a meeting gets its own identifier. Fourth, every group is scored on three dimensions with comments before the semester ends. And fifth, weekly and semester statistics without any manual consolidation.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solution is one role-based web platform with nine capabilities. Assessment scheduling works like Calendly with slots and bookings, and notifications send confirmations, reminders and calendar files. Users log in with their school email and later with Google single sign-on, and each role only gets the rights it needs. The platform manages groups with their members, leader and supervisor, and it keeps a topic catalogue with a question bank curated by the admin. Artifacts and meetings are handled with logged requirements and signed minutes, groups are evaluated on three dimensions, reports show weekly and semester views, and an audit trail logs every change. Underneath, it is a REST API on PostgreSQL.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how these capabilities connect in one lifecycle. The instructor publishes slots, and the group leader books one. From that booking a meeting session is opened, and during the meeting requirements are logged with a priority. After the meeting the minutes are drafted from the notes; the leader submits them and the instructor approves them. Then the instructor evaluates the group on three dimensions, and the system reports progress per week and per semester. The important point is that each step produces data the next step reuses, and the audit trail underneath records who changed what, and when.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Four roles work in the system. A student can view the group's schedule, read requirements and signed minutes, and see scores once they are published. A group leader is a student with extra rights: booking and cancelling slots, submitting artifacts and minutes, and logging requirements. The instructor publishes his or her own slots, runs meetings, approves minutes and evaluates groups. The academic admin manages users, topics, the question bank, department-wide slots, and views reports. Around the system, the department head reads the statistics, an email service sends notices, and Google single sign-on accepts only school accounts.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features fall into two halves. This first half is about planning and preparing. Scheduling lets instructors publish slots with a capacity counted in groups; booking runs under a database row lock so double-booking cannot happen, and a booking can be cancelled up to two hours before the start. For groups, students can create or join a group, with at most five active members and exactly one leader, and each group gets a topic and a supervisor. The topic catalogue moves topics from draft to published, and each topic carries categorized questions with guidance notes that instructors look up before a review. Finally, groups submit deliverables per assessment round; a new version supersedes the previous one, and the instructor accepts the final version.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second half is about meeting, evaluating and reporting with a record. A meeting session is opened from a confirmed booking, requirements are logged with a priority and an owner, and minutes are drafted from the notes and signed by both sides. Evaluation uses three dimensions, topic fit, product quality and communication, each scored from zero to one hundred and combined into one weighted total, which is published to the group in one action. Reports show sessions held, the attendance rate, and open versus closed requirements, per week or per semester. And notifications confirm every booking and remind people twenty-four hours and two hours before, while an immutable audit trail records every change.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Behind these features sit business rules. On this slide are the rules that make double-booking impossible. An instructor can never have two overlapping slots, and capacity is counted in groups, one by default. A group can hold only one active booking per assessment round, and only that group's own leader may book or cancel it. A slot turns full as soon as capacity is reached and reopens when a booking is cancelled. Cancellation is blocked in the last two hours before the start, and reminders go out twenty-four hours and two hours before. For groups and accounts, a group has at most five active members and one leader, a student belongs to only one group, and self sign-up is limited to school email addresses. These rules are enforced in code: a row lock and a database check keep capacity exact even when many groups try to book the last seat at the same moment.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second set of rules keeps meetings signed, traceable and fair. Minutes follow a clear lifecycle: they start as a draft, the leader submits them for review, and the instructor either approves them, which locks them, or rejects them so the leader can revise and resubmit. Both sides must sign within forty-eight hours. For meetings, artifacts are locked two hours before the meeting, there is exactly one session per confirmed booking, and every requirement needs a title, a priority and an owner. For evaluation and data, scores run from zero to one hundred with weights of forty, forty and twenty, which our supervisor still needs to confirm; students only see published scores; every change goes to the audit trail; and data stays active for six months and is then archived for one year.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sum up: one platform, one lifecycle, and every step traceable. Slots that used to be agreed in chats become conflict-free bookings with capacity. Notes in personal notebooks become logged requirements and minutes signed by both sides. Grades in private spreadsheets become a standard three-dimension evaluation, and reports compiled by hand become weekly and semester statistics. On status, the backend runs on Spring Boot and PostgreSQL with twenty-eight integration tests passing, and forty-one of eighty-eight functional items are implemented. Next we will add notifications, Google single sign-on, ownership checks and AI-drafted minutes. Thank you, and we are happy to take your questions.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apstone_tracking_pitch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apstone_tracking_pitch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1" name="hook-flow"/>
          <p:cNvGrpSpPr/>
          <p:nvPr/>
        </p:nvGrpSpPr>
        <p:grpSpPr>
          <a:xfrm>
            <a:off x="7429500" y="0"/>
            <a:ext cx="4762500" cy="6858000"/>
            <a:chOff x="7429500" y="0"/>
            <a:chExt cx="4762500" cy="6858000"/>
          </a:xfrm>
        </p:grpSpPr>
        <p:sp>
          <p:nvSpPr>
            <p:cNvPr id="2" name="Rectangle 2"/>
            <p:cNvSpPr/>
            <p:nvPr/>
          </p:nvSpPr>
          <p:spPr>
            <a:xfrm>
              <a:off x="7429500" y="0"/>
              <a:ext cx="4762500" cy="6858000"/>
            </a:xfrm>
            <a:prstGeom prst="rect">
              <a:avLst/>
            </a:prstGeom>
            <a:solidFill>
              <a:schemeClr val="accent1"/>
            </a:solidFill>
            <a:ln>
              <a:noFill/>
            </a:ln>
          </p:spPr>
        </p:sp>
        <p:sp>
          <p:nvSpPr>
            <p:cNvPr id="3" name="TextBox 3"/>
            <p:cNvSpPr txBox="1"/>
            <p:nvPr/>
          </p:nvSpPr>
          <p:spPr>
            <a:xfrm>
              <a:off x="8183880" y="1171575"/>
              <a:ext cx="3730990" cy="293370"/>
            </a:xfrm>
            <a:prstGeom prst="rect">
              <a:avLst/>
            </a:prstGeom>
            <a:noFill/>
            <a:ln>
              <a:noFill/>
            </a:ln>
          </p:spPr>
          <p:txBody>
            <a:bodyPr wrap="none" lIns="0" tIns="0" rIns="0" bIns="0" anchor="t" anchorCtr="0">
              <a:spAutoFit/>
            </a:bodyPr>
            <a:lstStyle/>
            <a:p>
              <a:pPr algn="l"/>
              <a:r>
                <a:rPr lang="en-US" sz="1500" spc="225" dirty="0">
                  <a:solidFill>
                    <a:srgbClr val="9FB3D1"/>
                  </a:solidFill>
                  <a:latin typeface="+mn-lt"/>
                  <a:ea typeface="+mn-ea"/>
                  <a:cs typeface="+mn-cs"/>
                </a:rPr>
                <a:t>ONE TRACEABLE LIFECYCLE</a:t>
              </a:r>
            </a:p>
          </p:txBody>
        </p:sp>
        <p:sp>
          <p:nvSpPr>
            <p:cNvPr id="4" name="Line 4"/>
            <p:cNvSpPr/>
            <p:nvPr/>
          </p:nvSpPr>
          <p:spPr>
            <a:xfrm>
              <a:off x="8439150" y="1962150"/>
              <a:ext cx="9525" cy="3028950"/>
            </a:xfrm>
            <a:custGeom>
              <a:avLst/>
              <a:gdLst/>
              <a:ahLst/>
              <a:cxnLst/>
              <a:rect l="l" t="t" r="r" b="b"/>
              <a:pathLst>
                <a:path w="9525" h="3028950">
                  <a:moveTo>
                    <a:pt x="0" y="0"/>
                  </a:moveTo>
                  <a:lnTo>
                    <a:pt x="0" y="3028950"/>
                  </a:lnTo>
                </a:path>
              </a:pathLst>
            </a:custGeom>
            <a:noFill/>
            <a:ln w="28575">
              <a:solidFill>
                <a:srgbClr val="FFFFFF">
                  <a:alpha val="35000"/>
                </a:srgbClr>
              </a:solidFill>
            </a:ln>
          </p:spPr>
        </p:sp>
        <p:grpSp>
          <p:nvGrpSpPr>
            <p:cNvPr id="8" name="hook-step-1"/>
            <p:cNvGrpSpPr/>
            <p:nvPr/>
          </p:nvGrpSpPr>
          <p:grpSpPr>
            <a:xfrm>
              <a:off x="8191500" y="1714500"/>
              <a:ext cx="2122954" cy="517398"/>
              <a:chOff x="8191500" y="1714500"/>
              <a:chExt cx="2122954" cy="517398"/>
            </a:xfrm>
          </p:grpSpPr>
          <p:sp>
            <p:nvSpPr>
              <p:cNvPr id="5" name="Ellipse 5"/>
              <p:cNvSpPr/>
              <p:nvPr/>
            </p:nvSpPr>
            <p:spPr>
              <a:xfrm>
                <a:off x="8191500" y="1714500"/>
                <a:ext cx="495300" cy="495300"/>
              </a:xfrm>
              <a:prstGeom prst="ellipse">
                <a:avLst/>
              </a:prstGeom>
              <a:solidFill>
                <a:schemeClr val="lt1"/>
              </a:solidFill>
              <a:ln>
                <a:noFill/>
              </a:ln>
            </p:spPr>
          </p:sp>
          <p:sp>
            <p:nvSpPr>
              <p:cNvPr id="6" name="TextBox 6"/>
              <p:cNvSpPr txBox="1"/>
              <p:nvPr/>
            </p:nvSpPr>
            <p:spPr>
              <a:xfrm>
                <a:off x="8368996" y="1869758"/>
                <a:ext cx="14030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1</a:t>
                </a:r>
              </a:p>
            </p:txBody>
          </p:sp>
          <p:sp>
            <p:nvSpPr>
              <p:cNvPr id="7" name="TextBox 7"/>
              <p:cNvSpPr txBox="1"/>
              <p:nvPr/>
            </p:nvSpPr>
            <p:spPr>
              <a:xfrm>
                <a:off x="8885682" y="1821180"/>
                <a:ext cx="1428772" cy="410718"/>
              </a:xfrm>
              <a:prstGeom prst="rect">
                <a:avLst/>
              </a:prstGeom>
              <a:noFill/>
              <a:ln>
                <a:noFill/>
              </a:ln>
            </p:spPr>
            <p:txBody>
              <a:bodyPr wrap="none" lIns="0" tIns="0" rIns="0" bIns="0" anchor="t" anchorCtr="0">
                <a:spAutoFit/>
              </a:bodyPr>
              <a:lstStyle/>
              <a:p>
                <a:pPr algn="l"/>
                <a:r>
                  <a:rPr lang="en-US" sz="2100" dirty="0">
                    <a:solidFill>
                      <a:srgbClr val="FFFFFF"/>
                    </a:solidFill>
                    <a:latin typeface="+mn-lt"/>
                    <a:ea typeface="+mn-ea"/>
                    <a:cs typeface="+mn-cs"/>
                  </a:rPr>
                  <a:t>Book a slot</a:t>
                </a:r>
              </a:p>
            </p:txBody>
          </p:sp>
        </p:grpSp>
        <p:grpSp>
          <p:nvGrpSpPr>
            <p:cNvPr id="12" name="hook-step-2"/>
            <p:cNvGrpSpPr/>
            <p:nvPr/>
          </p:nvGrpSpPr>
          <p:grpSpPr>
            <a:xfrm>
              <a:off x="8191500" y="2724150"/>
              <a:ext cx="2077875" cy="517398"/>
              <a:chOff x="8191500" y="2724150"/>
              <a:chExt cx="2077875" cy="517398"/>
            </a:xfrm>
          </p:grpSpPr>
          <p:sp>
            <p:nvSpPr>
              <p:cNvPr id="9" name="Ellipse 9"/>
              <p:cNvSpPr/>
              <p:nvPr/>
            </p:nvSpPr>
            <p:spPr>
              <a:xfrm>
                <a:off x="8191500" y="2724150"/>
                <a:ext cx="495300" cy="495300"/>
              </a:xfrm>
              <a:prstGeom prst="ellipse">
                <a:avLst/>
              </a:prstGeom>
              <a:solidFill>
                <a:schemeClr val="lt1"/>
              </a:solidFill>
              <a:ln>
                <a:noFill/>
              </a:ln>
            </p:spPr>
          </p:sp>
          <p:sp>
            <p:nvSpPr>
              <p:cNvPr id="10" name="TextBox 10"/>
              <p:cNvSpPr txBox="1"/>
              <p:nvPr/>
            </p:nvSpPr>
            <p:spPr>
              <a:xfrm>
                <a:off x="8368996" y="2879408"/>
                <a:ext cx="14030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2</a:t>
                </a:r>
              </a:p>
            </p:txBody>
          </p:sp>
          <p:sp>
            <p:nvSpPr>
              <p:cNvPr id="11" name="TextBox 11"/>
              <p:cNvSpPr txBox="1"/>
              <p:nvPr/>
            </p:nvSpPr>
            <p:spPr>
              <a:xfrm>
                <a:off x="8885682" y="2830830"/>
                <a:ext cx="1383693" cy="410718"/>
              </a:xfrm>
              <a:prstGeom prst="rect">
                <a:avLst/>
              </a:prstGeom>
              <a:noFill/>
              <a:ln>
                <a:noFill/>
              </a:ln>
            </p:spPr>
            <p:txBody>
              <a:bodyPr wrap="none" lIns="0" tIns="0" rIns="0" bIns="0" anchor="t" anchorCtr="0">
                <a:spAutoFit/>
              </a:bodyPr>
              <a:lstStyle/>
              <a:p>
                <a:pPr algn="l"/>
                <a:r>
                  <a:rPr lang="en-US" sz="2100" dirty="0">
                    <a:solidFill>
                      <a:srgbClr val="FFFFFF"/>
                    </a:solidFill>
                    <a:latin typeface="+mn-lt"/>
                    <a:ea typeface="+mn-ea"/>
                    <a:cs typeface="+mn-cs"/>
                  </a:rPr>
                  <a:t>Meet &amp; log</a:t>
                </a:r>
              </a:p>
            </p:txBody>
          </p:sp>
        </p:grpSp>
        <p:grpSp>
          <p:nvGrpSpPr>
            <p:cNvPr id="16" name="hook-step-3"/>
            <p:cNvGrpSpPr/>
            <p:nvPr/>
          </p:nvGrpSpPr>
          <p:grpSpPr>
            <a:xfrm>
              <a:off x="8191500" y="3733800"/>
              <a:ext cx="2358228" cy="517398"/>
              <a:chOff x="8191500" y="3733800"/>
              <a:chExt cx="2358228" cy="517398"/>
            </a:xfrm>
          </p:grpSpPr>
          <p:sp>
            <p:nvSpPr>
              <p:cNvPr id="13" name="Ellipse 13"/>
              <p:cNvSpPr/>
              <p:nvPr/>
            </p:nvSpPr>
            <p:spPr>
              <a:xfrm>
                <a:off x="8191500" y="3733800"/>
                <a:ext cx="495300" cy="495300"/>
              </a:xfrm>
              <a:prstGeom prst="ellipse">
                <a:avLst/>
              </a:prstGeom>
              <a:solidFill>
                <a:schemeClr val="accent2"/>
              </a:solidFill>
              <a:ln>
                <a:noFill/>
              </a:ln>
            </p:spPr>
          </p:sp>
          <p:sp>
            <p:nvSpPr>
              <p:cNvPr id="14" name="TextBox 14"/>
              <p:cNvSpPr txBox="1"/>
              <p:nvPr/>
            </p:nvSpPr>
            <p:spPr>
              <a:xfrm>
                <a:off x="8368996" y="3889058"/>
                <a:ext cx="14030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3</a:t>
                </a:r>
              </a:p>
            </p:txBody>
          </p:sp>
          <p:sp>
            <p:nvSpPr>
              <p:cNvPr id="15" name="TextBox 15"/>
              <p:cNvSpPr txBox="1"/>
              <p:nvPr/>
            </p:nvSpPr>
            <p:spPr>
              <a:xfrm>
                <a:off x="8885682" y="3840480"/>
                <a:ext cx="1664046" cy="410718"/>
              </a:xfrm>
              <a:prstGeom prst="rect">
                <a:avLst/>
              </a:prstGeom>
              <a:noFill/>
              <a:ln>
                <a:noFill/>
              </a:ln>
            </p:spPr>
            <p:txBody>
              <a:bodyPr wrap="none" lIns="0" tIns="0" rIns="0" bIns="0" anchor="t" anchorCtr="0">
                <a:spAutoFit/>
              </a:bodyPr>
              <a:lstStyle/>
              <a:p>
                <a:pPr algn="l"/>
                <a:r>
                  <a:rPr lang="en-US" sz="2100" dirty="0">
                    <a:solidFill>
                      <a:srgbClr val="FFFFFF"/>
                    </a:solidFill>
                    <a:latin typeface="+mn-lt"/>
                    <a:ea typeface="+mn-ea"/>
                    <a:cs typeface="+mn-cs"/>
                  </a:rPr>
                  <a:t>Sign minutes</a:t>
                </a:r>
              </a:p>
            </p:txBody>
          </p:sp>
        </p:grpSp>
        <p:grpSp>
          <p:nvGrpSpPr>
            <p:cNvPr id="20" name="hook-step-4"/>
            <p:cNvGrpSpPr/>
            <p:nvPr/>
          </p:nvGrpSpPr>
          <p:grpSpPr>
            <a:xfrm>
              <a:off x="8191500" y="4743450"/>
              <a:ext cx="2908732" cy="517398"/>
              <a:chOff x="8191500" y="4743450"/>
              <a:chExt cx="2908732" cy="517398"/>
            </a:xfrm>
          </p:grpSpPr>
          <p:sp>
            <p:nvSpPr>
              <p:cNvPr id="17" name="Ellipse 17"/>
              <p:cNvSpPr/>
              <p:nvPr/>
            </p:nvSpPr>
            <p:spPr>
              <a:xfrm>
                <a:off x="8191500" y="4743450"/>
                <a:ext cx="495300" cy="495300"/>
              </a:xfrm>
              <a:prstGeom prst="ellipse">
                <a:avLst/>
              </a:prstGeom>
              <a:solidFill>
                <a:schemeClr val="lt1"/>
              </a:solidFill>
              <a:ln>
                <a:noFill/>
              </a:ln>
            </p:spPr>
          </p:sp>
          <p:sp>
            <p:nvSpPr>
              <p:cNvPr id="18" name="TextBox 18"/>
              <p:cNvSpPr txBox="1"/>
              <p:nvPr/>
            </p:nvSpPr>
            <p:spPr>
              <a:xfrm>
                <a:off x="8368996" y="4898708"/>
                <a:ext cx="14030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4</a:t>
                </a:r>
              </a:p>
            </p:txBody>
          </p:sp>
          <p:sp>
            <p:nvSpPr>
              <p:cNvPr id="19" name="TextBox 19"/>
              <p:cNvSpPr txBox="1"/>
              <p:nvPr/>
            </p:nvSpPr>
            <p:spPr>
              <a:xfrm>
                <a:off x="8885682" y="4850130"/>
                <a:ext cx="2214550" cy="410718"/>
              </a:xfrm>
              <a:prstGeom prst="rect">
                <a:avLst/>
              </a:prstGeom>
              <a:noFill/>
              <a:ln>
                <a:noFill/>
              </a:ln>
            </p:spPr>
            <p:txBody>
              <a:bodyPr wrap="none" lIns="0" tIns="0" rIns="0" bIns="0" anchor="t" anchorCtr="0">
                <a:spAutoFit/>
              </a:bodyPr>
              <a:lstStyle/>
              <a:p>
                <a:pPr algn="l"/>
                <a:r>
                  <a:rPr lang="en-US" sz="2100" dirty="0">
                    <a:solidFill>
                      <a:srgbClr val="FFFFFF"/>
                    </a:solidFill>
                    <a:latin typeface="+mn-lt"/>
                    <a:ea typeface="+mn-ea"/>
                    <a:cs typeface="+mn-cs"/>
                  </a:rPr>
                  <a:t>Evaluate &amp; report</a:t>
                </a:r>
              </a:p>
            </p:txBody>
          </p:sp>
        </p:grpSp>
      </p:grpSp>
      <p:grpSp>
        <p:nvGrpSpPr>
          <p:cNvPr id="26" name="title-block"/>
          <p:cNvGrpSpPr/>
          <p:nvPr/>
        </p:nvGrpSpPr>
        <p:grpSpPr>
          <a:xfrm>
            <a:off x="590550" y="1247775"/>
            <a:ext cx="6476250" cy="3311842"/>
            <a:chOff x="590550" y="1247775"/>
            <a:chExt cx="6476250" cy="3311842"/>
          </a:xfrm>
        </p:grpSpPr>
        <p:sp>
          <p:nvSpPr>
            <p:cNvPr id="22" name="TextBox 22"/>
            <p:cNvSpPr txBox="1"/>
            <p:nvPr/>
          </p:nvSpPr>
          <p:spPr>
            <a:xfrm>
              <a:off x="601980" y="1247775"/>
              <a:ext cx="2499006"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SWD392 · GROUP 2</a:t>
              </a:r>
            </a:p>
          </p:txBody>
        </p:sp>
        <p:sp>
          <p:nvSpPr>
            <p:cNvPr id="23" name="TextBox 23"/>
            <p:cNvSpPr txBox="1"/>
            <p:nvPr/>
          </p:nvSpPr>
          <p:spPr>
            <a:xfrm>
              <a:off x="590550" y="1756410"/>
              <a:ext cx="5877123" cy="2114550"/>
            </a:xfrm>
            <a:prstGeom prst="rect">
              <a:avLst/>
            </a:prstGeom>
            <a:noFill/>
            <a:ln>
              <a:noFill/>
            </a:ln>
          </p:spPr>
          <p:txBody>
            <a:bodyPr wrap="none" lIns="0" tIns="0" rIns="0" bIns="0" anchor="t" anchorCtr="0">
              <a:spAutoFit/>
            </a:bodyPr>
            <a:lstStyle/>
            <a:p>
              <a:pPr algn="l">
                <a:lnSpc>
                  <a:spcPts val="5100"/>
                </a:lnSpc>
              </a:pPr>
              <a:r>
                <a:rPr lang="en-US" sz="4200" b="1" dirty="0">
                  <a:solidFill>
                    <a:schemeClr val="accent1"/>
                  </a:solidFill>
                  <a:latin typeface="+mn-lt"/>
                  <a:ea typeface="+mn-ea"/>
                  <a:cs typeface="+mn-cs"/>
                </a:rPr>
                <a:t>Student Schedule &amp;</a:t>
              </a:r>
              <a:br/>
              <a:r>
                <a:rPr lang="en-US" sz="4200" b="1" dirty="0">
                  <a:solidFill>
                    <a:schemeClr val="accent1"/>
                  </a:solidFill>
                  <a:latin typeface="+mn-lt"/>
                  <a:ea typeface="+mn-ea"/>
                  <a:cs typeface="+mn-cs"/>
                </a:rPr>
                <a:t>Guidance Management</a:t>
              </a:r>
              <a:br/>
              <a:r>
                <a:rPr lang="en-US" sz="4200" b="1" dirty="0">
                  <a:solidFill>
                    <a:schemeClr val="accent1"/>
                  </a:solidFill>
                  <a:latin typeface="+mn-lt"/>
                  <a:ea typeface="+mn-ea"/>
                  <a:cs typeface="+mn-cs"/>
                </a:rPr>
                <a:t>System</a:t>
              </a:r>
            </a:p>
          </p:txBody>
        </p:sp>
        <p:sp>
          <p:nvSpPr>
            <p:cNvPr id="24" name="Rectangle 24"/>
            <p:cNvSpPr/>
            <p:nvPr/>
          </p:nvSpPr>
          <p:spPr>
            <a:xfrm>
              <a:off x="609600" y="3848100"/>
              <a:ext cx="762000" cy="38100"/>
            </a:xfrm>
            <a:prstGeom prst="rect">
              <a:avLst/>
            </a:prstGeom>
            <a:solidFill>
              <a:schemeClr val="accent2"/>
            </a:solidFill>
            <a:ln>
              <a:noFill/>
            </a:ln>
          </p:spPr>
        </p:sp>
        <p:sp>
          <p:nvSpPr>
            <p:cNvPr id="25" name="TextBox 25"/>
            <p:cNvSpPr txBox="1"/>
            <p:nvPr/>
          </p:nvSpPr>
          <p:spPr>
            <a:xfrm>
              <a:off x="598170" y="4119562"/>
              <a:ext cx="646863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Capstone Project Progress Tracking System</a:t>
              </a:r>
            </a:p>
          </p:txBody>
        </p:sp>
      </p:grpSp>
      <p:grpSp>
        <p:nvGrpSpPr>
          <p:cNvPr id="28" name="cover-hook"/>
          <p:cNvGrpSpPr/>
          <p:nvPr/>
        </p:nvGrpSpPr>
        <p:grpSpPr>
          <a:xfrm>
            <a:off x="601218" y="4870132"/>
            <a:ext cx="5801139" cy="322707"/>
            <a:chOff x="601218" y="4870132"/>
            <a:chExt cx="5801139" cy="322707"/>
          </a:xfrm>
        </p:grpSpPr>
        <p:sp>
          <p:nvSpPr>
            <p:cNvPr id="27" name="TextBox 27"/>
            <p:cNvSpPr txBox="1"/>
            <p:nvPr/>
          </p:nvSpPr>
          <p:spPr>
            <a:xfrm>
              <a:off x="601218" y="4870132"/>
              <a:ext cx="580113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From scattered chats to one traceable supervision lifecycle</a:t>
              </a:r>
            </a:p>
          </p:txBody>
        </p:sp>
      </p:grpSp>
      <p:sp>
        <p:nvSpPr>
          <p:cNvPr id="29" name="TextBox 29"/>
          <p:cNvSpPr txBox="1"/>
          <p:nvPr/>
        </p:nvSpPr>
        <p:spPr>
          <a:xfrm>
            <a:off x="601980" y="6238875"/>
            <a:ext cx="2427452"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Group 2 · SWD392 · 2026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8064551" cy="1544193"/>
            <a:chOff x="591312" y="561975"/>
            <a:chExt cx="8064551" cy="1544193"/>
          </a:xfrm>
        </p:grpSpPr>
        <p:sp>
          <p:nvSpPr>
            <p:cNvPr id="2" name="TextBox 2"/>
            <p:cNvSpPr txBox="1"/>
            <p:nvPr/>
          </p:nvSpPr>
          <p:spPr>
            <a:xfrm>
              <a:off x="601980" y="561975"/>
              <a:ext cx="1226655"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CONTEXT</a:t>
              </a:r>
            </a:p>
          </p:txBody>
        </p:sp>
        <p:sp>
          <p:nvSpPr>
            <p:cNvPr id="3" name="TextBox 3"/>
            <p:cNvSpPr txBox="1"/>
            <p:nvPr/>
          </p:nvSpPr>
          <p:spPr>
            <a:xfrm>
              <a:off x="591312" y="849630"/>
              <a:ext cx="8064551" cy="1256538"/>
            </a:xfrm>
            <a:prstGeom prst="rect">
              <a:avLst/>
            </a:prstGeom>
            <a:noFill/>
            <a:ln>
              <a:noFill/>
            </a:ln>
          </p:spPr>
          <p:txBody>
            <a:bodyPr wrap="none" lIns="0" tIns="0" rIns="0" bIns="0" anchor="t" anchorCtr="0">
              <a:spAutoFit/>
            </a:bodyPr>
            <a:lstStyle/>
            <a:p>
              <a:pPr algn="l">
                <a:lnSpc>
                  <a:spcPts val="4350"/>
                </a:lnSpc>
              </a:pPr>
              <a:r>
                <a:rPr lang="en-US" sz="3600" b="1" dirty="0">
                  <a:solidFill>
                    <a:schemeClr val="accent1"/>
                  </a:solidFill>
                  <a:latin typeface="+mn-lt"/>
                  <a:ea typeface="+mn-ea"/>
                  <a:cs typeface="+mn-cs"/>
                </a:rPr>
                <a:t>Capstone supervision runs on chats,</a:t>
              </a:r>
              <a:br/>
              <a:r>
                <a:rPr lang="en-US" sz="3600" b="1" dirty="0">
                  <a:solidFill>
                    <a:schemeClr val="accent1"/>
                  </a:solidFill>
                  <a:latin typeface="+mn-lt"/>
                  <a:ea typeface="+mn-ea"/>
                  <a:cs typeface="+mn-cs"/>
                </a:rPr>
                <a:t>emails and spreadsheets</a:t>
              </a:r>
            </a:p>
          </p:txBody>
        </p:sp>
      </p:grpSp>
      <p:grpSp>
        <p:nvGrpSpPr>
          <p:cNvPr id="17" name="cycle"/>
          <p:cNvGrpSpPr/>
          <p:nvPr/>
        </p:nvGrpSpPr>
        <p:grpSpPr>
          <a:xfrm>
            <a:off x="790575" y="2209800"/>
            <a:ext cx="10610850" cy="1325689"/>
            <a:chOff x="790575" y="2209800"/>
            <a:chExt cx="10610850" cy="1325689"/>
          </a:xfrm>
        </p:grpSpPr>
        <p:sp>
          <p:nvSpPr>
            <p:cNvPr id="5" name="Freeform 5"/>
            <p:cNvSpPr/>
            <p:nvPr/>
          </p:nvSpPr>
          <p:spPr>
            <a:xfrm>
              <a:off x="790575" y="2209800"/>
              <a:ext cx="2381250" cy="800100"/>
            </a:xfrm>
            <a:prstGeom prst="chevron">
              <a:avLst/>
            </a:prstGeom>
            <a:solidFill>
              <a:schemeClr val="accent1"/>
            </a:solidFill>
            <a:ln>
              <a:noFill/>
            </a:ln>
          </p:spPr>
        </p:sp>
        <p:sp>
          <p:nvSpPr>
            <p:cNvPr id="6" name="Freeform 6"/>
            <p:cNvSpPr/>
            <p:nvPr/>
          </p:nvSpPr>
          <p:spPr>
            <a:xfrm>
              <a:off x="2847975" y="2209800"/>
              <a:ext cx="2381250" cy="800100"/>
            </a:xfrm>
            <a:prstGeom prst="chevron">
              <a:avLst/>
            </a:prstGeom>
            <a:solidFill>
              <a:schemeClr val="accent1"/>
            </a:solidFill>
            <a:ln>
              <a:noFill/>
            </a:ln>
          </p:spPr>
        </p:sp>
        <p:sp>
          <p:nvSpPr>
            <p:cNvPr id="7" name="Freeform 7"/>
            <p:cNvSpPr/>
            <p:nvPr/>
          </p:nvSpPr>
          <p:spPr>
            <a:xfrm>
              <a:off x="4905375" y="2209800"/>
              <a:ext cx="2381250" cy="800100"/>
            </a:xfrm>
            <a:prstGeom prst="chevron">
              <a:avLst/>
            </a:prstGeom>
            <a:solidFill>
              <a:schemeClr val="accent1"/>
            </a:solidFill>
            <a:ln>
              <a:noFill/>
            </a:ln>
          </p:spPr>
        </p:sp>
        <p:sp>
          <p:nvSpPr>
            <p:cNvPr id="8" name="Freeform 8"/>
            <p:cNvSpPr/>
            <p:nvPr/>
          </p:nvSpPr>
          <p:spPr>
            <a:xfrm>
              <a:off x="6962775" y="2209800"/>
              <a:ext cx="2381250" cy="800100"/>
            </a:xfrm>
            <a:prstGeom prst="chevron">
              <a:avLst/>
            </a:prstGeom>
            <a:solidFill>
              <a:schemeClr val="accent1"/>
            </a:solidFill>
            <a:ln>
              <a:noFill/>
            </a:ln>
          </p:spPr>
        </p:sp>
        <p:sp>
          <p:nvSpPr>
            <p:cNvPr id="9" name="Freeform 9"/>
            <p:cNvSpPr/>
            <p:nvPr/>
          </p:nvSpPr>
          <p:spPr>
            <a:xfrm>
              <a:off x="9020175" y="2209800"/>
              <a:ext cx="2381250" cy="800100"/>
            </a:xfrm>
            <a:prstGeom prst="chevron">
              <a:avLst/>
            </a:prstGeom>
            <a:solidFill>
              <a:schemeClr val="accent1"/>
            </a:solidFill>
            <a:ln>
              <a:noFill/>
            </a:ln>
          </p:spPr>
        </p:sp>
        <p:grpSp>
          <p:nvGrpSpPr>
            <p:cNvPr id="15" name="cycle-labels"/>
            <p:cNvGrpSpPr/>
            <p:nvPr/>
          </p:nvGrpSpPr>
          <p:grpSpPr>
            <a:xfrm>
              <a:off x="1376899" y="2478405"/>
              <a:ext cx="9272851" cy="410718"/>
              <a:chOff x="1376899" y="2478405"/>
              <a:chExt cx="9272851" cy="410718"/>
            </a:xfrm>
          </p:grpSpPr>
          <p:sp>
            <p:nvSpPr>
              <p:cNvPr id="10" name="TextBox 10"/>
              <p:cNvSpPr txBox="1"/>
              <p:nvPr/>
            </p:nvSpPr>
            <p:spPr>
              <a:xfrm>
                <a:off x="1376899" y="2478405"/>
                <a:ext cx="1208601"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mn-lt"/>
                    <a:ea typeface="+mn-ea"/>
                    <a:cs typeface="+mn-cs"/>
                  </a:rPr>
                  <a:t>Schedule</a:t>
                </a:r>
              </a:p>
            </p:txBody>
          </p:sp>
          <p:sp>
            <p:nvSpPr>
              <p:cNvPr id="11" name="TextBox 11"/>
              <p:cNvSpPr txBox="1"/>
              <p:nvPr/>
            </p:nvSpPr>
            <p:spPr>
              <a:xfrm>
                <a:off x="3709234" y="2478405"/>
                <a:ext cx="658733"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mn-lt"/>
                    <a:ea typeface="+mn-ea"/>
                    <a:cs typeface="+mn-cs"/>
                  </a:rPr>
                  <a:t>Meet</a:t>
                </a:r>
              </a:p>
            </p:txBody>
          </p:sp>
          <p:sp>
            <p:nvSpPr>
              <p:cNvPr id="12" name="TextBox 12"/>
              <p:cNvSpPr txBox="1"/>
              <p:nvPr/>
            </p:nvSpPr>
            <p:spPr>
              <a:xfrm>
                <a:off x="5625346" y="2478405"/>
                <a:ext cx="941309"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mn-lt"/>
                    <a:ea typeface="+mn-ea"/>
                    <a:cs typeface="+mn-cs"/>
                  </a:rPr>
                  <a:t>Record</a:t>
                </a:r>
              </a:p>
            </p:txBody>
          </p:sp>
          <p:sp>
            <p:nvSpPr>
              <p:cNvPr id="13" name="TextBox 13"/>
              <p:cNvSpPr txBox="1"/>
              <p:nvPr/>
            </p:nvSpPr>
            <p:spPr>
              <a:xfrm>
                <a:off x="7588730" y="2478405"/>
                <a:ext cx="1129340"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mn-lt"/>
                    <a:ea typeface="+mn-ea"/>
                    <a:cs typeface="+mn-cs"/>
                  </a:rPr>
                  <a:t>Evaluate</a:t>
                </a:r>
              </a:p>
            </p:txBody>
          </p:sp>
          <p:sp>
            <p:nvSpPr>
              <p:cNvPr id="14" name="TextBox 14"/>
              <p:cNvSpPr txBox="1"/>
              <p:nvPr/>
            </p:nvSpPr>
            <p:spPr>
              <a:xfrm>
                <a:off x="9771850" y="2478405"/>
                <a:ext cx="877900" cy="410718"/>
              </a:xfrm>
              <a:prstGeom prst="rect">
                <a:avLst/>
              </a:prstGeom>
              <a:noFill/>
              <a:ln>
                <a:noFill/>
              </a:ln>
            </p:spPr>
            <p:txBody>
              <a:bodyPr wrap="none" lIns="0" tIns="0" rIns="0" bIns="0" anchor="t" anchorCtr="0">
                <a:spAutoFit/>
              </a:bodyPr>
              <a:lstStyle/>
              <a:p>
                <a:pPr algn="ctr"/>
                <a:r>
                  <a:rPr lang="en-US" sz="2100" dirty="0">
                    <a:solidFill>
                      <a:srgbClr val="FFFFFF"/>
                    </a:solidFill>
                    <a:latin typeface="+mn-lt"/>
                    <a:ea typeface="+mn-ea"/>
                    <a:cs typeface="+mn-cs"/>
                  </a:rPr>
                  <a:t>Report</a:t>
                </a:r>
              </a:p>
            </p:txBody>
          </p:sp>
        </p:grpSp>
        <p:sp>
          <p:nvSpPr>
            <p:cNvPr id="16" name="TextBox 16"/>
            <p:cNvSpPr txBox="1"/>
            <p:nvPr/>
          </p:nvSpPr>
          <p:spPr>
            <a:xfrm>
              <a:off x="2670294" y="3212782"/>
              <a:ext cx="6851413"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The same cycle repeats with every group across a 15-week semester</a:t>
              </a:r>
            </a:p>
          </p:txBody>
        </p:sp>
      </p:grpSp>
      <p:grpSp>
        <p:nvGrpSpPr>
          <p:cNvPr id="52" name="stakeholders"/>
          <p:cNvGrpSpPr/>
          <p:nvPr/>
        </p:nvGrpSpPr>
        <p:grpSpPr>
          <a:xfrm>
            <a:off x="598932" y="3773805"/>
            <a:ext cx="5350535" cy="1577340"/>
            <a:chOff x="598932" y="3773805"/>
            <a:chExt cx="5350535" cy="1577340"/>
          </a:xfrm>
        </p:grpSpPr>
        <p:sp>
          <p:nvSpPr>
            <p:cNvPr id="18" name="TextBox 18"/>
            <p:cNvSpPr txBox="1"/>
            <p:nvPr/>
          </p:nvSpPr>
          <p:spPr>
            <a:xfrm>
              <a:off x="598932" y="3773805"/>
              <a:ext cx="218252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Who is involved</a:t>
              </a:r>
            </a:p>
          </p:txBody>
        </p:sp>
        <p:grpSp>
          <p:nvGrpSpPr>
            <p:cNvPr id="23" name="sh-student"/>
            <p:cNvGrpSpPr/>
            <p:nvPr/>
          </p:nvGrpSpPr>
          <p:grpSpPr>
            <a:xfrm>
              <a:off x="601980" y="4300537"/>
              <a:ext cx="717003" cy="802958"/>
              <a:chOff x="601980" y="4300537"/>
              <a:chExt cx="717003" cy="802958"/>
            </a:xfrm>
          </p:grpSpPr>
          <p:grpSp>
            <p:nvGrpSpPr>
              <p:cNvPr id="21" name="Group 21"/>
              <p:cNvGrpSpPr/>
              <p:nvPr/>
            </p:nvGrpSpPr>
            <p:grpSpPr>
              <a:xfrm>
                <a:off x="714375" y="4300537"/>
                <a:ext cx="209550" cy="314325"/>
                <a:chOff x="714375" y="4300537"/>
                <a:chExt cx="209550" cy="314325"/>
              </a:xfrm>
            </p:grpSpPr>
            <p:sp>
              <p:nvSpPr>
                <p:cNvPr id="19" name="Freeform 19"/>
                <p:cNvSpPr/>
                <p:nvPr/>
              </p:nvSpPr>
              <p:spPr>
                <a:xfrm>
                  <a:off x="749300" y="430053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34925">
                  <a:solidFill>
                    <a:schemeClr val="accent3"/>
                  </a:solidFill>
                </a:ln>
              </p:spPr>
            </p:sp>
            <p:sp>
              <p:nvSpPr>
                <p:cNvPr id="20" name="Freeform 20"/>
                <p:cNvSpPr/>
                <p:nvPr/>
              </p:nvSpPr>
              <p:spPr>
                <a:xfrm>
                  <a:off x="714375" y="4510087"/>
                  <a:ext cx="209550" cy="104775"/>
                </a:xfrm>
                <a:custGeom>
                  <a:avLst/>
                  <a:gdLst/>
                  <a:ahLst/>
                  <a:cxnLst/>
                  <a:rect l="l" t="t" r="r" b="b"/>
                  <a:pathLst>
                    <a:path w="209550" h="104775">
                      <a:moveTo>
                        <a:pt x="0" y="104775"/>
                      </a:moveTo>
                      <a:lnTo>
                        <a:pt x="0" y="69850"/>
                      </a:lnTo>
                      <a:cubicBezTo>
                        <a:pt x="0" y="31273"/>
                        <a:pt x="31273" y="0"/>
                        <a:pt x="69850" y="0"/>
                      </a:cubicBezTo>
                      <a:lnTo>
                        <a:pt x="139700" y="0"/>
                      </a:lnTo>
                      <a:cubicBezTo>
                        <a:pt x="178277" y="0"/>
                        <a:pt x="209550" y="31273"/>
                        <a:pt x="209550" y="69850"/>
                      </a:cubicBezTo>
                      <a:lnTo>
                        <a:pt x="209550" y="104775"/>
                      </a:lnTo>
                    </a:path>
                  </a:pathLst>
                </a:custGeom>
                <a:noFill/>
                <a:ln w="34925">
                  <a:solidFill>
                    <a:schemeClr val="accent3"/>
                  </a:solidFill>
                </a:ln>
              </p:spPr>
            </p:sp>
          </p:grpSp>
          <p:sp>
            <p:nvSpPr>
              <p:cNvPr id="22" name="TextBox 22"/>
              <p:cNvSpPr txBox="1"/>
              <p:nvPr/>
            </p:nvSpPr>
            <p:spPr>
              <a:xfrm>
                <a:off x="601980" y="4810125"/>
                <a:ext cx="717003"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Student</a:t>
                </a:r>
              </a:p>
            </p:txBody>
          </p:sp>
        </p:grpSp>
        <p:grpSp>
          <p:nvGrpSpPr>
            <p:cNvPr id="29" name="sh-leader"/>
            <p:cNvGrpSpPr/>
            <p:nvPr/>
          </p:nvGrpSpPr>
          <p:grpSpPr>
            <a:xfrm>
              <a:off x="1821180" y="4300537"/>
              <a:ext cx="608457" cy="1050608"/>
              <a:chOff x="1821180" y="4300537"/>
              <a:chExt cx="608457" cy="1050608"/>
            </a:xfrm>
          </p:grpSpPr>
          <p:grpSp>
            <p:nvGrpSpPr>
              <p:cNvPr id="27" name="Group 27"/>
              <p:cNvGrpSpPr/>
              <p:nvPr/>
            </p:nvGrpSpPr>
            <p:grpSpPr>
              <a:xfrm>
                <a:off x="1933575" y="4300537"/>
                <a:ext cx="261937" cy="314325"/>
                <a:chOff x="1933575" y="4300537"/>
                <a:chExt cx="261937" cy="314325"/>
              </a:xfrm>
            </p:grpSpPr>
            <p:sp>
              <p:nvSpPr>
                <p:cNvPr id="24" name="Freeform 24"/>
                <p:cNvSpPr/>
                <p:nvPr/>
              </p:nvSpPr>
              <p:spPr>
                <a:xfrm>
                  <a:off x="1968500" y="430053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34925">
                  <a:solidFill>
                    <a:schemeClr val="accent3"/>
                  </a:solidFill>
                </a:ln>
              </p:spPr>
            </p:sp>
            <p:sp>
              <p:nvSpPr>
                <p:cNvPr id="25" name="Freeform 25"/>
                <p:cNvSpPr/>
                <p:nvPr/>
              </p:nvSpPr>
              <p:spPr>
                <a:xfrm>
                  <a:off x="1933575" y="4510087"/>
                  <a:ext cx="139700" cy="104775"/>
                </a:xfrm>
                <a:custGeom>
                  <a:avLst/>
                  <a:gdLst/>
                  <a:ahLst/>
                  <a:cxnLst/>
                  <a:rect l="l" t="t" r="r" b="b"/>
                  <a:pathLst>
                    <a:path w="139700" h="104775">
                      <a:moveTo>
                        <a:pt x="0" y="104775"/>
                      </a:moveTo>
                      <a:lnTo>
                        <a:pt x="0" y="69850"/>
                      </a:lnTo>
                      <a:cubicBezTo>
                        <a:pt x="0" y="31273"/>
                        <a:pt x="31273" y="0"/>
                        <a:pt x="69850" y="0"/>
                      </a:cubicBezTo>
                      <a:lnTo>
                        <a:pt x="139700" y="0"/>
                      </a:lnTo>
                    </a:path>
                  </a:pathLst>
                </a:custGeom>
                <a:noFill/>
                <a:ln w="34925">
                  <a:solidFill>
                    <a:schemeClr val="accent3"/>
                  </a:solidFill>
                </a:ln>
              </p:spPr>
            </p:sp>
            <p:sp>
              <p:nvSpPr>
                <p:cNvPr id="26" name="Freeform 26"/>
                <p:cNvSpPr/>
                <p:nvPr/>
              </p:nvSpPr>
              <p:spPr>
                <a:xfrm>
                  <a:off x="2090737" y="4545012"/>
                  <a:ext cx="104775" cy="69850"/>
                </a:xfrm>
                <a:custGeom>
                  <a:avLst/>
                  <a:gdLst/>
                  <a:ahLst/>
                  <a:cxnLst/>
                  <a:rect l="l" t="t" r="r" b="b"/>
                  <a:pathLst>
                    <a:path w="104775" h="69850">
                      <a:moveTo>
                        <a:pt x="0" y="34925"/>
                      </a:moveTo>
                      <a:lnTo>
                        <a:pt x="34925" y="69850"/>
                      </a:lnTo>
                      <a:lnTo>
                        <a:pt x="104775" y="0"/>
                      </a:lnTo>
                    </a:path>
                  </a:pathLst>
                </a:custGeom>
                <a:noFill/>
                <a:ln w="34925">
                  <a:solidFill>
                    <a:schemeClr val="accent3"/>
                  </a:solidFill>
                </a:ln>
              </p:spPr>
            </p:sp>
          </p:grpSp>
          <p:sp>
            <p:nvSpPr>
              <p:cNvPr id="28" name="TextBox 28"/>
              <p:cNvSpPr txBox="1"/>
              <p:nvPr/>
            </p:nvSpPr>
            <p:spPr>
              <a:xfrm>
                <a:off x="1821180" y="4810125"/>
                <a:ext cx="608457"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Group</a:t>
                </a:r>
                <a:br/>
                <a:r>
                  <a:rPr lang="en-US" sz="1500" dirty="0">
                    <a:solidFill>
                      <a:schemeClr val="dk1"/>
                    </a:solidFill>
                    <a:latin typeface="+mn-lt"/>
                    <a:ea typeface="+mn-ea"/>
                    <a:cs typeface="+mn-cs"/>
                  </a:rPr>
                  <a:t>Leader</a:t>
                </a:r>
              </a:p>
            </p:txBody>
          </p:sp>
        </p:grpSp>
        <p:grpSp>
          <p:nvGrpSpPr>
            <p:cNvPr id="34" name="sh-instructor"/>
            <p:cNvGrpSpPr/>
            <p:nvPr/>
          </p:nvGrpSpPr>
          <p:grpSpPr>
            <a:xfrm>
              <a:off x="3040380" y="4335462"/>
              <a:ext cx="861648" cy="768033"/>
              <a:chOff x="3040380" y="4335462"/>
              <a:chExt cx="861648" cy="768033"/>
            </a:xfrm>
          </p:grpSpPr>
          <p:grpSp>
            <p:nvGrpSpPr>
              <p:cNvPr id="32" name="Group 32"/>
              <p:cNvGrpSpPr/>
              <p:nvPr/>
            </p:nvGrpSpPr>
            <p:grpSpPr>
              <a:xfrm>
                <a:off x="3082925" y="4335462"/>
                <a:ext cx="349249" cy="244475"/>
                <a:chOff x="3082925" y="4335462"/>
                <a:chExt cx="349249" cy="244475"/>
              </a:xfrm>
            </p:grpSpPr>
            <p:sp>
              <p:nvSpPr>
                <p:cNvPr id="30" name="Freeform 30"/>
                <p:cNvSpPr/>
                <p:nvPr/>
              </p:nvSpPr>
              <p:spPr>
                <a:xfrm>
                  <a:off x="3082925" y="4335462"/>
                  <a:ext cx="349249" cy="174625"/>
                </a:xfrm>
                <a:custGeom>
                  <a:avLst/>
                  <a:gdLst/>
                  <a:ahLst/>
                  <a:cxnLst/>
                  <a:rect l="l" t="t" r="r" b="b"/>
                  <a:pathLst>
                    <a:path w="349249" h="174625">
                      <a:moveTo>
                        <a:pt x="349249" y="69850"/>
                      </a:moveTo>
                      <a:lnTo>
                        <a:pt x="174625" y="0"/>
                      </a:lnTo>
                      <a:lnTo>
                        <a:pt x="0" y="69850"/>
                      </a:lnTo>
                      <a:lnTo>
                        <a:pt x="174625" y="139700"/>
                      </a:lnTo>
                      <a:lnTo>
                        <a:pt x="349249" y="69850"/>
                      </a:lnTo>
                      <a:lnTo>
                        <a:pt x="349249" y="174625"/>
                      </a:lnTo>
                    </a:path>
                  </a:pathLst>
                </a:custGeom>
                <a:noFill/>
                <a:ln w="34925">
                  <a:solidFill>
                    <a:schemeClr val="accent3"/>
                  </a:solidFill>
                </a:ln>
              </p:spPr>
            </p:sp>
            <p:sp>
              <p:nvSpPr>
                <p:cNvPr id="31" name="Freeform 31"/>
                <p:cNvSpPr/>
                <p:nvPr/>
              </p:nvSpPr>
              <p:spPr>
                <a:xfrm>
                  <a:off x="3152775" y="4433252"/>
                  <a:ext cx="209550" cy="146685"/>
                </a:xfrm>
                <a:custGeom>
                  <a:avLst/>
                  <a:gdLst/>
                  <a:ahLst/>
                  <a:cxnLst/>
                  <a:rect l="l" t="t" r="r" b="b"/>
                  <a:pathLst>
                    <a:path w="209550" h="146685">
                      <a:moveTo>
                        <a:pt x="0" y="0"/>
                      </a:moveTo>
                      <a:lnTo>
                        <a:pt x="0" y="94297"/>
                      </a:lnTo>
                      <a:cubicBezTo>
                        <a:pt x="0" y="123230"/>
                        <a:pt x="46909" y="146685"/>
                        <a:pt x="104775" y="146685"/>
                      </a:cubicBezTo>
                      <a:cubicBezTo>
                        <a:pt x="162640" y="146685"/>
                        <a:pt x="209550" y="123230"/>
                        <a:pt x="209550" y="94297"/>
                      </a:cubicBezTo>
                      <a:lnTo>
                        <a:pt x="209550" y="0"/>
                      </a:lnTo>
                    </a:path>
                  </a:pathLst>
                </a:custGeom>
                <a:noFill/>
                <a:ln w="34925">
                  <a:solidFill>
                    <a:schemeClr val="accent3"/>
                  </a:solidFill>
                </a:ln>
              </p:spPr>
            </p:sp>
          </p:grpSp>
          <p:sp>
            <p:nvSpPr>
              <p:cNvPr id="33" name="TextBox 33"/>
              <p:cNvSpPr txBox="1"/>
              <p:nvPr/>
            </p:nvSpPr>
            <p:spPr>
              <a:xfrm>
                <a:off x="3040380" y="4810125"/>
                <a:ext cx="8616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Instructor</a:t>
                </a:r>
              </a:p>
            </p:txBody>
          </p:sp>
        </p:grpSp>
        <p:grpSp>
          <p:nvGrpSpPr>
            <p:cNvPr id="40" name="sh-admin"/>
            <p:cNvGrpSpPr/>
            <p:nvPr/>
          </p:nvGrpSpPr>
          <p:grpSpPr>
            <a:xfrm>
              <a:off x="4259580" y="4300537"/>
              <a:ext cx="851687" cy="1050608"/>
              <a:chOff x="4259580" y="4300537"/>
              <a:chExt cx="851687" cy="1050608"/>
            </a:xfrm>
          </p:grpSpPr>
          <p:grpSp>
            <p:nvGrpSpPr>
              <p:cNvPr id="38" name="Group 38"/>
              <p:cNvGrpSpPr/>
              <p:nvPr/>
            </p:nvGrpSpPr>
            <p:grpSpPr>
              <a:xfrm>
                <a:off x="4371975" y="4300537"/>
                <a:ext cx="279399" cy="331788"/>
                <a:chOff x="4371975" y="4300537"/>
                <a:chExt cx="279399" cy="331788"/>
              </a:xfrm>
            </p:grpSpPr>
            <p:sp>
              <p:nvSpPr>
                <p:cNvPr id="35" name="Freeform 35"/>
                <p:cNvSpPr/>
                <p:nvPr/>
              </p:nvSpPr>
              <p:spPr>
                <a:xfrm>
                  <a:off x="4371975" y="4510087"/>
                  <a:ext cx="104775" cy="104775"/>
                </a:xfrm>
                <a:custGeom>
                  <a:avLst/>
                  <a:gdLst/>
                  <a:ahLst/>
                  <a:cxnLst/>
                  <a:rect l="l" t="t" r="r" b="b"/>
                  <a:pathLst>
                    <a:path w="104775" h="104775">
                      <a:moveTo>
                        <a:pt x="0" y="104775"/>
                      </a:moveTo>
                      <a:lnTo>
                        <a:pt x="0" y="69850"/>
                      </a:lnTo>
                      <a:cubicBezTo>
                        <a:pt x="0" y="31273"/>
                        <a:pt x="31273" y="0"/>
                        <a:pt x="69850" y="0"/>
                      </a:cubicBezTo>
                      <a:lnTo>
                        <a:pt x="104775" y="0"/>
                      </a:lnTo>
                    </a:path>
                  </a:pathLst>
                </a:custGeom>
                <a:noFill/>
                <a:ln w="34925">
                  <a:solidFill>
                    <a:schemeClr val="accent3"/>
                  </a:solidFill>
                </a:ln>
              </p:spPr>
            </p:sp>
            <p:sp>
              <p:nvSpPr>
                <p:cNvPr id="36" name="Freeform 36"/>
                <p:cNvSpPr/>
                <p:nvPr/>
              </p:nvSpPr>
              <p:spPr>
                <a:xfrm>
                  <a:off x="4529137" y="4501356"/>
                  <a:ext cx="122237" cy="130969"/>
                </a:xfrm>
                <a:custGeom>
                  <a:avLst/>
                  <a:gdLst/>
                  <a:ahLst/>
                  <a:cxnLst/>
                  <a:rect l="l" t="t" r="r" b="b"/>
                  <a:pathLst>
                    <a:path w="122237" h="130969">
                      <a:moveTo>
                        <a:pt x="122237" y="26194"/>
                      </a:moveTo>
                      <a:cubicBezTo>
                        <a:pt x="122237" y="96044"/>
                        <a:pt x="78581" y="130969"/>
                        <a:pt x="61119" y="130969"/>
                      </a:cubicBezTo>
                      <a:cubicBezTo>
                        <a:pt x="43656" y="130969"/>
                        <a:pt x="0" y="96044"/>
                        <a:pt x="0" y="26194"/>
                      </a:cubicBezTo>
                      <a:cubicBezTo>
                        <a:pt x="17462" y="26194"/>
                        <a:pt x="43656" y="17462"/>
                        <a:pt x="61119" y="0"/>
                      </a:cubicBezTo>
                      <a:cubicBezTo>
                        <a:pt x="78581" y="17462"/>
                        <a:pt x="104775" y="26194"/>
                        <a:pt x="122237" y="26194"/>
                      </a:cubicBezTo>
                    </a:path>
                  </a:pathLst>
                </a:custGeom>
                <a:noFill/>
                <a:ln w="34925">
                  <a:solidFill>
                    <a:schemeClr val="accent3"/>
                  </a:solidFill>
                </a:ln>
              </p:spPr>
            </p:sp>
            <p:sp>
              <p:nvSpPr>
                <p:cNvPr id="37" name="Freeform 37"/>
                <p:cNvSpPr/>
                <p:nvPr/>
              </p:nvSpPr>
              <p:spPr>
                <a:xfrm>
                  <a:off x="4406900" y="430053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34925">
                  <a:solidFill>
                    <a:schemeClr val="accent3"/>
                  </a:solidFill>
                </a:ln>
              </p:spPr>
            </p:sp>
          </p:grpSp>
          <p:sp>
            <p:nvSpPr>
              <p:cNvPr id="39" name="TextBox 39"/>
              <p:cNvSpPr txBox="1"/>
              <p:nvPr/>
            </p:nvSpPr>
            <p:spPr>
              <a:xfrm>
                <a:off x="4259580" y="4810125"/>
                <a:ext cx="851687"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Academic</a:t>
                </a:r>
                <a:br/>
                <a:r>
                  <a:rPr lang="en-US" sz="1500" dirty="0">
                    <a:solidFill>
                      <a:schemeClr val="dk1"/>
                    </a:solidFill>
                    <a:latin typeface="+mn-lt"/>
                    <a:ea typeface="+mn-ea"/>
                    <a:cs typeface="+mn-cs"/>
                  </a:rPr>
                  <a:t>Admin</a:t>
                </a:r>
              </a:p>
            </p:txBody>
          </p:sp>
        </p:grpSp>
        <p:grpSp>
          <p:nvGrpSpPr>
            <p:cNvPr id="51" name="sh-head"/>
            <p:cNvGrpSpPr/>
            <p:nvPr/>
          </p:nvGrpSpPr>
          <p:grpSpPr>
            <a:xfrm>
              <a:off x="5478780" y="4300537"/>
              <a:ext cx="470687" cy="1050608"/>
              <a:chOff x="5478780" y="4300537"/>
              <a:chExt cx="470687" cy="1050608"/>
            </a:xfrm>
          </p:grpSpPr>
          <p:grpSp>
            <p:nvGrpSpPr>
              <p:cNvPr id="49" name="Group 49"/>
              <p:cNvGrpSpPr/>
              <p:nvPr/>
            </p:nvGrpSpPr>
            <p:grpSpPr>
              <a:xfrm>
                <a:off x="5538787" y="4300537"/>
                <a:ext cx="314324" cy="323850"/>
                <a:chOff x="5538787" y="4300537"/>
                <a:chExt cx="314324" cy="323850"/>
              </a:xfrm>
            </p:grpSpPr>
            <p:sp>
              <p:nvSpPr>
                <p:cNvPr id="41" name="Freeform 41"/>
                <p:cNvSpPr/>
                <p:nvPr/>
              </p:nvSpPr>
              <p:spPr>
                <a:xfrm>
                  <a:off x="5538787" y="4614862"/>
                  <a:ext cx="314324" cy="9525"/>
                </a:xfrm>
                <a:custGeom>
                  <a:avLst/>
                  <a:gdLst/>
                  <a:ahLst/>
                  <a:cxnLst/>
                  <a:rect l="l" t="t" r="r" b="b"/>
                  <a:pathLst>
                    <a:path w="314324" h="9525">
                      <a:moveTo>
                        <a:pt x="0" y="0"/>
                      </a:moveTo>
                      <a:lnTo>
                        <a:pt x="314324" y="0"/>
                      </a:lnTo>
                    </a:path>
                  </a:pathLst>
                </a:custGeom>
                <a:noFill/>
                <a:ln w="34925">
                  <a:solidFill>
                    <a:schemeClr val="accent3"/>
                  </a:solidFill>
                </a:ln>
              </p:spPr>
            </p:sp>
            <p:sp>
              <p:nvSpPr>
                <p:cNvPr id="42" name="Freeform 42"/>
                <p:cNvSpPr/>
                <p:nvPr/>
              </p:nvSpPr>
              <p:spPr>
                <a:xfrm>
                  <a:off x="5538787" y="4422775"/>
                  <a:ext cx="314324" cy="9525"/>
                </a:xfrm>
                <a:custGeom>
                  <a:avLst/>
                  <a:gdLst/>
                  <a:ahLst/>
                  <a:cxnLst/>
                  <a:rect l="l" t="t" r="r" b="b"/>
                  <a:pathLst>
                    <a:path w="314324" h="9525">
                      <a:moveTo>
                        <a:pt x="0" y="0"/>
                      </a:moveTo>
                      <a:lnTo>
                        <a:pt x="314324" y="0"/>
                      </a:lnTo>
                    </a:path>
                  </a:pathLst>
                </a:custGeom>
                <a:noFill/>
                <a:ln w="34925">
                  <a:solidFill>
                    <a:schemeClr val="accent3"/>
                  </a:solidFill>
                </a:ln>
              </p:spPr>
            </p:sp>
            <p:sp>
              <p:nvSpPr>
                <p:cNvPr id="43" name="Freeform 43"/>
                <p:cNvSpPr/>
                <p:nvPr/>
              </p:nvSpPr>
              <p:spPr>
                <a:xfrm>
                  <a:off x="5573712" y="4300537"/>
                  <a:ext cx="244475" cy="52387"/>
                </a:xfrm>
                <a:custGeom>
                  <a:avLst/>
                  <a:gdLst/>
                  <a:ahLst/>
                  <a:cxnLst/>
                  <a:rect l="l" t="t" r="r" b="b"/>
                  <a:pathLst>
                    <a:path w="244475" h="52387">
                      <a:moveTo>
                        <a:pt x="0" y="52387"/>
                      </a:moveTo>
                      <a:lnTo>
                        <a:pt x="122237" y="0"/>
                      </a:lnTo>
                      <a:lnTo>
                        <a:pt x="244475" y="52387"/>
                      </a:lnTo>
                    </a:path>
                  </a:pathLst>
                </a:custGeom>
                <a:noFill/>
                <a:ln w="34925">
                  <a:solidFill>
                    <a:schemeClr val="accent3"/>
                  </a:solidFill>
                </a:ln>
              </p:spPr>
            </p:sp>
            <p:sp>
              <p:nvSpPr>
                <p:cNvPr id="44" name="Freeform 44"/>
                <p:cNvSpPr/>
                <p:nvPr/>
              </p:nvSpPr>
              <p:spPr>
                <a:xfrm>
                  <a:off x="5556250" y="4422775"/>
                  <a:ext cx="9525" cy="192087"/>
                </a:xfrm>
                <a:custGeom>
                  <a:avLst/>
                  <a:gdLst/>
                  <a:ahLst/>
                  <a:cxnLst/>
                  <a:rect l="l" t="t" r="r" b="b"/>
                  <a:pathLst>
                    <a:path w="9525" h="192087">
                      <a:moveTo>
                        <a:pt x="0" y="0"/>
                      </a:moveTo>
                      <a:lnTo>
                        <a:pt x="0" y="192087"/>
                      </a:lnTo>
                    </a:path>
                  </a:pathLst>
                </a:custGeom>
                <a:noFill/>
                <a:ln w="34925">
                  <a:solidFill>
                    <a:schemeClr val="accent3"/>
                  </a:solidFill>
                </a:ln>
              </p:spPr>
            </p:sp>
            <p:sp>
              <p:nvSpPr>
                <p:cNvPr id="45" name="Freeform 45"/>
                <p:cNvSpPr/>
                <p:nvPr/>
              </p:nvSpPr>
              <p:spPr>
                <a:xfrm>
                  <a:off x="5835649" y="4422775"/>
                  <a:ext cx="9525" cy="192087"/>
                </a:xfrm>
                <a:custGeom>
                  <a:avLst/>
                  <a:gdLst/>
                  <a:ahLst/>
                  <a:cxnLst/>
                  <a:rect l="l" t="t" r="r" b="b"/>
                  <a:pathLst>
                    <a:path w="9525" h="192087">
                      <a:moveTo>
                        <a:pt x="0" y="0"/>
                      </a:moveTo>
                      <a:lnTo>
                        <a:pt x="0" y="192087"/>
                      </a:lnTo>
                    </a:path>
                  </a:pathLst>
                </a:custGeom>
                <a:noFill/>
                <a:ln w="34925">
                  <a:solidFill>
                    <a:schemeClr val="accent3"/>
                  </a:solidFill>
                </a:ln>
              </p:spPr>
            </p:sp>
            <p:sp>
              <p:nvSpPr>
                <p:cNvPr id="46" name="Freeform 46"/>
                <p:cNvSpPr/>
                <p:nvPr/>
              </p:nvSpPr>
              <p:spPr>
                <a:xfrm>
                  <a:off x="5626100" y="4492625"/>
                  <a:ext cx="9525" cy="52387"/>
                </a:xfrm>
                <a:custGeom>
                  <a:avLst/>
                  <a:gdLst/>
                  <a:ahLst/>
                  <a:cxnLst/>
                  <a:rect l="l" t="t" r="r" b="b"/>
                  <a:pathLst>
                    <a:path w="9525" h="52387">
                      <a:moveTo>
                        <a:pt x="0" y="0"/>
                      </a:moveTo>
                      <a:lnTo>
                        <a:pt x="0" y="52387"/>
                      </a:lnTo>
                    </a:path>
                  </a:pathLst>
                </a:custGeom>
                <a:noFill/>
                <a:ln w="34925">
                  <a:solidFill>
                    <a:schemeClr val="accent3"/>
                  </a:solidFill>
                </a:ln>
              </p:spPr>
            </p:sp>
            <p:sp>
              <p:nvSpPr>
                <p:cNvPr id="47" name="Freeform 47"/>
                <p:cNvSpPr/>
                <p:nvPr/>
              </p:nvSpPr>
              <p:spPr>
                <a:xfrm>
                  <a:off x="5695950" y="4492625"/>
                  <a:ext cx="9525" cy="52387"/>
                </a:xfrm>
                <a:custGeom>
                  <a:avLst/>
                  <a:gdLst/>
                  <a:ahLst/>
                  <a:cxnLst/>
                  <a:rect l="l" t="t" r="r" b="b"/>
                  <a:pathLst>
                    <a:path w="9525" h="52387">
                      <a:moveTo>
                        <a:pt x="0" y="0"/>
                      </a:moveTo>
                      <a:lnTo>
                        <a:pt x="0" y="52387"/>
                      </a:lnTo>
                    </a:path>
                  </a:pathLst>
                </a:custGeom>
                <a:noFill/>
                <a:ln w="34925">
                  <a:solidFill>
                    <a:schemeClr val="accent3"/>
                  </a:solidFill>
                </a:ln>
              </p:spPr>
            </p:sp>
            <p:sp>
              <p:nvSpPr>
                <p:cNvPr id="48" name="Freeform 48"/>
                <p:cNvSpPr/>
                <p:nvPr/>
              </p:nvSpPr>
              <p:spPr>
                <a:xfrm>
                  <a:off x="5765799" y="4492625"/>
                  <a:ext cx="9525" cy="52387"/>
                </a:xfrm>
                <a:custGeom>
                  <a:avLst/>
                  <a:gdLst/>
                  <a:ahLst/>
                  <a:cxnLst/>
                  <a:rect l="l" t="t" r="r" b="b"/>
                  <a:pathLst>
                    <a:path w="9525" h="52387">
                      <a:moveTo>
                        <a:pt x="0" y="0"/>
                      </a:moveTo>
                      <a:lnTo>
                        <a:pt x="0" y="52387"/>
                      </a:lnTo>
                    </a:path>
                  </a:pathLst>
                </a:custGeom>
                <a:noFill/>
                <a:ln w="34925">
                  <a:solidFill>
                    <a:schemeClr val="accent3"/>
                  </a:solidFill>
                </a:ln>
              </p:spPr>
            </p:sp>
          </p:grpSp>
          <p:sp>
            <p:nvSpPr>
              <p:cNvPr id="50" name="TextBox 50"/>
              <p:cNvSpPr txBox="1"/>
              <p:nvPr/>
            </p:nvSpPr>
            <p:spPr>
              <a:xfrm>
                <a:off x="5478780" y="4810125"/>
                <a:ext cx="470687"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Dept</a:t>
                </a:r>
                <a:br/>
                <a:r>
                  <a:rPr lang="en-US" sz="1500" dirty="0">
                    <a:solidFill>
                      <a:schemeClr val="dk1"/>
                    </a:solidFill>
                    <a:latin typeface="+mn-lt"/>
                    <a:ea typeface="+mn-ea"/>
                    <a:cs typeface="+mn-cs"/>
                  </a:rPr>
                  <a:t>Head</a:t>
                </a:r>
              </a:p>
            </p:txBody>
          </p:sp>
        </p:grpSp>
      </p:grpSp>
      <p:grpSp>
        <p:nvGrpSpPr>
          <p:cNvPr id="66" name="tools"/>
          <p:cNvGrpSpPr/>
          <p:nvPr/>
        </p:nvGrpSpPr>
        <p:grpSpPr>
          <a:xfrm>
            <a:off x="7037832" y="3773805"/>
            <a:ext cx="4544568" cy="2207895"/>
            <a:chOff x="7037832" y="3773805"/>
            <a:chExt cx="4544568" cy="2207895"/>
          </a:xfrm>
        </p:grpSpPr>
        <p:sp>
          <p:nvSpPr>
            <p:cNvPr id="53" name="TextBox 53"/>
            <p:cNvSpPr txBox="1"/>
            <p:nvPr/>
          </p:nvSpPr>
          <p:spPr>
            <a:xfrm>
              <a:off x="7037832" y="3773805"/>
              <a:ext cx="161661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Tools today</a:t>
              </a:r>
            </a:p>
          </p:txBody>
        </p:sp>
        <p:grpSp>
          <p:nvGrpSpPr>
            <p:cNvPr id="62" name="tool-chips"/>
            <p:cNvGrpSpPr/>
            <p:nvPr/>
          </p:nvGrpSpPr>
          <p:grpSpPr>
            <a:xfrm>
              <a:off x="7048500" y="4229100"/>
              <a:ext cx="4152900" cy="420815"/>
              <a:chOff x="7048500" y="4229100"/>
              <a:chExt cx="4152900" cy="420815"/>
            </a:xfrm>
          </p:grpSpPr>
          <p:sp>
            <p:nvSpPr>
              <p:cNvPr id="54" name="Rectangle 54"/>
              <p:cNvSpPr/>
              <p:nvPr/>
            </p:nvSpPr>
            <p:spPr>
              <a:xfrm>
                <a:off x="7048500" y="4229100"/>
                <a:ext cx="952500" cy="419100"/>
              </a:xfrm>
              <a:prstGeom prst="roundRect">
                <a:avLst>
                  <a:gd name="adj" fmla="val 50000"/>
                </a:avLst>
              </a:prstGeom>
              <a:solidFill>
                <a:schemeClr val="lt2"/>
              </a:solidFill>
              <a:ln w="9525">
                <a:solidFill>
                  <a:schemeClr val="accent6"/>
                </a:solidFill>
              </a:ln>
            </p:spPr>
          </p:sp>
          <p:sp>
            <p:nvSpPr>
              <p:cNvPr id="55" name="TextBox 55"/>
              <p:cNvSpPr txBox="1"/>
              <p:nvPr/>
            </p:nvSpPr>
            <p:spPr>
              <a:xfrm>
                <a:off x="7297252" y="4327208"/>
                <a:ext cx="454997" cy="322707"/>
              </a:xfrm>
              <a:prstGeom prst="rect">
                <a:avLst/>
              </a:prstGeom>
              <a:noFill/>
              <a:ln>
                <a:noFill/>
              </a:ln>
            </p:spPr>
            <p:txBody>
              <a:bodyPr wrap="none" lIns="0" tIns="0" rIns="0" bIns="0" anchor="t" anchorCtr="0">
                <a:spAutoFit/>
              </a:bodyPr>
              <a:lstStyle/>
              <a:p>
                <a:pPr algn="ctr"/>
                <a:r>
                  <a:rPr lang="en-US" sz="1650" dirty="0">
                    <a:solidFill>
                      <a:schemeClr val="accent1"/>
                    </a:solidFill>
                    <a:latin typeface="+mn-lt"/>
                    <a:ea typeface="+mn-ea"/>
                    <a:cs typeface="+mn-cs"/>
                  </a:rPr>
                  <a:t>Zalo</a:t>
                </a:r>
              </a:p>
            </p:txBody>
          </p:sp>
          <p:sp>
            <p:nvSpPr>
              <p:cNvPr id="56" name="Rectangle 56"/>
              <p:cNvSpPr/>
              <p:nvPr/>
            </p:nvSpPr>
            <p:spPr>
              <a:xfrm>
                <a:off x="8115300" y="4229100"/>
                <a:ext cx="952500" cy="419100"/>
              </a:xfrm>
              <a:prstGeom prst="roundRect">
                <a:avLst>
                  <a:gd name="adj" fmla="val 50000"/>
                </a:avLst>
              </a:prstGeom>
              <a:solidFill>
                <a:schemeClr val="lt2"/>
              </a:solidFill>
              <a:ln w="9525">
                <a:solidFill>
                  <a:schemeClr val="accent6"/>
                </a:solidFill>
              </a:ln>
            </p:spPr>
          </p:sp>
          <p:sp>
            <p:nvSpPr>
              <p:cNvPr id="57" name="TextBox 57"/>
              <p:cNvSpPr txBox="1"/>
              <p:nvPr/>
            </p:nvSpPr>
            <p:spPr>
              <a:xfrm>
                <a:off x="8302304" y="4327208"/>
                <a:ext cx="578493" cy="322707"/>
              </a:xfrm>
              <a:prstGeom prst="rect">
                <a:avLst/>
              </a:prstGeom>
              <a:noFill/>
              <a:ln>
                <a:noFill/>
              </a:ln>
            </p:spPr>
            <p:txBody>
              <a:bodyPr wrap="none" lIns="0" tIns="0" rIns="0" bIns="0" anchor="t" anchorCtr="0">
                <a:spAutoFit/>
              </a:bodyPr>
              <a:lstStyle/>
              <a:p>
                <a:pPr algn="ctr"/>
                <a:r>
                  <a:rPr lang="en-US" sz="1650" dirty="0">
                    <a:solidFill>
                      <a:schemeClr val="accent1"/>
                    </a:solidFill>
                    <a:latin typeface="+mn-lt"/>
                    <a:ea typeface="+mn-ea"/>
                    <a:cs typeface="+mn-cs"/>
                  </a:rPr>
                  <a:t>Email</a:t>
                </a:r>
              </a:p>
            </p:txBody>
          </p:sp>
          <p:sp>
            <p:nvSpPr>
              <p:cNvPr id="58" name="Rectangle 58"/>
              <p:cNvSpPr/>
              <p:nvPr/>
            </p:nvSpPr>
            <p:spPr>
              <a:xfrm>
                <a:off x="9182100" y="4229100"/>
                <a:ext cx="952500" cy="419100"/>
              </a:xfrm>
              <a:prstGeom prst="roundRect">
                <a:avLst>
                  <a:gd name="adj" fmla="val 50000"/>
                </a:avLst>
              </a:prstGeom>
              <a:solidFill>
                <a:schemeClr val="lt2"/>
              </a:solidFill>
              <a:ln w="9525">
                <a:solidFill>
                  <a:schemeClr val="accent6"/>
                </a:solidFill>
              </a:ln>
            </p:spPr>
          </p:sp>
          <p:sp>
            <p:nvSpPr>
              <p:cNvPr id="59" name="TextBox 59"/>
              <p:cNvSpPr txBox="1"/>
              <p:nvPr/>
            </p:nvSpPr>
            <p:spPr>
              <a:xfrm>
                <a:off x="9387861" y="4327208"/>
                <a:ext cx="540978" cy="322707"/>
              </a:xfrm>
              <a:prstGeom prst="rect">
                <a:avLst/>
              </a:prstGeom>
              <a:noFill/>
              <a:ln>
                <a:noFill/>
              </a:ln>
            </p:spPr>
            <p:txBody>
              <a:bodyPr wrap="none" lIns="0" tIns="0" rIns="0" bIns="0" anchor="t" anchorCtr="0">
                <a:spAutoFit/>
              </a:bodyPr>
              <a:lstStyle/>
              <a:p>
                <a:pPr algn="ctr"/>
                <a:r>
                  <a:rPr lang="en-US" sz="1650" dirty="0">
                    <a:solidFill>
                      <a:schemeClr val="accent1"/>
                    </a:solidFill>
                    <a:latin typeface="+mn-lt"/>
                    <a:ea typeface="+mn-ea"/>
                    <a:cs typeface="+mn-cs"/>
                  </a:rPr>
                  <a:t>Drive</a:t>
                </a:r>
              </a:p>
            </p:txBody>
          </p:sp>
          <p:sp>
            <p:nvSpPr>
              <p:cNvPr id="60" name="Rectangle 60"/>
              <p:cNvSpPr/>
              <p:nvPr/>
            </p:nvSpPr>
            <p:spPr>
              <a:xfrm>
                <a:off x="10248900" y="4229100"/>
                <a:ext cx="952500" cy="419100"/>
              </a:xfrm>
              <a:prstGeom prst="roundRect">
                <a:avLst>
                  <a:gd name="adj" fmla="val 50000"/>
                </a:avLst>
              </a:prstGeom>
              <a:solidFill>
                <a:schemeClr val="lt2"/>
              </a:solidFill>
              <a:ln w="9525">
                <a:solidFill>
                  <a:schemeClr val="accent6"/>
                </a:solidFill>
              </a:ln>
            </p:spPr>
          </p:sp>
          <p:sp>
            <p:nvSpPr>
              <p:cNvPr id="61" name="TextBox 61"/>
              <p:cNvSpPr txBox="1"/>
              <p:nvPr/>
            </p:nvSpPr>
            <p:spPr>
              <a:xfrm>
                <a:off x="10442104" y="4327208"/>
                <a:ext cx="566093" cy="322707"/>
              </a:xfrm>
              <a:prstGeom prst="rect">
                <a:avLst/>
              </a:prstGeom>
              <a:noFill/>
              <a:ln>
                <a:noFill/>
              </a:ln>
            </p:spPr>
            <p:txBody>
              <a:bodyPr wrap="none" lIns="0" tIns="0" rIns="0" bIns="0" anchor="t" anchorCtr="0">
                <a:spAutoFit/>
              </a:bodyPr>
              <a:lstStyle/>
              <a:p>
                <a:pPr algn="ctr"/>
                <a:r>
                  <a:rPr lang="en-US" sz="1650" dirty="0">
                    <a:solidFill>
                      <a:schemeClr val="accent1"/>
                    </a:solidFill>
                    <a:latin typeface="+mn-lt"/>
                    <a:ea typeface="+mn-ea"/>
                    <a:cs typeface="+mn-cs"/>
                  </a:rPr>
                  <a:t>Excel</a:t>
                </a:r>
              </a:p>
            </p:txBody>
          </p:sp>
        </p:grpSp>
        <p:sp>
          <p:nvSpPr>
            <p:cNvPr id="63" name="Rectangle 63"/>
            <p:cNvSpPr/>
            <p:nvPr/>
          </p:nvSpPr>
          <p:spPr>
            <a:xfrm>
              <a:off x="7048500" y="4876800"/>
              <a:ext cx="4533900" cy="1104900"/>
            </a:xfrm>
            <a:prstGeom prst="roundRect">
              <a:avLst>
                <a:gd name="adj" fmla="val 10345"/>
              </a:avLst>
            </a:prstGeom>
            <a:solidFill>
              <a:srgbClr val="FEF3E8"/>
            </a:solidFill>
            <a:ln>
              <a:noFill/>
            </a:ln>
          </p:spPr>
        </p:sp>
        <p:sp>
          <p:nvSpPr>
            <p:cNvPr id="64" name="Rectangle 64"/>
            <p:cNvSpPr/>
            <p:nvPr/>
          </p:nvSpPr>
          <p:spPr>
            <a:xfrm>
              <a:off x="7048500" y="4876800"/>
              <a:ext cx="57150" cy="1104900"/>
            </a:xfrm>
            <a:prstGeom prst="rect">
              <a:avLst/>
            </a:prstGeom>
            <a:solidFill>
              <a:schemeClr val="accent2"/>
            </a:solidFill>
            <a:ln>
              <a:noFill/>
            </a:ln>
          </p:spPr>
        </p:sp>
        <p:sp>
          <p:nvSpPr>
            <p:cNvPr id="65" name="TextBox 65"/>
            <p:cNvSpPr txBox="1"/>
            <p:nvPr/>
          </p:nvSpPr>
          <p:spPr>
            <a:xfrm>
              <a:off x="7287768" y="5079682"/>
              <a:ext cx="3301754" cy="894207"/>
            </a:xfrm>
            <a:prstGeom prst="rect">
              <a:avLst/>
            </a:prstGeom>
            <a:noFill/>
            <a:ln>
              <a:noFill/>
            </a:ln>
          </p:spPr>
          <p:txBody>
            <a:bodyPr wrap="none" lIns="0" tIns="0" rIns="0" bIns="0" anchor="t" anchorCtr="0">
              <a:spAutoFit/>
            </a:bodyPr>
            <a:lstStyle/>
            <a:p>
              <a:pPr algn="l">
                <a:lnSpc>
                  <a:spcPts val="2250"/>
                </a:lnSpc>
              </a:pPr>
              <a:r>
                <a:rPr lang="en-US" sz="1650" b="1" dirty="0">
                  <a:solidFill>
                    <a:schemeClr val="accent1"/>
                  </a:solidFill>
                  <a:latin typeface="+mn-lt"/>
                  <a:ea typeface="+mn-ea"/>
                  <a:cs typeface="+mn-cs"/>
                </a:rPr>
                <a:t>Reference model: Calendly</a:t>
              </a:r>
              <a:br/>
              <a:r>
                <a:rPr lang="en-US" sz="1650" dirty="0">
                  <a:solidFill>
                    <a:schemeClr val="dk1"/>
                  </a:solidFill>
                  <a:latin typeface="+mn-lt"/>
                  <a:ea typeface="+mn-ea"/>
                  <a:cs typeface="+mn-cs"/>
                </a:rPr>
                <a:t>publish slots with capacity and let</a:t>
              </a:r>
              <a:br/>
              <a:r>
                <a:rPr lang="en-US" sz="1650" dirty="0">
                  <a:solidFill>
                    <a:schemeClr val="dk1"/>
                  </a:solidFill>
                  <a:latin typeface="+mn-lt"/>
                  <a:ea typeface="+mn-ea"/>
                  <a:cs typeface="+mn-cs"/>
                </a:rPr>
                <a:t>groups book without back-and-forth</a:t>
              </a:r>
            </a:p>
          </p:txBody>
        </p:sp>
      </p:grpSp>
      <p:grpSp>
        <p:nvGrpSpPr>
          <p:cNvPr id="69" name="footer"/>
          <p:cNvGrpSpPr/>
          <p:nvPr/>
        </p:nvGrpSpPr>
        <p:grpSpPr>
          <a:xfrm>
            <a:off x="602742" y="6445568"/>
            <a:ext cx="10986516" cy="264033"/>
            <a:chOff x="602742" y="6445568"/>
            <a:chExt cx="10986516" cy="264033"/>
          </a:xfrm>
        </p:grpSpPr>
        <p:sp>
          <p:nvSpPr>
            <p:cNvPr id="67" name="TextBox 67"/>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68" name="TextBox 68"/>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02 / 13</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8858498" cy="991743"/>
            <a:chOff x="591312" y="561975"/>
            <a:chExt cx="8858498" cy="991743"/>
          </a:xfrm>
        </p:grpSpPr>
        <p:sp>
          <p:nvSpPr>
            <p:cNvPr id="2" name="TextBox 2"/>
            <p:cNvSpPr txBox="1"/>
            <p:nvPr/>
          </p:nvSpPr>
          <p:spPr>
            <a:xfrm>
              <a:off x="601980" y="561975"/>
              <a:ext cx="1250637"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PROBLEM</a:t>
              </a:r>
            </a:p>
          </p:txBody>
        </p:sp>
        <p:sp>
          <p:nvSpPr>
            <p:cNvPr id="3" name="TextBox 3"/>
            <p:cNvSpPr txBox="1"/>
            <p:nvPr/>
          </p:nvSpPr>
          <p:spPr>
            <a:xfrm>
              <a:off x="591312" y="849630"/>
              <a:ext cx="8858498"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Five obstacles slow supervision down</a:t>
              </a:r>
            </a:p>
          </p:txBody>
        </p:sp>
      </p:grpSp>
      <p:grpSp>
        <p:nvGrpSpPr>
          <p:cNvPr id="16" name="ob-1"/>
          <p:cNvGrpSpPr/>
          <p:nvPr/>
        </p:nvGrpSpPr>
        <p:grpSpPr>
          <a:xfrm>
            <a:off x="609600" y="1803082"/>
            <a:ext cx="10972800" cy="721043"/>
            <a:chOff x="609600" y="1803082"/>
            <a:chExt cx="10972800" cy="721043"/>
          </a:xfrm>
        </p:grpSpPr>
        <p:sp>
          <p:nvSpPr>
            <p:cNvPr id="5" name="Rectangle 5"/>
            <p:cNvSpPr/>
            <p:nvPr/>
          </p:nvSpPr>
          <p:spPr>
            <a:xfrm>
              <a:off x="609600" y="1809750"/>
              <a:ext cx="914400" cy="495300"/>
            </a:xfrm>
            <a:prstGeom prst="roundRect">
              <a:avLst>
                <a:gd name="adj" fmla="val 23077"/>
              </a:avLst>
            </a:prstGeom>
            <a:solidFill>
              <a:schemeClr val="accent1"/>
            </a:solidFill>
            <a:ln>
              <a:noFill/>
            </a:ln>
          </p:spPr>
        </p:sp>
        <p:sp>
          <p:nvSpPr>
            <p:cNvPr id="6" name="TextBox 6"/>
            <p:cNvSpPr txBox="1"/>
            <p:nvPr/>
          </p:nvSpPr>
          <p:spPr>
            <a:xfrm>
              <a:off x="778050" y="1955482"/>
              <a:ext cx="57750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OB-1</a:t>
              </a:r>
            </a:p>
          </p:txBody>
        </p:sp>
        <p:grpSp>
          <p:nvGrpSpPr>
            <p:cNvPr id="12" name="Group 12"/>
            <p:cNvGrpSpPr/>
            <p:nvPr/>
          </p:nvGrpSpPr>
          <p:grpSpPr>
            <a:xfrm>
              <a:off x="1800225" y="1914525"/>
              <a:ext cx="285751" cy="285754"/>
              <a:chOff x="1800225" y="1914525"/>
              <a:chExt cx="285751" cy="285754"/>
            </a:xfrm>
          </p:grpSpPr>
          <p:sp>
            <p:nvSpPr>
              <p:cNvPr id="7" name="Freeform 7"/>
              <p:cNvSpPr/>
              <p:nvPr/>
            </p:nvSpPr>
            <p:spPr>
              <a:xfrm>
                <a:off x="1816095" y="1946275"/>
                <a:ext cx="254006" cy="254004"/>
              </a:xfrm>
              <a:custGeom>
                <a:avLst/>
                <a:gdLst/>
                <a:ahLst/>
                <a:cxnLst/>
                <a:rect l="l" t="t" r="r" b="b"/>
                <a:pathLst>
                  <a:path w="254006" h="254004">
                    <a:moveTo>
                      <a:pt x="79381" y="0"/>
                    </a:moveTo>
                    <a:lnTo>
                      <a:pt x="222256" y="0"/>
                    </a:lnTo>
                    <a:cubicBezTo>
                      <a:pt x="239791" y="0"/>
                      <a:pt x="254006" y="14215"/>
                      <a:pt x="254006" y="31750"/>
                    </a:cubicBezTo>
                    <a:lnTo>
                      <a:pt x="254006" y="174625"/>
                    </a:lnTo>
                    <a:moveTo>
                      <a:pt x="251085" y="235570"/>
                    </a:moveTo>
                    <a:cubicBezTo>
                      <a:pt x="245891" y="246809"/>
                      <a:pt x="234637" y="254004"/>
                      <a:pt x="222256" y="254001"/>
                    </a:cubicBezTo>
                    <a:lnTo>
                      <a:pt x="31755" y="254001"/>
                    </a:lnTo>
                    <a:cubicBezTo>
                      <a:pt x="14220" y="254001"/>
                      <a:pt x="5" y="239786"/>
                      <a:pt x="5" y="222250"/>
                    </a:cubicBezTo>
                    <a:lnTo>
                      <a:pt x="5" y="31750"/>
                    </a:lnTo>
                    <a:cubicBezTo>
                      <a:pt x="0" y="19385"/>
                      <a:pt x="7173" y="8142"/>
                      <a:pt x="18389" y="2937"/>
                    </a:cubicBezTo>
                  </a:path>
                </a:pathLst>
              </a:custGeom>
              <a:noFill/>
              <a:ln w="31750">
                <a:solidFill>
                  <a:schemeClr val="accent3"/>
                </a:solidFill>
              </a:ln>
            </p:spPr>
          </p:sp>
          <p:sp>
            <p:nvSpPr>
              <p:cNvPr id="8" name="Freeform 8"/>
              <p:cNvSpPr/>
              <p:nvPr/>
            </p:nvSpPr>
            <p:spPr>
              <a:xfrm>
                <a:off x="2006601" y="1914525"/>
                <a:ext cx="9525" cy="63500"/>
              </a:xfrm>
              <a:custGeom>
                <a:avLst/>
                <a:gdLst/>
                <a:ahLst/>
                <a:cxnLst/>
                <a:rect l="l" t="t" r="r" b="b"/>
                <a:pathLst>
                  <a:path w="9525" h="63500">
                    <a:moveTo>
                      <a:pt x="0" y="0"/>
                    </a:moveTo>
                    <a:lnTo>
                      <a:pt x="0" y="63500"/>
                    </a:lnTo>
                  </a:path>
                </a:pathLst>
              </a:custGeom>
              <a:noFill/>
              <a:ln w="31750">
                <a:solidFill>
                  <a:schemeClr val="accent3"/>
                </a:solidFill>
              </a:ln>
            </p:spPr>
          </p:sp>
          <p:sp>
            <p:nvSpPr>
              <p:cNvPr id="9" name="Freeform 9"/>
              <p:cNvSpPr/>
              <p:nvPr/>
            </p:nvSpPr>
            <p:spPr>
              <a:xfrm>
                <a:off x="1879600" y="1914525"/>
                <a:ext cx="9525" cy="15875"/>
              </a:xfrm>
              <a:custGeom>
                <a:avLst/>
                <a:gdLst/>
                <a:ahLst/>
                <a:cxnLst/>
                <a:rect l="l" t="t" r="r" b="b"/>
                <a:pathLst>
                  <a:path w="9525" h="15875">
                    <a:moveTo>
                      <a:pt x="0" y="0"/>
                    </a:moveTo>
                    <a:lnTo>
                      <a:pt x="0" y="15875"/>
                    </a:lnTo>
                  </a:path>
                </a:pathLst>
              </a:custGeom>
              <a:noFill/>
              <a:ln w="31750">
                <a:solidFill>
                  <a:schemeClr val="accent3"/>
                </a:solidFill>
              </a:ln>
            </p:spPr>
          </p:sp>
          <p:sp>
            <p:nvSpPr>
              <p:cNvPr id="10" name="Freeform 10"/>
              <p:cNvSpPr/>
              <p:nvPr/>
            </p:nvSpPr>
            <p:spPr>
              <a:xfrm>
                <a:off x="1816100" y="2041525"/>
                <a:ext cx="254001" cy="9525"/>
              </a:xfrm>
              <a:custGeom>
                <a:avLst/>
                <a:gdLst/>
                <a:ahLst/>
                <a:cxnLst/>
                <a:rect l="l" t="t" r="r" b="b"/>
                <a:pathLst>
                  <a:path w="254001" h="9525">
                    <a:moveTo>
                      <a:pt x="0" y="0"/>
                    </a:moveTo>
                    <a:lnTo>
                      <a:pt x="111125" y="0"/>
                    </a:lnTo>
                    <a:moveTo>
                      <a:pt x="174625" y="0"/>
                    </a:moveTo>
                    <a:lnTo>
                      <a:pt x="254001" y="0"/>
                    </a:lnTo>
                  </a:path>
                </a:pathLst>
              </a:custGeom>
              <a:noFill/>
              <a:ln w="31750">
                <a:solidFill>
                  <a:schemeClr val="accent3"/>
                </a:solidFill>
              </a:ln>
            </p:spPr>
          </p:sp>
          <p:sp>
            <p:nvSpPr>
              <p:cNvPr id="11" name="Freeform 11"/>
              <p:cNvSpPr/>
              <p:nvPr/>
            </p:nvSpPr>
            <p:spPr>
              <a:xfrm>
                <a:off x="1800225" y="1914525"/>
                <a:ext cx="285751" cy="285751"/>
              </a:xfrm>
              <a:custGeom>
                <a:avLst/>
                <a:gdLst/>
                <a:ahLst/>
                <a:cxnLst/>
                <a:rect l="l" t="t" r="r" b="b"/>
                <a:pathLst>
                  <a:path w="285751" h="285751">
                    <a:moveTo>
                      <a:pt x="0" y="0"/>
                    </a:moveTo>
                    <a:lnTo>
                      <a:pt x="285751" y="285751"/>
                    </a:lnTo>
                  </a:path>
                </a:pathLst>
              </a:custGeom>
              <a:noFill/>
              <a:ln w="31750">
                <a:solidFill>
                  <a:schemeClr val="accent3"/>
                </a:solidFill>
              </a:ln>
            </p:spPr>
          </p:sp>
        </p:grpSp>
        <p:sp>
          <p:nvSpPr>
            <p:cNvPr id="13" name="TextBox 13"/>
            <p:cNvSpPr txBox="1"/>
            <p:nvPr/>
          </p:nvSpPr>
          <p:spPr>
            <a:xfrm>
              <a:off x="2237232" y="1925955"/>
              <a:ext cx="1553441"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Scheduling</a:t>
              </a:r>
            </a:p>
          </p:txBody>
        </p:sp>
        <p:sp>
          <p:nvSpPr>
            <p:cNvPr id="14" name="TextBox 14"/>
            <p:cNvSpPr txBox="1"/>
            <p:nvPr/>
          </p:nvSpPr>
          <p:spPr>
            <a:xfrm>
              <a:off x="6087618" y="1803082"/>
              <a:ext cx="4827026"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5"/>
                  </a:solidFill>
                  <a:latin typeface="+mn-lt"/>
                  <a:ea typeface="+mn-ea"/>
                  <a:cs typeface="+mn-cs"/>
                </a:rPr>
                <a:t>Times clash with teaching; groups compete for slots</a:t>
              </a:r>
              <a:br/>
              <a:r>
                <a:rPr lang="en-US" sz="1650" dirty="0">
                  <a:solidFill>
                    <a:schemeClr val="accent5"/>
                  </a:solidFill>
                  <a:latin typeface="+mn-lt"/>
                  <a:ea typeface="+mn-ea"/>
                  <a:cs typeface="+mn-cs"/>
                </a:rPr>
                <a:t>by repeated messages; no per-slot capacity control</a:t>
              </a:r>
            </a:p>
          </p:txBody>
        </p:sp>
        <p:sp>
          <p:nvSpPr>
            <p:cNvPr id="15" name="Line 15"/>
            <p:cNvSpPr/>
            <p:nvPr/>
          </p:nvSpPr>
          <p:spPr>
            <a:xfrm>
              <a:off x="609600" y="25146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7" name="ob-2"/>
          <p:cNvGrpSpPr/>
          <p:nvPr/>
        </p:nvGrpSpPr>
        <p:grpSpPr>
          <a:xfrm>
            <a:off x="609600" y="2698432"/>
            <a:ext cx="10972800" cy="721043"/>
            <a:chOff x="609600" y="2698432"/>
            <a:chExt cx="10972800" cy="721043"/>
          </a:xfrm>
        </p:grpSpPr>
        <p:sp>
          <p:nvSpPr>
            <p:cNvPr id="17" name="Rectangle 17"/>
            <p:cNvSpPr/>
            <p:nvPr/>
          </p:nvSpPr>
          <p:spPr>
            <a:xfrm>
              <a:off x="609600" y="2705100"/>
              <a:ext cx="914400" cy="495300"/>
            </a:xfrm>
            <a:prstGeom prst="roundRect">
              <a:avLst>
                <a:gd name="adj" fmla="val 23077"/>
              </a:avLst>
            </a:prstGeom>
            <a:solidFill>
              <a:schemeClr val="accent1"/>
            </a:solidFill>
            <a:ln>
              <a:noFill/>
            </a:ln>
          </p:spPr>
        </p:sp>
        <p:sp>
          <p:nvSpPr>
            <p:cNvPr id="18" name="TextBox 18"/>
            <p:cNvSpPr txBox="1"/>
            <p:nvPr/>
          </p:nvSpPr>
          <p:spPr>
            <a:xfrm>
              <a:off x="778050" y="2850832"/>
              <a:ext cx="57750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OB-2</a:t>
              </a:r>
            </a:p>
          </p:txBody>
        </p:sp>
        <p:grpSp>
          <p:nvGrpSpPr>
            <p:cNvPr id="23" name="Group 23"/>
            <p:cNvGrpSpPr/>
            <p:nvPr/>
          </p:nvGrpSpPr>
          <p:grpSpPr>
            <a:xfrm>
              <a:off x="1831975" y="2809875"/>
              <a:ext cx="254001" cy="301626"/>
              <a:chOff x="1831975" y="2809875"/>
              <a:chExt cx="254001" cy="301626"/>
            </a:xfrm>
          </p:grpSpPr>
          <p:sp>
            <p:nvSpPr>
              <p:cNvPr id="19" name="Freeform 19"/>
              <p:cNvSpPr/>
              <p:nvPr/>
            </p:nvSpPr>
            <p:spPr>
              <a:xfrm>
                <a:off x="1974850" y="280987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31750">
                <a:solidFill>
                  <a:schemeClr val="accent3"/>
                </a:solidFill>
              </a:ln>
            </p:spPr>
          </p:sp>
          <p:sp>
            <p:nvSpPr>
              <p:cNvPr id="20" name="Freeform 20"/>
              <p:cNvSpPr/>
              <p:nvPr/>
            </p:nvSpPr>
            <p:spPr>
              <a:xfrm>
                <a:off x="1831975" y="2809875"/>
                <a:ext cx="222250" cy="285751"/>
              </a:xfrm>
              <a:custGeom>
                <a:avLst/>
                <a:gdLst/>
                <a:ahLst/>
                <a:cxnLst/>
                <a:rect l="l" t="t" r="r" b="b"/>
                <a:pathLst>
                  <a:path w="222250" h="285751">
                    <a:moveTo>
                      <a:pt x="111125" y="285751"/>
                    </a:moveTo>
                    <a:lnTo>
                      <a:pt x="31750" y="285751"/>
                    </a:lnTo>
                    <a:cubicBezTo>
                      <a:pt x="14215" y="285751"/>
                      <a:pt x="0" y="271536"/>
                      <a:pt x="0" y="254001"/>
                    </a:cubicBezTo>
                    <a:lnTo>
                      <a:pt x="0" y="31750"/>
                    </a:lnTo>
                    <a:cubicBezTo>
                      <a:pt x="0" y="14215"/>
                      <a:pt x="14215" y="0"/>
                      <a:pt x="31750" y="0"/>
                    </a:cubicBezTo>
                    <a:lnTo>
                      <a:pt x="142875" y="0"/>
                    </a:lnTo>
                    <a:lnTo>
                      <a:pt x="222250" y="79375"/>
                    </a:lnTo>
                    <a:lnTo>
                      <a:pt x="222250" y="150813"/>
                    </a:lnTo>
                  </a:path>
                </a:pathLst>
              </a:custGeom>
              <a:noFill/>
              <a:ln w="31750">
                <a:solidFill>
                  <a:schemeClr val="accent3"/>
                </a:solidFill>
              </a:ln>
            </p:spPr>
          </p:sp>
          <p:sp>
            <p:nvSpPr>
              <p:cNvPr id="21" name="Freeform 21"/>
              <p:cNvSpPr/>
              <p:nvPr/>
            </p:nvSpPr>
            <p:spPr>
              <a:xfrm>
                <a:off x="1974850" y="3000375"/>
                <a:ext cx="79375" cy="79375"/>
              </a:xfrm>
              <a:custGeom>
                <a:avLst/>
                <a:gdLst/>
                <a:ahLst/>
                <a:cxnLst/>
                <a:rect l="l" t="t" r="r" b="b"/>
                <a:pathLst>
                  <a:path w="79375" h="79375">
                    <a:moveTo>
                      <a:pt x="0" y="39688"/>
                    </a:moveTo>
                    <a:cubicBezTo>
                      <a:pt x="0" y="61606"/>
                      <a:pt x="17769" y="79375"/>
                      <a:pt x="39688" y="79375"/>
                    </a:cubicBezTo>
                    <a:cubicBezTo>
                      <a:pt x="61606" y="79375"/>
                      <a:pt x="79375" y="61606"/>
                      <a:pt x="79375" y="39688"/>
                    </a:cubicBezTo>
                    <a:cubicBezTo>
                      <a:pt x="79375" y="17769"/>
                      <a:pt x="61606" y="0"/>
                      <a:pt x="39688" y="0"/>
                    </a:cubicBezTo>
                    <a:cubicBezTo>
                      <a:pt x="17769" y="0"/>
                      <a:pt x="0" y="17769"/>
                      <a:pt x="0" y="39688"/>
                    </a:cubicBezTo>
                  </a:path>
                </a:pathLst>
              </a:custGeom>
              <a:noFill/>
              <a:ln w="31750">
                <a:solidFill>
                  <a:schemeClr val="accent3"/>
                </a:solidFill>
              </a:ln>
            </p:spPr>
          </p:sp>
          <p:sp>
            <p:nvSpPr>
              <p:cNvPr id="22" name="Freeform 22"/>
              <p:cNvSpPr/>
              <p:nvPr/>
            </p:nvSpPr>
            <p:spPr>
              <a:xfrm>
                <a:off x="2046288" y="3071813"/>
                <a:ext cx="39688" cy="39688"/>
              </a:xfrm>
              <a:custGeom>
                <a:avLst/>
                <a:gdLst/>
                <a:ahLst/>
                <a:cxnLst/>
                <a:rect l="l" t="t" r="r" b="b"/>
                <a:pathLst>
                  <a:path w="39688" h="39688">
                    <a:moveTo>
                      <a:pt x="0" y="0"/>
                    </a:moveTo>
                    <a:lnTo>
                      <a:pt x="39688" y="39688"/>
                    </a:lnTo>
                  </a:path>
                </a:pathLst>
              </a:custGeom>
              <a:noFill/>
              <a:ln w="31750">
                <a:solidFill>
                  <a:schemeClr val="accent3"/>
                </a:solidFill>
              </a:ln>
            </p:spPr>
          </p:sp>
        </p:grpSp>
        <p:sp>
          <p:nvSpPr>
            <p:cNvPr id="24" name="TextBox 24"/>
            <p:cNvSpPr txBox="1"/>
            <p:nvPr/>
          </p:nvSpPr>
          <p:spPr>
            <a:xfrm>
              <a:off x="2237232" y="2821305"/>
              <a:ext cx="334542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Group info &amp; documents</a:t>
              </a:r>
            </a:p>
          </p:txBody>
        </p:sp>
        <p:sp>
          <p:nvSpPr>
            <p:cNvPr id="25" name="TextBox 25"/>
            <p:cNvSpPr txBox="1"/>
            <p:nvPr/>
          </p:nvSpPr>
          <p:spPr>
            <a:xfrm>
              <a:off x="6087618" y="2698432"/>
              <a:ext cx="4768813"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5"/>
                  </a:solidFill>
                  <a:latin typeface="+mn-lt"/>
                  <a:ea typeface="+mn-ea"/>
                  <a:cs typeface="+mn-cs"/>
                </a:rPr>
                <a:t>Members, topic and artifacts spread over Drive and</a:t>
              </a:r>
              <a:br/>
              <a:r>
                <a:rPr lang="en-US" sz="1650" dirty="0">
                  <a:solidFill>
                    <a:schemeClr val="accent5"/>
                  </a:solidFill>
                  <a:latin typeface="+mn-lt"/>
                  <a:ea typeface="+mn-ea"/>
                  <a:cs typeface="+mn-cs"/>
                </a:rPr>
                <a:t>email; no single source of truth, no version history</a:t>
              </a:r>
            </a:p>
          </p:txBody>
        </p:sp>
        <p:sp>
          <p:nvSpPr>
            <p:cNvPr id="26" name="Line 26"/>
            <p:cNvSpPr/>
            <p:nvPr/>
          </p:nvSpPr>
          <p:spPr>
            <a:xfrm>
              <a:off x="609600" y="3409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1" name="ob-3"/>
          <p:cNvGrpSpPr/>
          <p:nvPr/>
        </p:nvGrpSpPr>
        <p:grpSpPr>
          <a:xfrm>
            <a:off x="609600" y="3593782"/>
            <a:ext cx="10972800" cy="721043"/>
            <a:chOff x="609600" y="3593782"/>
            <a:chExt cx="10972800" cy="721043"/>
          </a:xfrm>
        </p:grpSpPr>
        <p:sp>
          <p:nvSpPr>
            <p:cNvPr id="28" name="Rectangle 28"/>
            <p:cNvSpPr/>
            <p:nvPr/>
          </p:nvSpPr>
          <p:spPr>
            <a:xfrm>
              <a:off x="609600" y="3600450"/>
              <a:ext cx="914400" cy="495300"/>
            </a:xfrm>
            <a:prstGeom prst="roundRect">
              <a:avLst>
                <a:gd name="adj" fmla="val 23077"/>
              </a:avLst>
            </a:prstGeom>
            <a:solidFill>
              <a:schemeClr val="accent1"/>
            </a:solidFill>
            <a:ln>
              <a:noFill/>
            </a:ln>
          </p:spPr>
        </p:sp>
        <p:sp>
          <p:nvSpPr>
            <p:cNvPr id="29" name="TextBox 29"/>
            <p:cNvSpPr txBox="1"/>
            <p:nvPr/>
          </p:nvSpPr>
          <p:spPr>
            <a:xfrm>
              <a:off x="778050" y="3746182"/>
              <a:ext cx="57750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OB-3</a:t>
              </a:r>
            </a:p>
          </p:txBody>
        </p:sp>
        <p:grpSp>
          <p:nvGrpSpPr>
            <p:cNvPr id="37" name="Group 37"/>
            <p:cNvGrpSpPr/>
            <p:nvPr/>
          </p:nvGrpSpPr>
          <p:grpSpPr>
            <a:xfrm>
              <a:off x="1831975" y="3719433"/>
              <a:ext cx="255573" cy="257334"/>
              <a:chOff x="1831975" y="3719433"/>
              <a:chExt cx="255573" cy="257334"/>
            </a:xfrm>
          </p:grpSpPr>
          <p:sp>
            <p:nvSpPr>
              <p:cNvPr id="30" name="Freeform 30"/>
              <p:cNvSpPr/>
              <p:nvPr/>
            </p:nvSpPr>
            <p:spPr>
              <a:xfrm>
                <a:off x="1831975" y="3721100"/>
                <a:ext cx="63500" cy="254001"/>
              </a:xfrm>
              <a:custGeom>
                <a:avLst/>
                <a:gdLst/>
                <a:ahLst/>
                <a:cxnLst/>
                <a:rect l="l" t="t" r="r" b="b"/>
                <a:pathLst>
                  <a:path w="63500" h="254001">
                    <a:moveTo>
                      <a:pt x="0" y="15875"/>
                    </a:moveTo>
                    <a:cubicBezTo>
                      <a:pt x="0" y="7107"/>
                      <a:pt x="7107" y="0"/>
                      <a:pt x="15875" y="0"/>
                    </a:cubicBezTo>
                    <a:lnTo>
                      <a:pt x="47625" y="0"/>
                    </a:lnTo>
                    <a:cubicBezTo>
                      <a:pt x="56393" y="0"/>
                      <a:pt x="63500" y="7107"/>
                      <a:pt x="63500" y="15875"/>
                    </a:cubicBezTo>
                    <a:lnTo>
                      <a:pt x="63500" y="238125"/>
                    </a:lnTo>
                    <a:cubicBezTo>
                      <a:pt x="63500" y="246893"/>
                      <a:pt x="56393" y="254001"/>
                      <a:pt x="47625" y="254001"/>
                    </a:cubicBezTo>
                    <a:lnTo>
                      <a:pt x="15875" y="254001"/>
                    </a:lnTo>
                    <a:cubicBezTo>
                      <a:pt x="7107" y="254001"/>
                      <a:pt x="0" y="246893"/>
                      <a:pt x="0" y="238125"/>
                    </a:cubicBezTo>
                    <a:lnTo>
                      <a:pt x="0" y="15875"/>
                    </a:lnTo>
                  </a:path>
                </a:pathLst>
              </a:custGeom>
              <a:noFill/>
              <a:ln w="31750">
                <a:solidFill>
                  <a:schemeClr val="accent3"/>
                </a:solidFill>
              </a:ln>
            </p:spPr>
          </p:sp>
          <p:sp>
            <p:nvSpPr>
              <p:cNvPr id="31" name="Freeform 31"/>
              <p:cNvSpPr/>
              <p:nvPr/>
            </p:nvSpPr>
            <p:spPr>
              <a:xfrm>
                <a:off x="1895475" y="3721100"/>
                <a:ext cx="63500" cy="254001"/>
              </a:xfrm>
              <a:custGeom>
                <a:avLst/>
                <a:gdLst/>
                <a:ahLst/>
                <a:cxnLst/>
                <a:rect l="l" t="t" r="r" b="b"/>
                <a:pathLst>
                  <a:path w="63500" h="254001">
                    <a:moveTo>
                      <a:pt x="0" y="15875"/>
                    </a:moveTo>
                    <a:cubicBezTo>
                      <a:pt x="0" y="7107"/>
                      <a:pt x="7107" y="0"/>
                      <a:pt x="15875" y="0"/>
                    </a:cubicBezTo>
                    <a:lnTo>
                      <a:pt x="47625" y="0"/>
                    </a:lnTo>
                    <a:cubicBezTo>
                      <a:pt x="56393" y="0"/>
                      <a:pt x="63500" y="7107"/>
                      <a:pt x="63500" y="15875"/>
                    </a:cubicBezTo>
                    <a:lnTo>
                      <a:pt x="63500" y="238125"/>
                    </a:lnTo>
                    <a:cubicBezTo>
                      <a:pt x="63500" y="246893"/>
                      <a:pt x="56393" y="254001"/>
                      <a:pt x="47625" y="254001"/>
                    </a:cubicBezTo>
                    <a:lnTo>
                      <a:pt x="15875" y="254001"/>
                    </a:lnTo>
                    <a:cubicBezTo>
                      <a:pt x="7107" y="254001"/>
                      <a:pt x="0" y="246893"/>
                      <a:pt x="0" y="238125"/>
                    </a:cubicBezTo>
                    <a:lnTo>
                      <a:pt x="0" y="15875"/>
                    </a:lnTo>
                  </a:path>
                </a:pathLst>
              </a:custGeom>
              <a:noFill/>
              <a:ln w="31750">
                <a:solidFill>
                  <a:schemeClr val="accent3"/>
                </a:solidFill>
              </a:ln>
            </p:spPr>
          </p:sp>
          <p:sp>
            <p:nvSpPr>
              <p:cNvPr id="32" name="Freeform 32"/>
              <p:cNvSpPr/>
              <p:nvPr/>
            </p:nvSpPr>
            <p:spPr>
              <a:xfrm>
                <a:off x="1831975" y="3784600"/>
                <a:ext cx="63500" cy="9525"/>
              </a:xfrm>
              <a:custGeom>
                <a:avLst/>
                <a:gdLst/>
                <a:ahLst/>
                <a:cxnLst/>
                <a:rect l="l" t="t" r="r" b="b"/>
                <a:pathLst>
                  <a:path w="63500" h="9525">
                    <a:moveTo>
                      <a:pt x="0" y="0"/>
                    </a:moveTo>
                    <a:lnTo>
                      <a:pt x="63500" y="0"/>
                    </a:lnTo>
                  </a:path>
                </a:pathLst>
              </a:custGeom>
              <a:noFill/>
              <a:ln w="31750">
                <a:solidFill>
                  <a:schemeClr val="accent3"/>
                </a:solidFill>
              </a:ln>
            </p:spPr>
          </p:sp>
          <p:sp>
            <p:nvSpPr>
              <p:cNvPr id="33" name="Freeform 33"/>
              <p:cNvSpPr/>
              <p:nvPr/>
            </p:nvSpPr>
            <p:spPr>
              <a:xfrm>
                <a:off x="1895475" y="3911601"/>
                <a:ext cx="63500" cy="9525"/>
              </a:xfrm>
              <a:custGeom>
                <a:avLst/>
                <a:gdLst/>
                <a:ahLst/>
                <a:cxnLst/>
                <a:rect l="l" t="t" r="r" b="b"/>
                <a:pathLst>
                  <a:path w="63500" h="9525">
                    <a:moveTo>
                      <a:pt x="0" y="0"/>
                    </a:moveTo>
                    <a:lnTo>
                      <a:pt x="63500" y="0"/>
                    </a:lnTo>
                  </a:path>
                </a:pathLst>
              </a:custGeom>
              <a:noFill/>
              <a:ln w="31750">
                <a:solidFill>
                  <a:schemeClr val="accent3"/>
                </a:solidFill>
              </a:ln>
            </p:spPr>
          </p:sp>
          <p:sp>
            <p:nvSpPr>
              <p:cNvPr id="34" name="Freeform 34"/>
              <p:cNvSpPr/>
              <p:nvPr/>
            </p:nvSpPr>
            <p:spPr>
              <a:xfrm>
                <a:off x="1957402" y="3719433"/>
                <a:ext cx="130146" cy="257334"/>
              </a:xfrm>
              <a:custGeom>
                <a:avLst/>
                <a:gdLst/>
                <a:ahLst/>
                <a:cxnLst/>
                <a:rect l="l" t="t" r="r" b="b"/>
                <a:pathLst>
                  <a:path w="130146" h="257334">
                    <a:moveTo>
                      <a:pt x="14321" y="10557"/>
                    </a:moveTo>
                    <a:lnTo>
                      <a:pt x="48992" y="2143"/>
                    </a:lnTo>
                    <a:cubicBezTo>
                      <a:pt x="57914" y="0"/>
                      <a:pt x="66978" y="5159"/>
                      <a:pt x="69344" y="13764"/>
                    </a:cubicBezTo>
                    <a:lnTo>
                      <a:pt x="128002" y="226775"/>
                    </a:lnTo>
                    <a:cubicBezTo>
                      <a:pt x="130146" y="234856"/>
                      <a:pt x="125785" y="243242"/>
                      <a:pt x="117937" y="246126"/>
                    </a:cubicBezTo>
                    <a:lnTo>
                      <a:pt x="115826" y="246777"/>
                    </a:lnTo>
                    <a:lnTo>
                      <a:pt x="81155" y="255191"/>
                    </a:lnTo>
                    <a:cubicBezTo>
                      <a:pt x="72233" y="257334"/>
                      <a:pt x="63168" y="252175"/>
                      <a:pt x="60803" y="243571"/>
                    </a:cubicBezTo>
                    <a:lnTo>
                      <a:pt x="2145" y="30559"/>
                    </a:lnTo>
                    <a:cubicBezTo>
                      <a:pt x="0" y="22478"/>
                      <a:pt x="4361" y="14092"/>
                      <a:pt x="12209" y="11208"/>
                    </a:cubicBezTo>
                    <a:lnTo>
                      <a:pt x="14321" y="10557"/>
                    </a:lnTo>
                  </a:path>
                </a:pathLst>
              </a:custGeom>
              <a:noFill/>
              <a:ln w="31750">
                <a:solidFill>
                  <a:schemeClr val="accent3"/>
                </a:solidFill>
              </a:ln>
            </p:spPr>
          </p:sp>
          <p:sp>
            <p:nvSpPr>
              <p:cNvPr id="35" name="Freeform 35"/>
              <p:cNvSpPr/>
              <p:nvPr/>
            </p:nvSpPr>
            <p:spPr>
              <a:xfrm>
                <a:off x="1974850" y="3784600"/>
                <a:ext cx="63500" cy="15875"/>
              </a:xfrm>
              <a:custGeom>
                <a:avLst/>
                <a:gdLst/>
                <a:ahLst/>
                <a:cxnLst/>
                <a:rect l="l" t="t" r="r" b="b"/>
                <a:pathLst>
                  <a:path w="63500" h="15875">
                    <a:moveTo>
                      <a:pt x="0" y="15875"/>
                    </a:moveTo>
                    <a:lnTo>
                      <a:pt x="63500" y="0"/>
                    </a:lnTo>
                  </a:path>
                </a:pathLst>
              </a:custGeom>
              <a:noFill/>
              <a:ln w="31750">
                <a:solidFill>
                  <a:schemeClr val="accent3"/>
                </a:solidFill>
              </a:ln>
            </p:spPr>
          </p:sp>
          <p:sp>
            <p:nvSpPr>
              <p:cNvPr id="36" name="Freeform 36"/>
              <p:cNvSpPr/>
              <p:nvPr/>
            </p:nvSpPr>
            <p:spPr>
              <a:xfrm>
                <a:off x="2006601" y="3896043"/>
                <a:ext cx="62278" cy="15558"/>
              </a:xfrm>
              <a:custGeom>
                <a:avLst/>
                <a:gdLst/>
                <a:ahLst/>
                <a:cxnLst/>
                <a:rect l="l" t="t" r="r" b="b"/>
                <a:pathLst>
                  <a:path w="62278" h="15558">
                    <a:moveTo>
                      <a:pt x="0" y="15558"/>
                    </a:moveTo>
                    <a:lnTo>
                      <a:pt x="62278" y="0"/>
                    </a:lnTo>
                  </a:path>
                </a:pathLst>
              </a:custGeom>
              <a:noFill/>
              <a:ln w="31750">
                <a:solidFill>
                  <a:schemeClr val="accent3"/>
                </a:solidFill>
              </a:ln>
            </p:spPr>
          </p:sp>
        </p:grpSp>
        <p:sp>
          <p:nvSpPr>
            <p:cNvPr id="38" name="TextBox 38"/>
            <p:cNvSpPr txBox="1"/>
            <p:nvPr/>
          </p:nvSpPr>
          <p:spPr>
            <a:xfrm>
              <a:off x="2237232" y="3716655"/>
              <a:ext cx="1994019"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Question bank</a:t>
              </a:r>
            </a:p>
          </p:txBody>
        </p:sp>
        <p:sp>
          <p:nvSpPr>
            <p:cNvPr id="39" name="TextBox 39"/>
            <p:cNvSpPr txBox="1"/>
            <p:nvPr/>
          </p:nvSpPr>
          <p:spPr>
            <a:xfrm>
              <a:off x="6087618" y="3593782"/>
              <a:ext cx="4793037"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5"/>
                  </a:solidFill>
                  <a:latin typeface="+mn-lt"/>
                  <a:ea typeface="+mn-ea"/>
                  <a:cs typeface="+mn-cs"/>
                </a:rPr>
                <a:t>Review questions prepared ad hoc; no categorized,</a:t>
              </a:r>
              <a:br/>
              <a:r>
                <a:rPr lang="en-US" sz="1650" dirty="0">
                  <a:solidFill>
                    <a:schemeClr val="accent5"/>
                  </a:solidFill>
                  <a:latin typeface="+mn-lt"/>
                  <a:ea typeface="+mn-ea"/>
                  <a:cs typeface="+mn-cs"/>
                </a:rPr>
                <a:t>reusable bank per topic managed by the admin</a:t>
              </a:r>
            </a:p>
          </p:txBody>
        </p:sp>
        <p:sp>
          <p:nvSpPr>
            <p:cNvPr id="40" name="Line 40"/>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50" name="ob-4"/>
          <p:cNvGrpSpPr/>
          <p:nvPr/>
        </p:nvGrpSpPr>
        <p:grpSpPr>
          <a:xfrm>
            <a:off x="609600" y="4489132"/>
            <a:ext cx="10972800" cy="721043"/>
            <a:chOff x="609600" y="4489132"/>
            <a:chExt cx="10972800" cy="721043"/>
          </a:xfrm>
        </p:grpSpPr>
        <p:sp>
          <p:nvSpPr>
            <p:cNvPr id="42" name="Rectangle 42"/>
            <p:cNvSpPr/>
            <p:nvPr/>
          </p:nvSpPr>
          <p:spPr>
            <a:xfrm>
              <a:off x="609600" y="4495800"/>
              <a:ext cx="914400" cy="495300"/>
            </a:xfrm>
            <a:prstGeom prst="roundRect">
              <a:avLst>
                <a:gd name="adj" fmla="val 23077"/>
              </a:avLst>
            </a:prstGeom>
            <a:solidFill>
              <a:schemeClr val="accent2"/>
            </a:solidFill>
            <a:ln>
              <a:noFill/>
            </a:ln>
          </p:spPr>
        </p:sp>
        <p:sp>
          <p:nvSpPr>
            <p:cNvPr id="43" name="TextBox 43"/>
            <p:cNvSpPr txBox="1"/>
            <p:nvPr/>
          </p:nvSpPr>
          <p:spPr>
            <a:xfrm>
              <a:off x="778050" y="4641532"/>
              <a:ext cx="57750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OB-4</a:t>
              </a:r>
            </a:p>
          </p:txBody>
        </p:sp>
        <p:grpSp>
          <p:nvGrpSpPr>
            <p:cNvPr id="46" name="Group 46"/>
            <p:cNvGrpSpPr/>
            <p:nvPr/>
          </p:nvGrpSpPr>
          <p:grpSpPr>
            <a:xfrm>
              <a:off x="1800225" y="4600575"/>
              <a:ext cx="285750" cy="285750"/>
              <a:chOff x="1800225" y="4600575"/>
              <a:chExt cx="285750" cy="285750"/>
            </a:xfrm>
          </p:grpSpPr>
          <p:sp>
            <p:nvSpPr>
              <p:cNvPr id="44" name="Freeform 44"/>
              <p:cNvSpPr/>
              <p:nvPr/>
            </p:nvSpPr>
            <p:spPr>
              <a:xfrm>
                <a:off x="1911350" y="4600575"/>
                <a:ext cx="174625" cy="174625"/>
              </a:xfrm>
              <a:custGeom>
                <a:avLst/>
                <a:gdLst/>
                <a:ahLst/>
                <a:cxnLst/>
                <a:rect l="l" t="t" r="r" b="b"/>
                <a:pathLst>
                  <a:path w="174625" h="174625">
                    <a:moveTo>
                      <a:pt x="174625" y="174625"/>
                    </a:moveTo>
                    <a:lnTo>
                      <a:pt x="127000" y="127000"/>
                    </a:lnTo>
                    <a:lnTo>
                      <a:pt x="15875" y="127000"/>
                    </a:lnTo>
                    <a:cubicBezTo>
                      <a:pt x="7107" y="127000"/>
                      <a:pt x="0" y="119893"/>
                      <a:pt x="0" y="111125"/>
                    </a:cubicBezTo>
                    <a:lnTo>
                      <a:pt x="0" y="15875"/>
                    </a:lnTo>
                    <a:cubicBezTo>
                      <a:pt x="0" y="7107"/>
                      <a:pt x="7107" y="0"/>
                      <a:pt x="15875" y="0"/>
                    </a:cubicBezTo>
                    <a:lnTo>
                      <a:pt x="158750" y="0"/>
                    </a:lnTo>
                    <a:cubicBezTo>
                      <a:pt x="167518" y="0"/>
                      <a:pt x="174625" y="7107"/>
                      <a:pt x="174625" y="15875"/>
                    </a:cubicBezTo>
                    <a:lnTo>
                      <a:pt x="174625" y="174625"/>
                    </a:lnTo>
                  </a:path>
                </a:pathLst>
              </a:custGeom>
              <a:noFill/>
              <a:ln w="31750">
                <a:solidFill>
                  <a:schemeClr val="accent2"/>
                </a:solidFill>
              </a:ln>
            </p:spPr>
          </p:sp>
          <p:sp>
            <p:nvSpPr>
              <p:cNvPr id="45" name="Freeform 45"/>
              <p:cNvSpPr/>
              <p:nvPr/>
            </p:nvSpPr>
            <p:spPr>
              <a:xfrm>
                <a:off x="1800225" y="4711700"/>
                <a:ext cx="174625" cy="174625"/>
              </a:xfrm>
              <a:custGeom>
                <a:avLst/>
                <a:gdLst/>
                <a:ahLst/>
                <a:cxnLst/>
                <a:rect l="l" t="t" r="r" b="b"/>
                <a:pathLst>
                  <a:path w="174625" h="174625">
                    <a:moveTo>
                      <a:pt x="174625" y="79375"/>
                    </a:moveTo>
                    <a:lnTo>
                      <a:pt x="174625" y="111125"/>
                    </a:lnTo>
                    <a:cubicBezTo>
                      <a:pt x="174625" y="119893"/>
                      <a:pt x="167518" y="127000"/>
                      <a:pt x="158750" y="127000"/>
                    </a:cubicBezTo>
                    <a:lnTo>
                      <a:pt x="47625" y="127000"/>
                    </a:lnTo>
                    <a:lnTo>
                      <a:pt x="0" y="174625"/>
                    </a:lnTo>
                    <a:lnTo>
                      <a:pt x="0" y="15875"/>
                    </a:lnTo>
                    <a:cubicBezTo>
                      <a:pt x="0" y="7107"/>
                      <a:pt x="7107" y="0"/>
                      <a:pt x="15875" y="0"/>
                    </a:cubicBezTo>
                    <a:lnTo>
                      <a:pt x="47625" y="0"/>
                    </a:lnTo>
                  </a:path>
                </a:pathLst>
              </a:custGeom>
              <a:noFill/>
              <a:ln w="31750">
                <a:solidFill>
                  <a:schemeClr val="accent2"/>
                </a:solidFill>
              </a:ln>
            </p:spPr>
          </p:sp>
        </p:grpSp>
        <p:sp>
          <p:nvSpPr>
            <p:cNvPr id="47" name="TextBox 47"/>
            <p:cNvSpPr txBox="1"/>
            <p:nvPr/>
          </p:nvSpPr>
          <p:spPr>
            <a:xfrm>
              <a:off x="2237232" y="4612005"/>
              <a:ext cx="274727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In-meeting activities</a:t>
              </a:r>
            </a:p>
          </p:txBody>
        </p:sp>
        <p:sp>
          <p:nvSpPr>
            <p:cNvPr id="48" name="TextBox 48"/>
            <p:cNvSpPr txBox="1"/>
            <p:nvPr/>
          </p:nvSpPr>
          <p:spPr>
            <a:xfrm>
              <a:off x="6087618" y="4489132"/>
              <a:ext cx="4932262"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5"/>
                  </a:solidFill>
                  <a:latin typeface="+mn-lt"/>
                  <a:ea typeface="+mn-ea"/>
                  <a:cs typeface="+mn-cs"/>
                </a:rPr>
                <a:t>New requirements forgotten; minutes written days</a:t>
              </a:r>
              <a:br/>
              <a:r>
                <a:rPr lang="en-US" sz="1650" dirty="0">
                  <a:solidFill>
                    <a:schemeClr val="accent5"/>
                  </a:solidFill>
                  <a:latin typeface="+mn-lt"/>
                  <a:ea typeface="+mn-ea"/>
                  <a:cs typeface="+mn-cs"/>
                </a:rPr>
                <a:t>later, incomplete and never verified by the supervisor</a:t>
              </a:r>
            </a:p>
          </p:txBody>
        </p:sp>
        <p:sp>
          <p:nvSpPr>
            <p:cNvPr id="49" name="Line 49"/>
            <p:cNvSpPr/>
            <p:nvPr/>
          </p:nvSpPr>
          <p:spPr>
            <a:xfrm>
              <a:off x="609600" y="52006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0" name="ob-5"/>
          <p:cNvGrpSpPr/>
          <p:nvPr/>
        </p:nvGrpSpPr>
        <p:grpSpPr>
          <a:xfrm>
            <a:off x="609600" y="5384482"/>
            <a:ext cx="9944283" cy="589407"/>
            <a:chOff x="609600" y="5384482"/>
            <a:chExt cx="9944283" cy="589407"/>
          </a:xfrm>
        </p:grpSpPr>
        <p:sp>
          <p:nvSpPr>
            <p:cNvPr id="51" name="Rectangle 51"/>
            <p:cNvSpPr/>
            <p:nvPr/>
          </p:nvSpPr>
          <p:spPr>
            <a:xfrm>
              <a:off x="609600" y="5391150"/>
              <a:ext cx="914400" cy="495300"/>
            </a:xfrm>
            <a:prstGeom prst="roundRect">
              <a:avLst>
                <a:gd name="adj" fmla="val 23077"/>
              </a:avLst>
            </a:prstGeom>
            <a:solidFill>
              <a:schemeClr val="accent1"/>
            </a:solidFill>
            <a:ln>
              <a:noFill/>
            </a:ln>
          </p:spPr>
        </p:sp>
        <p:sp>
          <p:nvSpPr>
            <p:cNvPr id="52" name="TextBox 52"/>
            <p:cNvSpPr txBox="1"/>
            <p:nvPr/>
          </p:nvSpPr>
          <p:spPr>
            <a:xfrm>
              <a:off x="778050" y="5536882"/>
              <a:ext cx="57750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OB-5</a:t>
              </a:r>
            </a:p>
          </p:txBody>
        </p:sp>
        <p:grpSp>
          <p:nvGrpSpPr>
            <p:cNvPr id="57" name="Group 57"/>
            <p:cNvGrpSpPr/>
            <p:nvPr/>
          </p:nvGrpSpPr>
          <p:grpSpPr>
            <a:xfrm>
              <a:off x="1800225" y="5511800"/>
              <a:ext cx="285750" cy="263526"/>
              <a:chOff x="1800225" y="5511800"/>
              <a:chExt cx="285750" cy="263526"/>
            </a:xfrm>
          </p:grpSpPr>
          <p:sp>
            <p:nvSpPr>
              <p:cNvPr id="53" name="Freeform 53"/>
              <p:cNvSpPr/>
              <p:nvPr/>
            </p:nvSpPr>
            <p:spPr>
              <a:xfrm>
                <a:off x="1800225" y="56388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31750">
                <a:solidFill>
                  <a:schemeClr val="accent3"/>
                </a:solidFill>
              </a:ln>
            </p:spPr>
          </p:sp>
          <p:sp>
            <p:nvSpPr>
              <p:cNvPr id="54" name="Freeform 54"/>
              <p:cNvSpPr/>
              <p:nvPr/>
            </p:nvSpPr>
            <p:spPr>
              <a:xfrm>
                <a:off x="1990725" y="55753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31750">
                <a:solidFill>
                  <a:schemeClr val="accent3"/>
                </a:solidFill>
              </a:ln>
            </p:spPr>
          </p:sp>
          <p:sp>
            <p:nvSpPr>
              <p:cNvPr id="55" name="Freeform 55"/>
              <p:cNvSpPr/>
              <p:nvPr/>
            </p:nvSpPr>
            <p:spPr>
              <a:xfrm>
                <a:off x="1895475" y="5511800"/>
                <a:ext cx="95250" cy="254001"/>
              </a:xfrm>
              <a:custGeom>
                <a:avLst/>
                <a:gdLst/>
                <a:ahLst/>
                <a:cxnLst/>
                <a:rect l="l" t="t" r="r" b="b"/>
                <a:pathLst>
                  <a:path w="95250" h="254001">
                    <a:moveTo>
                      <a:pt x="0" y="15875"/>
                    </a:moveTo>
                    <a:cubicBezTo>
                      <a:pt x="0" y="7107"/>
                      <a:pt x="7107" y="0"/>
                      <a:pt x="15875" y="0"/>
                    </a:cubicBezTo>
                    <a:lnTo>
                      <a:pt x="79375" y="0"/>
                    </a:lnTo>
                    <a:cubicBezTo>
                      <a:pt x="88143" y="0"/>
                      <a:pt x="95250" y="7107"/>
                      <a:pt x="95250" y="15875"/>
                    </a:cubicBezTo>
                    <a:lnTo>
                      <a:pt x="95250" y="238125"/>
                    </a:lnTo>
                    <a:cubicBezTo>
                      <a:pt x="95250" y="246893"/>
                      <a:pt x="88143" y="254001"/>
                      <a:pt x="79375" y="254001"/>
                    </a:cubicBezTo>
                    <a:lnTo>
                      <a:pt x="15875" y="254001"/>
                    </a:lnTo>
                    <a:cubicBezTo>
                      <a:pt x="7107" y="254001"/>
                      <a:pt x="0" y="246893"/>
                      <a:pt x="0" y="238125"/>
                    </a:cubicBezTo>
                    <a:lnTo>
                      <a:pt x="0" y="15875"/>
                    </a:lnTo>
                  </a:path>
                </a:pathLst>
              </a:custGeom>
              <a:noFill/>
              <a:ln w="31750">
                <a:solidFill>
                  <a:schemeClr val="accent3"/>
                </a:solidFill>
              </a:ln>
            </p:spPr>
          </p:sp>
          <p:sp>
            <p:nvSpPr>
              <p:cNvPr id="56" name="Freeform 56"/>
              <p:cNvSpPr/>
              <p:nvPr/>
            </p:nvSpPr>
            <p:spPr>
              <a:xfrm>
                <a:off x="1816100" y="5765801"/>
                <a:ext cx="222250" cy="9525"/>
              </a:xfrm>
              <a:custGeom>
                <a:avLst/>
                <a:gdLst/>
                <a:ahLst/>
                <a:cxnLst/>
                <a:rect l="l" t="t" r="r" b="b"/>
                <a:pathLst>
                  <a:path w="222250" h="9525">
                    <a:moveTo>
                      <a:pt x="0" y="0"/>
                    </a:moveTo>
                    <a:lnTo>
                      <a:pt x="222250" y="0"/>
                    </a:lnTo>
                  </a:path>
                </a:pathLst>
              </a:custGeom>
              <a:noFill/>
              <a:ln w="31750">
                <a:solidFill>
                  <a:schemeClr val="accent3"/>
                </a:solidFill>
              </a:ln>
            </p:spPr>
          </p:sp>
        </p:grpSp>
        <p:sp>
          <p:nvSpPr>
            <p:cNvPr id="58" name="TextBox 58"/>
            <p:cNvSpPr txBox="1"/>
            <p:nvPr/>
          </p:nvSpPr>
          <p:spPr>
            <a:xfrm>
              <a:off x="2237232" y="5507355"/>
              <a:ext cx="3046303"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Statistics &amp; evaluation</a:t>
              </a:r>
            </a:p>
          </p:txBody>
        </p:sp>
        <p:sp>
          <p:nvSpPr>
            <p:cNvPr id="59" name="TextBox 59"/>
            <p:cNvSpPr txBox="1"/>
            <p:nvPr/>
          </p:nvSpPr>
          <p:spPr>
            <a:xfrm>
              <a:off x="6087618" y="5384482"/>
              <a:ext cx="4466265"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5"/>
                  </a:solidFill>
                  <a:latin typeface="+mn-lt"/>
                  <a:ea typeface="+mn-ea"/>
                  <a:cs typeface="+mn-cs"/>
                </a:rPr>
                <a:t>Weekly and semester figures collected by hand;</a:t>
              </a:r>
              <a:br/>
              <a:r>
                <a:rPr lang="en-US" sz="1650" dirty="0">
                  <a:solidFill>
                    <a:schemeClr val="accent5"/>
                  </a:solidFill>
                  <a:latin typeface="+mn-lt"/>
                  <a:ea typeface="+mn-ea"/>
                  <a:cs typeface="+mn-cs"/>
                </a:rPr>
                <a:t>grading is subjective and kept in private files</a:t>
              </a:r>
            </a:p>
          </p:txBody>
        </p:sp>
      </p:grpSp>
      <p:grpSp>
        <p:nvGrpSpPr>
          <p:cNvPr id="63" name="footer"/>
          <p:cNvGrpSpPr/>
          <p:nvPr/>
        </p:nvGrpSpPr>
        <p:grpSpPr>
          <a:xfrm>
            <a:off x="602742" y="6445568"/>
            <a:ext cx="10986516" cy="264033"/>
            <a:chOff x="602742" y="6445568"/>
            <a:chExt cx="10986516" cy="264033"/>
          </a:xfrm>
        </p:grpSpPr>
        <p:sp>
          <p:nvSpPr>
            <p:cNvPr id="61" name="TextBox 61"/>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62" name="TextBox 62"/>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03 / 13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10150634" cy="991743"/>
            <a:chOff x="591312" y="561975"/>
            <a:chExt cx="10150634" cy="991743"/>
          </a:xfrm>
        </p:grpSpPr>
        <p:sp>
          <p:nvSpPr>
            <p:cNvPr id="2" name="TextBox 2"/>
            <p:cNvSpPr txBox="1"/>
            <p:nvPr/>
          </p:nvSpPr>
          <p:spPr>
            <a:xfrm>
              <a:off x="601980" y="561975"/>
              <a:ext cx="3243206"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ROOT CAUSES &amp; IMPACT</a:t>
              </a:r>
            </a:p>
          </p:txBody>
        </p:sp>
        <p:sp>
          <p:nvSpPr>
            <p:cNvPr id="3" name="TextBox 3"/>
            <p:cNvSpPr txBox="1"/>
            <p:nvPr/>
          </p:nvSpPr>
          <p:spPr>
            <a:xfrm>
              <a:off x="591312" y="849630"/>
              <a:ext cx="10150634"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Root cause: no system built for supervision</a:t>
              </a:r>
            </a:p>
          </p:txBody>
        </p:sp>
      </p:grpSp>
      <p:grpSp>
        <p:nvGrpSpPr>
          <p:cNvPr id="14" name="causes"/>
          <p:cNvGrpSpPr/>
          <p:nvPr/>
        </p:nvGrpSpPr>
        <p:grpSpPr>
          <a:xfrm>
            <a:off x="609600" y="1676400"/>
            <a:ext cx="4819650" cy="4457700"/>
            <a:chOff x="609600" y="1676400"/>
            <a:chExt cx="4819650" cy="4457700"/>
          </a:xfrm>
        </p:grpSpPr>
        <p:sp>
          <p:nvSpPr>
            <p:cNvPr id="5" name="Rectangle 5"/>
            <p:cNvSpPr/>
            <p:nvPr/>
          </p:nvSpPr>
          <p:spPr>
            <a:xfrm>
              <a:off x="609600" y="1676400"/>
              <a:ext cx="4819650" cy="4457700"/>
            </a:xfrm>
            <a:prstGeom prst="roundRect">
              <a:avLst>
                <a:gd name="adj" fmla="val 2564"/>
              </a:avLst>
            </a:prstGeom>
            <a:solidFill>
              <a:schemeClr val="lt2"/>
            </a:solidFill>
            <a:ln>
              <a:noFill/>
            </a:ln>
          </p:spPr>
        </p:sp>
        <p:sp>
          <p:nvSpPr>
            <p:cNvPr id="6" name="TextBox 6"/>
            <p:cNvSpPr txBox="1"/>
            <p:nvPr/>
          </p:nvSpPr>
          <p:spPr>
            <a:xfrm>
              <a:off x="865632" y="1887855"/>
              <a:ext cx="1711911"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Root causes</a:t>
              </a:r>
            </a:p>
          </p:txBody>
        </p:sp>
        <p:grpSp>
          <p:nvGrpSpPr>
            <p:cNvPr id="13" name="causes-list"/>
            <p:cNvGrpSpPr/>
            <p:nvPr/>
          </p:nvGrpSpPr>
          <p:grpSpPr>
            <a:xfrm>
              <a:off x="867918" y="2546032"/>
              <a:ext cx="4213252" cy="3465957"/>
              <a:chOff x="867918" y="2546032"/>
              <a:chExt cx="4213252" cy="3465957"/>
            </a:xfrm>
          </p:grpSpPr>
          <p:sp>
            <p:nvSpPr>
              <p:cNvPr id="7" name="TextBox 7"/>
              <p:cNvSpPr txBox="1"/>
              <p:nvPr/>
            </p:nvSpPr>
            <p:spPr>
              <a:xfrm>
                <a:off x="867918" y="2546032"/>
                <a:ext cx="4213252"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RC-1</a:t>
                </a:r>
                <a:r>
                  <a:rPr lang="en-US" sz="1650" dirty="0">
                    <a:solidFill>
                      <a:schemeClr val="dk1"/>
                    </a:solidFill>
                    <a:latin typeface="+mn-lt"/>
                    <a:ea typeface="+mn-ea"/>
                    <a:cs typeface="+mn-cs"/>
                  </a:rPr>
                  <a:t xml:space="preserve"> No dedicated system for supervision</a:t>
                </a:r>
              </a:p>
            </p:txBody>
          </p:sp>
          <p:sp>
            <p:nvSpPr>
              <p:cNvPr id="8" name="TextBox 8"/>
              <p:cNvSpPr txBox="1"/>
              <p:nvPr/>
            </p:nvSpPr>
            <p:spPr>
              <a:xfrm>
                <a:off x="867918" y="3174682"/>
                <a:ext cx="4127562"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RC-2</a:t>
                </a:r>
                <a:r>
                  <a:rPr lang="en-US" sz="1650" dirty="0">
                    <a:solidFill>
                      <a:schemeClr val="dk1"/>
                    </a:solidFill>
                    <a:latin typeface="+mn-lt"/>
                    <a:ea typeface="+mn-ea"/>
                    <a:cs typeface="+mn-cs"/>
                  </a:rPr>
                  <a:t xml:space="preserve"> No shared data model across steps</a:t>
                </a:r>
              </a:p>
            </p:txBody>
          </p:sp>
          <p:sp>
            <p:nvSpPr>
              <p:cNvPr id="9" name="TextBox 9"/>
              <p:cNvSpPr txBox="1"/>
              <p:nvPr/>
            </p:nvSpPr>
            <p:spPr>
              <a:xfrm>
                <a:off x="867918" y="3803332"/>
                <a:ext cx="4090882"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RC-3</a:t>
                </a:r>
                <a:r>
                  <a:rPr lang="en-US" sz="1650" dirty="0">
                    <a:solidFill>
                      <a:schemeClr val="dk1"/>
                    </a:solidFill>
                    <a:latin typeface="+mn-lt"/>
                    <a:ea typeface="+mn-ea"/>
                    <a:cs typeface="+mn-cs"/>
                  </a:rPr>
                  <a:t xml:space="preserve"> Manual, person-dependent records</a:t>
                </a:r>
              </a:p>
            </p:txBody>
          </p:sp>
          <p:sp>
            <p:nvSpPr>
              <p:cNvPr id="10" name="TextBox 10"/>
              <p:cNvSpPr txBox="1"/>
              <p:nvPr/>
            </p:nvSpPr>
            <p:spPr>
              <a:xfrm>
                <a:off x="867918" y="4431982"/>
                <a:ext cx="3670302"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RC-4</a:t>
                </a:r>
                <a:r>
                  <a:rPr lang="en-US" sz="1650" dirty="0">
                    <a:solidFill>
                      <a:schemeClr val="dk1"/>
                    </a:solidFill>
                    <a:latin typeface="+mn-lt"/>
                    <a:ea typeface="+mn-ea"/>
                    <a:cs typeface="+mn-cs"/>
                  </a:rPr>
                  <a:t xml:space="preserve"> No standard rubric or evidence</a:t>
                </a:r>
              </a:p>
            </p:txBody>
          </p:sp>
          <p:sp>
            <p:nvSpPr>
              <p:cNvPr id="11" name="TextBox 11"/>
              <p:cNvSpPr txBox="1"/>
              <p:nvPr/>
            </p:nvSpPr>
            <p:spPr>
              <a:xfrm>
                <a:off x="867918" y="5060632"/>
                <a:ext cx="3607883"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RC-5</a:t>
                </a:r>
                <a:r>
                  <a:rPr lang="en-US" sz="1650" dirty="0">
                    <a:solidFill>
                      <a:schemeClr val="dk1"/>
                    </a:solidFill>
                    <a:latin typeface="+mn-lt"/>
                    <a:ea typeface="+mn-ea"/>
                    <a:cs typeface="+mn-cs"/>
                  </a:rPr>
                  <a:t xml:space="preserve"> No confirmations or reminders</a:t>
                </a:r>
              </a:p>
            </p:txBody>
          </p:sp>
          <p:sp>
            <p:nvSpPr>
              <p:cNvPr id="12" name="TextBox 12"/>
              <p:cNvSpPr txBox="1"/>
              <p:nvPr/>
            </p:nvSpPr>
            <p:spPr>
              <a:xfrm>
                <a:off x="867918" y="5689282"/>
                <a:ext cx="4176713"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RC-6</a:t>
                </a:r>
                <a:r>
                  <a:rPr lang="en-US" sz="1650" dirty="0">
                    <a:solidFill>
                      <a:schemeClr val="dk1"/>
                    </a:solidFill>
                    <a:latin typeface="+mn-lt"/>
                    <a:ea typeface="+mn-ea"/>
                    <a:cs typeface="+mn-cs"/>
                  </a:rPr>
                  <a:t xml:space="preserve"> Topic knowledge held by individuals</a:t>
                </a:r>
              </a:p>
            </p:txBody>
          </p:sp>
        </p:grpSp>
      </p:grpSp>
      <p:sp>
        <p:nvSpPr>
          <p:cNvPr id="15" name="Freeform 15"/>
          <p:cNvSpPr/>
          <p:nvPr/>
        </p:nvSpPr>
        <p:spPr>
          <a:xfrm>
            <a:off x="5657850" y="3695700"/>
            <a:ext cx="876300" cy="685800"/>
          </a:xfrm>
          <a:prstGeom prst="rightArrow">
            <a:avLst/>
          </a:prstGeom>
          <a:solidFill>
            <a:schemeClr val="accent2"/>
          </a:solidFill>
          <a:ln>
            <a:noFill/>
          </a:ln>
        </p:spPr>
      </p:sp>
      <p:grpSp>
        <p:nvGrpSpPr>
          <p:cNvPr id="54" name="impacts"/>
          <p:cNvGrpSpPr/>
          <p:nvPr/>
        </p:nvGrpSpPr>
        <p:grpSpPr>
          <a:xfrm>
            <a:off x="6762750" y="1676400"/>
            <a:ext cx="4819650" cy="4457700"/>
            <a:chOff x="6762750" y="1676400"/>
            <a:chExt cx="4819650" cy="4457700"/>
          </a:xfrm>
        </p:grpSpPr>
        <p:sp>
          <p:nvSpPr>
            <p:cNvPr id="16" name="Rectangle 16"/>
            <p:cNvSpPr/>
            <p:nvPr/>
          </p:nvSpPr>
          <p:spPr>
            <a:xfrm>
              <a:off x="6762750" y="1676400"/>
              <a:ext cx="4819650" cy="4457700"/>
            </a:xfrm>
            <a:prstGeom prst="roundRect">
              <a:avLst>
                <a:gd name="adj" fmla="val 2564"/>
              </a:avLst>
            </a:prstGeom>
            <a:solidFill>
              <a:schemeClr val="lt1"/>
            </a:solidFill>
            <a:ln w="19050">
              <a:solidFill>
                <a:schemeClr val="accent1"/>
              </a:solidFill>
            </a:ln>
          </p:spPr>
        </p:sp>
        <p:sp>
          <p:nvSpPr>
            <p:cNvPr id="17" name="TextBox 17"/>
            <p:cNvSpPr txBox="1"/>
            <p:nvPr/>
          </p:nvSpPr>
          <p:spPr>
            <a:xfrm>
              <a:off x="7018782" y="1887855"/>
              <a:ext cx="94113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Impact</a:t>
              </a:r>
            </a:p>
          </p:txBody>
        </p:sp>
        <p:grpSp>
          <p:nvGrpSpPr>
            <p:cNvPr id="24" name="impact-1"/>
            <p:cNvGrpSpPr/>
            <p:nvPr/>
          </p:nvGrpSpPr>
          <p:grpSpPr>
            <a:xfrm>
              <a:off x="7115175" y="2538412"/>
              <a:ext cx="2906078" cy="358903"/>
              <a:chOff x="7115175" y="2538412"/>
              <a:chExt cx="2906078" cy="358903"/>
            </a:xfrm>
          </p:grpSpPr>
          <p:grpSp>
            <p:nvGrpSpPr>
              <p:cNvPr id="22" name="Group 22"/>
              <p:cNvGrpSpPr/>
              <p:nvPr/>
            </p:nvGrpSpPr>
            <p:grpSpPr>
              <a:xfrm>
                <a:off x="7115175" y="2538412"/>
                <a:ext cx="171450" cy="257176"/>
                <a:chOff x="7115175" y="2538412"/>
                <a:chExt cx="171450" cy="257176"/>
              </a:xfrm>
            </p:grpSpPr>
            <p:sp>
              <p:nvSpPr>
                <p:cNvPr id="18" name="Freeform 18"/>
                <p:cNvSpPr/>
                <p:nvPr/>
              </p:nvSpPr>
              <p:spPr>
                <a:xfrm>
                  <a:off x="7122319" y="2595562"/>
                  <a:ext cx="157162" cy="9525"/>
                </a:xfrm>
                <a:custGeom>
                  <a:avLst/>
                  <a:gdLst/>
                  <a:ahLst/>
                  <a:cxnLst/>
                  <a:rect l="l" t="t" r="r" b="b"/>
                  <a:pathLst>
                    <a:path w="157162" h="9525">
                      <a:moveTo>
                        <a:pt x="0" y="0"/>
                      </a:moveTo>
                      <a:lnTo>
                        <a:pt x="157162" y="0"/>
                      </a:lnTo>
                    </a:path>
                  </a:pathLst>
                </a:custGeom>
                <a:noFill/>
                <a:ln w="28575">
                  <a:solidFill>
                    <a:schemeClr val="accent2"/>
                  </a:solidFill>
                </a:ln>
              </p:spPr>
            </p:sp>
            <p:sp>
              <p:nvSpPr>
                <p:cNvPr id="19" name="Freeform 19"/>
                <p:cNvSpPr/>
                <p:nvPr/>
              </p:nvSpPr>
              <p:spPr>
                <a:xfrm>
                  <a:off x="7122319" y="2738438"/>
                  <a:ext cx="157162" cy="9525"/>
                </a:xfrm>
                <a:custGeom>
                  <a:avLst/>
                  <a:gdLst/>
                  <a:ahLst/>
                  <a:cxnLst/>
                  <a:rect l="l" t="t" r="r" b="b"/>
                  <a:pathLst>
                    <a:path w="157162" h="9525">
                      <a:moveTo>
                        <a:pt x="0" y="0"/>
                      </a:moveTo>
                      <a:lnTo>
                        <a:pt x="157162" y="0"/>
                      </a:lnTo>
                    </a:path>
                  </a:pathLst>
                </a:custGeom>
                <a:noFill/>
                <a:ln w="28575">
                  <a:solidFill>
                    <a:schemeClr val="accent2"/>
                  </a:solidFill>
                </a:ln>
              </p:spPr>
            </p:sp>
            <p:sp>
              <p:nvSpPr>
                <p:cNvPr id="20" name="Freeform 20"/>
                <p:cNvSpPr/>
                <p:nvPr/>
              </p:nvSpPr>
              <p:spPr>
                <a:xfrm>
                  <a:off x="7115175" y="2667000"/>
                  <a:ext cx="171450" cy="128588"/>
                </a:xfrm>
                <a:custGeom>
                  <a:avLst/>
                  <a:gdLst/>
                  <a:ahLst/>
                  <a:cxnLst/>
                  <a:rect l="l" t="t" r="r" b="b"/>
                  <a:pathLst>
                    <a:path w="171450" h="128588">
                      <a:moveTo>
                        <a:pt x="0" y="114300"/>
                      </a:moveTo>
                      <a:lnTo>
                        <a:pt x="0" y="85725"/>
                      </a:lnTo>
                      <a:cubicBezTo>
                        <a:pt x="0" y="38380"/>
                        <a:pt x="38380" y="0"/>
                        <a:pt x="85725" y="0"/>
                      </a:cubicBezTo>
                      <a:cubicBezTo>
                        <a:pt x="133070" y="0"/>
                        <a:pt x="171450" y="38380"/>
                        <a:pt x="171450" y="85725"/>
                      </a:cubicBezTo>
                      <a:lnTo>
                        <a:pt x="171450" y="114300"/>
                      </a:lnTo>
                      <a:cubicBezTo>
                        <a:pt x="171450" y="122191"/>
                        <a:pt x="165053" y="128588"/>
                        <a:pt x="157162" y="128588"/>
                      </a:cubicBezTo>
                      <a:lnTo>
                        <a:pt x="14288" y="128588"/>
                      </a:lnTo>
                      <a:cubicBezTo>
                        <a:pt x="6397" y="128588"/>
                        <a:pt x="0" y="122191"/>
                        <a:pt x="0" y="114300"/>
                      </a:cubicBezTo>
                    </a:path>
                  </a:pathLst>
                </a:custGeom>
                <a:noFill/>
                <a:ln w="28575">
                  <a:solidFill>
                    <a:schemeClr val="accent2"/>
                  </a:solidFill>
                </a:ln>
              </p:spPr>
            </p:sp>
            <p:sp>
              <p:nvSpPr>
                <p:cNvPr id="21" name="Freeform 21"/>
                <p:cNvSpPr/>
                <p:nvPr/>
              </p:nvSpPr>
              <p:spPr>
                <a:xfrm>
                  <a:off x="7115175" y="2538412"/>
                  <a:ext cx="171450" cy="128588"/>
                </a:xfrm>
                <a:custGeom>
                  <a:avLst/>
                  <a:gdLst/>
                  <a:ahLst/>
                  <a:cxnLst/>
                  <a:rect l="l" t="t" r="r" b="b"/>
                  <a:pathLst>
                    <a:path w="171450" h="128588">
                      <a:moveTo>
                        <a:pt x="0" y="14288"/>
                      </a:moveTo>
                      <a:lnTo>
                        <a:pt x="0" y="42862"/>
                      </a:lnTo>
                      <a:cubicBezTo>
                        <a:pt x="0" y="90207"/>
                        <a:pt x="38380" y="128588"/>
                        <a:pt x="85725" y="128588"/>
                      </a:cubicBezTo>
                      <a:cubicBezTo>
                        <a:pt x="133070" y="128588"/>
                        <a:pt x="171450" y="90207"/>
                        <a:pt x="171450" y="42862"/>
                      </a:cubicBezTo>
                      <a:lnTo>
                        <a:pt x="171450" y="14288"/>
                      </a:lnTo>
                      <a:cubicBezTo>
                        <a:pt x="171450" y="6397"/>
                        <a:pt x="165053" y="0"/>
                        <a:pt x="157162" y="0"/>
                      </a:cubicBezTo>
                      <a:lnTo>
                        <a:pt x="14288" y="0"/>
                      </a:lnTo>
                      <a:cubicBezTo>
                        <a:pt x="6397" y="0"/>
                        <a:pt x="0" y="6397"/>
                        <a:pt x="0" y="14288"/>
                      </a:cubicBezTo>
                    </a:path>
                  </a:pathLst>
                </a:custGeom>
                <a:noFill/>
                <a:ln w="28575">
                  <a:solidFill>
                    <a:schemeClr val="accent2"/>
                  </a:solidFill>
                </a:ln>
              </p:spPr>
            </p:sp>
          </p:grpSp>
          <p:sp>
            <p:nvSpPr>
              <p:cNvPr id="23" name="TextBox 23"/>
              <p:cNvSpPr txBox="1"/>
              <p:nvPr/>
            </p:nvSpPr>
            <p:spPr>
              <a:xfrm>
                <a:off x="7516368" y="2574608"/>
                <a:ext cx="250488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Time lost on coordination</a:t>
                </a:r>
              </a:p>
            </p:txBody>
          </p:sp>
        </p:grpSp>
        <p:grpSp>
          <p:nvGrpSpPr>
            <p:cNvPr id="32" name="impact-2"/>
            <p:cNvGrpSpPr/>
            <p:nvPr/>
          </p:nvGrpSpPr>
          <p:grpSpPr>
            <a:xfrm>
              <a:off x="7072312" y="3262312"/>
              <a:ext cx="4183445" cy="358903"/>
              <a:chOff x="7072312" y="3262312"/>
              <a:chExt cx="4183445" cy="358903"/>
            </a:xfrm>
          </p:grpSpPr>
          <p:grpSp>
            <p:nvGrpSpPr>
              <p:cNvPr id="30" name="Group 30"/>
              <p:cNvGrpSpPr/>
              <p:nvPr/>
            </p:nvGrpSpPr>
            <p:grpSpPr>
              <a:xfrm>
                <a:off x="7072312" y="3262312"/>
                <a:ext cx="257175" cy="257179"/>
                <a:chOff x="7072312" y="3262312"/>
                <a:chExt cx="257175" cy="257179"/>
              </a:xfrm>
            </p:grpSpPr>
            <p:sp>
              <p:nvSpPr>
                <p:cNvPr id="25" name="Freeform 25"/>
                <p:cNvSpPr/>
                <p:nvPr/>
              </p:nvSpPr>
              <p:spPr>
                <a:xfrm>
                  <a:off x="7086595" y="3290888"/>
                  <a:ext cx="228605" cy="228603"/>
                </a:xfrm>
                <a:custGeom>
                  <a:avLst/>
                  <a:gdLst/>
                  <a:ahLst/>
                  <a:cxnLst/>
                  <a:rect l="l" t="t" r="r" b="b"/>
                  <a:pathLst>
                    <a:path w="228605" h="228603">
                      <a:moveTo>
                        <a:pt x="71442" y="0"/>
                      </a:moveTo>
                      <a:lnTo>
                        <a:pt x="200030" y="0"/>
                      </a:lnTo>
                      <a:cubicBezTo>
                        <a:pt x="215811" y="0"/>
                        <a:pt x="228605" y="12793"/>
                        <a:pt x="228605" y="28575"/>
                      </a:cubicBezTo>
                      <a:lnTo>
                        <a:pt x="228605" y="157162"/>
                      </a:lnTo>
                      <a:moveTo>
                        <a:pt x="225976" y="212012"/>
                      </a:moveTo>
                      <a:cubicBezTo>
                        <a:pt x="221301" y="222128"/>
                        <a:pt x="211173" y="228603"/>
                        <a:pt x="200030" y="228600"/>
                      </a:cubicBezTo>
                      <a:lnTo>
                        <a:pt x="28580" y="228600"/>
                      </a:lnTo>
                      <a:cubicBezTo>
                        <a:pt x="12798" y="228600"/>
                        <a:pt x="5" y="215807"/>
                        <a:pt x="5" y="200025"/>
                      </a:cubicBezTo>
                      <a:lnTo>
                        <a:pt x="5" y="28575"/>
                      </a:lnTo>
                      <a:cubicBezTo>
                        <a:pt x="0" y="17447"/>
                        <a:pt x="6456" y="7328"/>
                        <a:pt x="16550" y="2643"/>
                      </a:cubicBezTo>
                    </a:path>
                  </a:pathLst>
                </a:custGeom>
                <a:noFill/>
                <a:ln w="28575">
                  <a:solidFill>
                    <a:schemeClr val="accent2"/>
                  </a:solidFill>
                </a:ln>
              </p:spPr>
            </p:sp>
            <p:sp>
              <p:nvSpPr>
                <p:cNvPr id="26" name="Freeform 26"/>
                <p:cNvSpPr/>
                <p:nvPr/>
              </p:nvSpPr>
              <p:spPr>
                <a:xfrm>
                  <a:off x="7258050" y="3262312"/>
                  <a:ext cx="9525" cy="57150"/>
                </a:xfrm>
                <a:custGeom>
                  <a:avLst/>
                  <a:gdLst/>
                  <a:ahLst/>
                  <a:cxnLst/>
                  <a:rect l="l" t="t" r="r" b="b"/>
                  <a:pathLst>
                    <a:path w="9525" h="57150">
                      <a:moveTo>
                        <a:pt x="0" y="0"/>
                      </a:moveTo>
                      <a:lnTo>
                        <a:pt x="0" y="57150"/>
                      </a:lnTo>
                    </a:path>
                  </a:pathLst>
                </a:custGeom>
                <a:noFill/>
                <a:ln w="28575">
                  <a:solidFill>
                    <a:schemeClr val="accent2"/>
                  </a:solidFill>
                </a:ln>
              </p:spPr>
            </p:sp>
            <p:sp>
              <p:nvSpPr>
                <p:cNvPr id="27" name="Freeform 27"/>
                <p:cNvSpPr/>
                <p:nvPr/>
              </p:nvSpPr>
              <p:spPr>
                <a:xfrm>
                  <a:off x="7143750" y="3262312"/>
                  <a:ext cx="9525" cy="14288"/>
                </a:xfrm>
                <a:custGeom>
                  <a:avLst/>
                  <a:gdLst/>
                  <a:ahLst/>
                  <a:cxnLst/>
                  <a:rect l="l" t="t" r="r" b="b"/>
                  <a:pathLst>
                    <a:path w="9525" h="14288">
                      <a:moveTo>
                        <a:pt x="0" y="0"/>
                      </a:moveTo>
                      <a:lnTo>
                        <a:pt x="0" y="14288"/>
                      </a:lnTo>
                    </a:path>
                  </a:pathLst>
                </a:custGeom>
                <a:noFill/>
                <a:ln w="28575">
                  <a:solidFill>
                    <a:schemeClr val="accent2"/>
                  </a:solidFill>
                </a:ln>
              </p:spPr>
            </p:sp>
            <p:sp>
              <p:nvSpPr>
                <p:cNvPr id="28" name="Freeform 28"/>
                <p:cNvSpPr/>
                <p:nvPr/>
              </p:nvSpPr>
              <p:spPr>
                <a:xfrm>
                  <a:off x="7086600" y="3376612"/>
                  <a:ext cx="228600" cy="9525"/>
                </a:xfrm>
                <a:custGeom>
                  <a:avLst/>
                  <a:gdLst/>
                  <a:ahLst/>
                  <a:cxnLst/>
                  <a:rect l="l" t="t" r="r" b="b"/>
                  <a:pathLst>
                    <a:path w="228600" h="9525">
                      <a:moveTo>
                        <a:pt x="0" y="0"/>
                      </a:moveTo>
                      <a:lnTo>
                        <a:pt x="100012" y="0"/>
                      </a:lnTo>
                      <a:moveTo>
                        <a:pt x="157162" y="0"/>
                      </a:moveTo>
                      <a:lnTo>
                        <a:pt x="228600" y="0"/>
                      </a:lnTo>
                    </a:path>
                  </a:pathLst>
                </a:custGeom>
                <a:noFill/>
                <a:ln w="28575">
                  <a:solidFill>
                    <a:schemeClr val="accent2"/>
                  </a:solidFill>
                </a:ln>
              </p:spPr>
            </p:sp>
            <p:sp>
              <p:nvSpPr>
                <p:cNvPr id="29" name="Freeform 29"/>
                <p:cNvSpPr/>
                <p:nvPr/>
              </p:nvSpPr>
              <p:spPr>
                <a:xfrm>
                  <a:off x="7072312" y="3262312"/>
                  <a:ext cx="257175" cy="257175"/>
                </a:xfrm>
                <a:custGeom>
                  <a:avLst/>
                  <a:gdLst/>
                  <a:ahLst/>
                  <a:cxnLst/>
                  <a:rect l="l" t="t" r="r" b="b"/>
                  <a:pathLst>
                    <a:path w="257175" h="257175">
                      <a:moveTo>
                        <a:pt x="0" y="0"/>
                      </a:moveTo>
                      <a:lnTo>
                        <a:pt x="257175" y="257175"/>
                      </a:lnTo>
                    </a:path>
                  </a:pathLst>
                </a:custGeom>
                <a:noFill/>
                <a:ln w="28575">
                  <a:solidFill>
                    <a:schemeClr val="accent2"/>
                  </a:solidFill>
                </a:ln>
              </p:spPr>
            </p:sp>
          </p:grpSp>
          <p:sp>
            <p:nvSpPr>
              <p:cNvPr id="31" name="TextBox 31"/>
              <p:cNvSpPr txBox="1"/>
              <p:nvPr/>
            </p:nvSpPr>
            <p:spPr>
              <a:xfrm>
                <a:off x="7516368" y="3298508"/>
                <a:ext cx="3739389"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Scheduling conflicts, missed sessions</a:t>
                </a:r>
              </a:p>
            </p:txBody>
          </p:sp>
        </p:grpSp>
        <p:grpSp>
          <p:nvGrpSpPr>
            <p:cNvPr id="39" name="impact-3"/>
            <p:cNvGrpSpPr/>
            <p:nvPr/>
          </p:nvGrpSpPr>
          <p:grpSpPr>
            <a:xfrm>
              <a:off x="7072312" y="3986212"/>
              <a:ext cx="3405905" cy="358903"/>
              <a:chOff x="7072312" y="3986212"/>
              <a:chExt cx="3405905" cy="358903"/>
            </a:xfrm>
          </p:grpSpPr>
          <p:grpSp>
            <p:nvGrpSpPr>
              <p:cNvPr id="37" name="Group 37"/>
              <p:cNvGrpSpPr/>
              <p:nvPr/>
            </p:nvGrpSpPr>
            <p:grpSpPr>
              <a:xfrm>
                <a:off x="7072312" y="3986212"/>
                <a:ext cx="257175" cy="257175"/>
                <a:chOff x="7072312" y="3986212"/>
                <a:chExt cx="257175" cy="257175"/>
              </a:xfrm>
            </p:grpSpPr>
            <p:sp>
              <p:nvSpPr>
                <p:cNvPr id="33" name="Freeform 33"/>
                <p:cNvSpPr/>
                <p:nvPr/>
              </p:nvSpPr>
              <p:spPr>
                <a:xfrm>
                  <a:off x="7158038" y="4071938"/>
                  <a:ext cx="85725" cy="85725"/>
                </a:xfrm>
                <a:custGeom>
                  <a:avLst/>
                  <a:gdLst/>
                  <a:ahLst/>
                  <a:cxnLst/>
                  <a:rect l="l" t="t" r="r" b="b"/>
                  <a:pathLst>
                    <a:path w="85725" h="85725">
                      <a:moveTo>
                        <a:pt x="0" y="85725"/>
                      </a:moveTo>
                      <a:lnTo>
                        <a:pt x="42862" y="42862"/>
                      </a:lnTo>
                      <a:moveTo>
                        <a:pt x="71438" y="14288"/>
                      </a:moveTo>
                      <a:lnTo>
                        <a:pt x="85725" y="0"/>
                      </a:lnTo>
                    </a:path>
                  </a:pathLst>
                </a:custGeom>
                <a:noFill/>
                <a:ln w="28575">
                  <a:solidFill>
                    <a:schemeClr val="accent2"/>
                  </a:solidFill>
                </a:ln>
              </p:spPr>
            </p:sp>
            <p:sp>
              <p:nvSpPr>
                <p:cNvPr id="34" name="Freeform 34"/>
                <p:cNvSpPr/>
                <p:nvPr/>
              </p:nvSpPr>
              <p:spPr>
                <a:xfrm>
                  <a:off x="7186612" y="3993519"/>
                  <a:ext cx="135547" cy="135568"/>
                </a:xfrm>
                <a:custGeom>
                  <a:avLst/>
                  <a:gdLst/>
                  <a:ahLst/>
                  <a:cxnLst/>
                  <a:rect l="l" t="t" r="r" b="b"/>
                  <a:pathLst>
                    <a:path w="135547" h="135568">
                      <a:moveTo>
                        <a:pt x="0" y="35556"/>
                      </a:moveTo>
                      <a:lnTo>
                        <a:pt x="6615" y="27898"/>
                      </a:lnTo>
                      <a:cubicBezTo>
                        <a:pt x="34517" y="0"/>
                        <a:pt x="79751" y="3"/>
                        <a:pt x="107649" y="27905"/>
                      </a:cubicBezTo>
                      <a:cubicBezTo>
                        <a:pt x="135547" y="55807"/>
                        <a:pt x="135544" y="101041"/>
                        <a:pt x="107642" y="128939"/>
                      </a:cubicBezTo>
                      <a:lnTo>
                        <a:pt x="100012" y="135568"/>
                      </a:lnTo>
                    </a:path>
                  </a:pathLst>
                </a:custGeom>
                <a:noFill/>
                <a:ln w="28575">
                  <a:solidFill>
                    <a:schemeClr val="accent2"/>
                  </a:solidFill>
                </a:ln>
              </p:spPr>
            </p:sp>
            <p:sp>
              <p:nvSpPr>
                <p:cNvPr id="35" name="Freeform 35"/>
                <p:cNvSpPr/>
                <p:nvPr/>
              </p:nvSpPr>
              <p:spPr>
                <a:xfrm>
                  <a:off x="7072312" y="3986212"/>
                  <a:ext cx="257175" cy="257175"/>
                </a:xfrm>
                <a:custGeom>
                  <a:avLst/>
                  <a:gdLst/>
                  <a:ahLst/>
                  <a:cxnLst/>
                  <a:rect l="l" t="t" r="r" b="b"/>
                  <a:pathLst>
                    <a:path w="257175" h="257175">
                      <a:moveTo>
                        <a:pt x="0" y="0"/>
                      </a:moveTo>
                      <a:lnTo>
                        <a:pt x="257175" y="257175"/>
                      </a:lnTo>
                    </a:path>
                  </a:pathLst>
                </a:custGeom>
                <a:noFill/>
                <a:ln w="28575">
                  <a:solidFill>
                    <a:schemeClr val="accent2"/>
                  </a:solidFill>
                </a:ln>
              </p:spPr>
            </p:sp>
            <p:sp>
              <p:nvSpPr>
                <p:cNvPr id="36" name="Freeform 36"/>
                <p:cNvSpPr/>
                <p:nvPr/>
              </p:nvSpPr>
              <p:spPr>
                <a:xfrm>
                  <a:off x="7086598" y="4100512"/>
                  <a:ext cx="128590" cy="135538"/>
                </a:xfrm>
                <a:custGeom>
                  <a:avLst/>
                  <a:gdLst/>
                  <a:ahLst/>
                  <a:cxnLst/>
                  <a:rect l="l" t="t" r="r" b="b"/>
                  <a:pathLst>
                    <a:path w="128590" h="135538">
                      <a:moveTo>
                        <a:pt x="128590" y="100012"/>
                      </a:moveTo>
                      <a:lnTo>
                        <a:pt x="122917" y="107642"/>
                      </a:lnTo>
                      <a:cubicBezTo>
                        <a:pt x="94707" y="135538"/>
                        <a:pt x="49301" y="135538"/>
                        <a:pt x="21090" y="107642"/>
                      </a:cubicBezTo>
                      <a:cubicBezTo>
                        <a:pt x="7595" y="94298"/>
                        <a:pt x="0" y="76108"/>
                        <a:pt x="0" y="57129"/>
                      </a:cubicBezTo>
                      <a:cubicBezTo>
                        <a:pt x="0" y="38149"/>
                        <a:pt x="7595" y="19960"/>
                        <a:pt x="21090" y="6615"/>
                      </a:cubicBezTo>
                      <a:lnTo>
                        <a:pt x="28577" y="0"/>
                      </a:lnTo>
                    </a:path>
                  </a:pathLst>
                </a:custGeom>
                <a:noFill/>
                <a:ln w="28575">
                  <a:solidFill>
                    <a:schemeClr val="accent2"/>
                  </a:solidFill>
                </a:ln>
              </p:spPr>
            </p:sp>
          </p:grpSp>
          <p:sp>
            <p:nvSpPr>
              <p:cNvPr id="38" name="TextBox 38"/>
              <p:cNvSpPr txBox="1"/>
              <p:nvPr/>
            </p:nvSpPr>
            <p:spPr>
              <a:xfrm>
                <a:off x="7516368" y="4022408"/>
                <a:ext cx="2961849"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Lost or disputed requirements</a:t>
                </a:r>
              </a:p>
            </p:txBody>
          </p:sp>
        </p:grpSp>
        <p:grpSp>
          <p:nvGrpSpPr>
            <p:cNvPr id="45" name="impact-4"/>
            <p:cNvGrpSpPr/>
            <p:nvPr/>
          </p:nvGrpSpPr>
          <p:grpSpPr>
            <a:xfrm>
              <a:off x="7072312" y="4710112"/>
              <a:ext cx="3825697" cy="358903"/>
              <a:chOff x="7072312" y="4710112"/>
              <a:chExt cx="3825697" cy="358903"/>
            </a:xfrm>
          </p:grpSpPr>
          <p:grpSp>
            <p:nvGrpSpPr>
              <p:cNvPr id="43" name="Group 43"/>
              <p:cNvGrpSpPr/>
              <p:nvPr/>
            </p:nvGrpSpPr>
            <p:grpSpPr>
              <a:xfrm>
                <a:off x="7072312" y="4710112"/>
                <a:ext cx="257175" cy="257175"/>
                <a:chOff x="7072312" y="4710112"/>
                <a:chExt cx="257175" cy="257175"/>
              </a:xfrm>
            </p:grpSpPr>
            <p:sp>
              <p:nvSpPr>
                <p:cNvPr id="40" name="Freeform 40"/>
                <p:cNvSpPr/>
                <p:nvPr/>
              </p:nvSpPr>
              <p:spPr>
                <a:xfrm>
                  <a:off x="7169526" y="4818512"/>
                  <a:ext cx="51577" cy="51570"/>
                </a:xfrm>
                <a:custGeom>
                  <a:avLst/>
                  <a:gdLst/>
                  <a:ahLst/>
                  <a:cxnLst/>
                  <a:rect l="l" t="t" r="r" b="b"/>
                  <a:pathLst>
                    <a:path w="51577" h="51570">
                      <a:moveTo>
                        <a:pt x="11158" y="0"/>
                      </a:moveTo>
                      <a:cubicBezTo>
                        <a:pt x="0" y="11161"/>
                        <a:pt x="3" y="29255"/>
                        <a:pt x="11165" y="40412"/>
                      </a:cubicBezTo>
                      <a:cubicBezTo>
                        <a:pt x="22326" y="51570"/>
                        <a:pt x="40419" y="51567"/>
                        <a:pt x="51577" y="40405"/>
                      </a:cubicBezTo>
                    </a:path>
                  </a:pathLst>
                </a:custGeom>
                <a:noFill/>
                <a:ln w="28575">
                  <a:solidFill>
                    <a:schemeClr val="accent2"/>
                  </a:solidFill>
                </a:ln>
              </p:spPr>
            </p:sp>
            <p:sp>
              <p:nvSpPr>
                <p:cNvPr id="41" name="Freeform 41"/>
                <p:cNvSpPr/>
                <p:nvPr/>
              </p:nvSpPr>
              <p:spPr>
                <a:xfrm>
                  <a:off x="7072312" y="4752952"/>
                  <a:ext cx="257175" cy="171628"/>
                </a:xfrm>
                <a:custGeom>
                  <a:avLst/>
                  <a:gdLst/>
                  <a:ahLst/>
                  <a:cxnLst/>
                  <a:rect l="l" t="t" r="r" b="b"/>
                  <a:pathLst>
                    <a:path w="257175" h="171628">
                      <a:moveTo>
                        <a:pt x="195467" y="152513"/>
                      </a:moveTo>
                      <a:cubicBezTo>
                        <a:pt x="175425" y="165052"/>
                        <a:pt x="152228" y="171628"/>
                        <a:pt x="128588" y="171473"/>
                      </a:cubicBezTo>
                      <a:cubicBezTo>
                        <a:pt x="77153" y="171473"/>
                        <a:pt x="34290" y="142898"/>
                        <a:pt x="0" y="85748"/>
                      </a:cubicBezTo>
                      <a:cubicBezTo>
                        <a:pt x="18174" y="55458"/>
                        <a:pt x="38748" y="33198"/>
                        <a:pt x="61722" y="18968"/>
                      </a:cubicBezTo>
                      <a:moveTo>
                        <a:pt x="102584" y="2594"/>
                      </a:moveTo>
                      <a:cubicBezTo>
                        <a:pt x="111143" y="862"/>
                        <a:pt x="119855" y="0"/>
                        <a:pt x="128588" y="23"/>
                      </a:cubicBezTo>
                      <a:cubicBezTo>
                        <a:pt x="180022" y="23"/>
                        <a:pt x="222885" y="28598"/>
                        <a:pt x="257175" y="85748"/>
                      </a:cubicBezTo>
                      <a:cubicBezTo>
                        <a:pt x="247660" y="101607"/>
                        <a:pt x="237473" y="115280"/>
                        <a:pt x="226628" y="126753"/>
                      </a:cubicBezTo>
                    </a:path>
                  </a:pathLst>
                </a:custGeom>
                <a:noFill/>
                <a:ln w="28575">
                  <a:solidFill>
                    <a:schemeClr val="accent2"/>
                  </a:solidFill>
                </a:ln>
              </p:spPr>
            </p:sp>
            <p:sp>
              <p:nvSpPr>
                <p:cNvPr id="42" name="Freeform 42"/>
                <p:cNvSpPr/>
                <p:nvPr/>
              </p:nvSpPr>
              <p:spPr>
                <a:xfrm>
                  <a:off x="7072312" y="4710112"/>
                  <a:ext cx="257175" cy="257175"/>
                </a:xfrm>
                <a:custGeom>
                  <a:avLst/>
                  <a:gdLst/>
                  <a:ahLst/>
                  <a:cxnLst/>
                  <a:rect l="l" t="t" r="r" b="b"/>
                  <a:pathLst>
                    <a:path w="257175" h="257175">
                      <a:moveTo>
                        <a:pt x="0" y="0"/>
                      </a:moveTo>
                      <a:lnTo>
                        <a:pt x="257175" y="257175"/>
                      </a:lnTo>
                    </a:path>
                  </a:pathLst>
                </a:custGeom>
                <a:noFill/>
                <a:ln w="28575">
                  <a:solidFill>
                    <a:schemeClr val="accent2"/>
                  </a:solidFill>
                </a:ln>
              </p:spPr>
            </p:sp>
          </p:grpSp>
          <p:sp>
            <p:nvSpPr>
              <p:cNvPr id="44" name="TextBox 44"/>
              <p:cNvSpPr txBox="1"/>
              <p:nvPr/>
            </p:nvSpPr>
            <p:spPr>
              <a:xfrm>
                <a:off x="7516368" y="4746308"/>
                <a:ext cx="3381641"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Low transparency of real progress</a:t>
                </a:r>
              </a:p>
            </p:txBody>
          </p:sp>
        </p:grpSp>
        <p:grpSp>
          <p:nvGrpSpPr>
            <p:cNvPr id="53" name="impact-5"/>
            <p:cNvGrpSpPr/>
            <p:nvPr/>
          </p:nvGrpSpPr>
          <p:grpSpPr>
            <a:xfrm>
              <a:off x="7072312" y="5434012"/>
              <a:ext cx="3456267" cy="358903"/>
              <a:chOff x="7072312" y="5434012"/>
              <a:chExt cx="3456267" cy="358903"/>
            </a:xfrm>
          </p:grpSpPr>
          <p:grpSp>
            <p:nvGrpSpPr>
              <p:cNvPr id="51" name="Group 51"/>
              <p:cNvGrpSpPr/>
              <p:nvPr/>
            </p:nvGrpSpPr>
            <p:grpSpPr>
              <a:xfrm>
                <a:off x="7072312" y="5434012"/>
                <a:ext cx="257175" cy="252413"/>
                <a:chOff x="7072312" y="5434012"/>
                <a:chExt cx="257175" cy="252413"/>
              </a:xfrm>
            </p:grpSpPr>
            <p:sp>
              <p:nvSpPr>
                <p:cNvPr id="46" name="Freeform 46"/>
                <p:cNvSpPr/>
                <p:nvPr/>
              </p:nvSpPr>
              <p:spPr>
                <a:xfrm>
                  <a:off x="7129462" y="5676900"/>
                  <a:ext cx="142875" cy="9525"/>
                </a:xfrm>
                <a:custGeom>
                  <a:avLst/>
                  <a:gdLst/>
                  <a:ahLst/>
                  <a:cxnLst/>
                  <a:rect l="l" t="t" r="r" b="b"/>
                  <a:pathLst>
                    <a:path w="142875" h="9525">
                      <a:moveTo>
                        <a:pt x="0" y="0"/>
                      </a:moveTo>
                      <a:lnTo>
                        <a:pt x="142875" y="0"/>
                      </a:lnTo>
                    </a:path>
                  </a:pathLst>
                </a:custGeom>
                <a:noFill/>
                <a:ln w="28575">
                  <a:solidFill>
                    <a:schemeClr val="accent2"/>
                  </a:solidFill>
                </a:ln>
              </p:spPr>
            </p:sp>
            <p:sp>
              <p:nvSpPr>
                <p:cNvPr id="47" name="Freeform 47"/>
                <p:cNvSpPr/>
                <p:nvPr/>
              </p:nvSpPr>
              <p:spPr>
                <a:xfrm>
                  <a:off x="7115175" y="5462588"/>
                  <a:ext cx="171450" cy="14288"/>
                </a:xfrm>
                <a:custGeom>
                  <a:avLst/>
                  <a:gdLst/>
                  <a:ahLst/>
                  <a:cxnLst/>
                  <a:rect l="l" t="t" r="r" b="b"/>
                  <a:pathLst>
                    <a:path w="171450" h="14288">
                      <a:moveTo>
                        <a:pt x="0" y="14288"/>
                      </a:moveTo>
                      <a:lnTo>
                        <a:pt x="85725" y="0"/>
                      </a:lnTo>
                      <a:lnTo>
                        <a:pt x="171450" y="14288"/>
                      </a:lnTo>
                    </a:path>
                  </a:pathLst>
                </a:custGeom>
                <a:noFill/>
                <a:ln w="28575">
                  <a:solidFill>
                    <a:schemeClr val="accent2"/>
                  </a:solidFill>
                </a:ln>
              </p:spPr>
            </p:sp>
            <p:sp>
              <p:nvSpPr>
                <p:cNvPr id="48" name="Freeform 48"/>
                <p:cNvSpPr/>
                <p:nvPr/>
              </p:nvSpPr>
              <p:spPr>
                <a:xfrm>
                  <a:off x="7200900" y="5434012"/>
                  <a:ext cx="9525" cy="242888"/>
                </a:xfrm>
                <a:custGeom>
                  <a:avLst/>
                  <a:gdLst/>
                  <a:ahLst/>
                  <a:cxnLst/>
                  <a:rect l="l" t="t" r="r" b="b"/>
                  <a:pathLst>
                    <a:path w="9525" h="242888">
                      <a:moveTo>
                        <a:pt x="0" y="0"/>
                      </a:moveTo>
                      <a:lnTo>
                        <a:pt x="0" y="242888"/>
                      </a:lnTo>
                    </a:path>
                  </a:pathLst>
                </a:custGeom>
                <a:noFill/>
                <a:ln w="28575">
                  <a:solidFill>
                    <a:schemeClr val="accent2"/>
                  </a:solidFill>
                </a:ln>
              </p:spPr>
            </p:sp>
            <p:sp>
              <p:nvSpPr>
                <p:cNvPr id="49" name="Freeform 49"/>
                <p:cNvSpPr/>
                <p:nvPr/>
              </p:nvSpPr>
              <p:spPr>
                <a:xfrm>
                  <a:off x="7072312" y="5476875"/>
                  <a:ext cx="85725" cy="128588"/>
                </a:xfrm>
                <a:custGeom>
                  <a:avLst/>
                  <a:gdLst/>
                  <a:ahLst/>
                  <a:cxnLst/>
                  <a:rect l="l" t="t" r="r" b="b"/>
                  <a:pathLst>
                    <a:path w="85725" h="128588">
                      <a:moveTo>
                        <a:pt x="85725" y="85725"/>
                      </a:moveTo>
                      <a:lnTo>
                        <a:pt x="42862" y="0"/>
                      </a:lnTo>
                      <a:lnTo>
                        <a:pt x="0" y="85725"/>
                      </a:lnTo>
                      <a:cubicBezTo>
                        <a:pt x="0" y="109397"/>
                        <a:pt x="19190" y="128588"/>
                        <a:pt x="42862" y="128588"/>
                      </a:cubicBezTo>
                      <a:cubicBezTo>
                        <a:pt x="66535" y="128588"/>
                        <a:pt x="85725" y="109397"/>
                        <a:pt x="85725" y="85725"/>
                      </a:cubicBezTo>
                    </a:path>
                  </a:pathLst>
                </a:custGeom>
                <a:noFill/>
                <a:ln w="28575">
                  <a:solidFill>
                    <a:schemeClr val="accent2"/>
                  </a:solidFill>
                </a:ln>
              </p:spPr>
            </p:sp>
            <p:sp>
              <p:nvSpPr>
                <p:cNvPr id="50" name="Freeform 50"/>
                <p:cNvSpPr/>
                <p:nvPr/>
              </p:nvSpPr>
              <p:spPr>
                <a:xfrm>
                  <a:off x="7243762" y="5476875"/>
                  <a:ext cx="85725" cy="128588"/>
                </a:xfrm>
                <a:custGeom>
                  <a:avLst/>
                  <a:gdLst/>
                  <a:ahLst/>
                  <a:cxnLst/>
                  <a:rect l="l" t="t" r="r" b="b"/>
                  <a:pathLst>
                    <a:path w="85725" h="128588">
                      <a:moveTo>
                        <a:pt x="85725" y="85725"/>
                      </a:moveTo>
                      <a:lnTo>
                        <a:pt x="42862" y="0"/>
                      </a:lnTo>
                      <a:lnTo>
                        <a:pt x="0" y="85725"/>
                      </a:lnTo>
                      <a:cubicBezTo>
                        <a:pt x="0" y="109397"/>
                        <a:pt x="19190" y="128588"/>
                        <a:pt x="42862" y="128588"/>
                      </a:cubicBezTo>
                      <a:cubicBezTo>
                        <a:pt x="66535" y="128588"/>
                        <a:pt x="85725" y="109397"/>
                        <a:pt x="85725" y="85725"/>
                      </a:cubicBezTo>
                    </a:path>
                  </a:pathLst>
                </a:custGeom>
                <a:noFill/>
                <a:ln w="28575">
                  <a:solidFill>
                    <a:schemeClr val="accent2"/>
                  </a:solidFill>
                </a:ln>
              </p:spPr>
            </p:sp>
          </p:grpSp>
          <p:sp>
            <p:nvSpPr>
              <p:cNvPr id="52" name="TextBox 52"/>
              <p:cNvSpPr txBox="1"/>
              <p:nvPr/>
            </p:nvSpPr>
            <p:spPr>
              <a:xfrm>
                <a:off x="7516368" y="5470208"/>
                <a:ext cx="3012211"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Weak evidence behind grades</a:t>
                </a:r>
              </a:p>
            </p:txBody>
          </p:sp>
        </p:grpSp>
      </p:grpSp>
      <p:grpSp>
        <p:nvGrpSpPr>
          <p:cNvPr id="57" name="footer"/>
          <p:cNvGrpSpPr/>
          <p:nvPr/>
        </p:nvGrpSpPr>
        <p:grpSpPr>
          <a:xfrm>
            <a:off x="602742" y="6445568"/>
            <a:ext cx="10986516" cy="264033"/>
            <a:chOff x="602742" y="6445568"/>
            <a:chExt cx="10986516" cy="264033"/>
          </a:xfrm>
        </p:grpSpPr>
        <p:sp>
          <p:nvSpPr>
            <p:cNvPr id="55" name="TextBox 55"/>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56" name="TextBox 56"/>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04 / 13</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9209090" cy="991743"/>
            <a:chOff x="591312" y="561975"/>
            <a:chExt cx="9209090" cy="991743"/>
          </a:xfrm>
        </p:grpSpPr>
        <p:sp>
          <p:nvSpPr>
            <p:cNvPr id="2" name="TextBox 2"/>
            <p:cNvSpPr txBox="1"/>
            <p:nvPr/>
          </p:nvSpPr>
          <p:spPr>
            <a:xfrm>
              <a:off x="601980" y="561975"/>
              <a:ext cx="1631143"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OBJECTIVES</a:t>
              </a:r>
            </a:p>
          </p:txBody>
        </p:sp>
        <p:sp>
          <p:nvSpPr>
            <p:cNvPr id="3" name="TextBox 3"/>
            <p:cNvSpPr txBox="1"/>
            <p:nvPr/>
          </p:nvSpPr>
          <p:spPr>
            <a:xfrm>
              <a:off x="591312" y="849630"/>
              <a:ext cx="9209090"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Five objectives with measurable targets</a:t>
              </a:r>
            </a:p>
          </p:txBody>
        </p:sp>
      </p:grpSp>
      <p:grpSp>
        <p:nvGrpSpPr>
          <p:cNvPr id="12" name="obj-1"/>
          <p:cNvGrpSpPr/>
          <p:nvPr/>
        </p:nvGrpSpPr>
        <p:grpSpPr>
          <a:xfrm>
            <a:off x="609600" y="1771650"/>
            <a:ext cx="2057400" cy="3448050"/>
            <a:chOff x="609600" y="1771650"/>
            <a:chExt cx="2057400" cy="3448050"/>
          </a:xfrm>
        </p:grpSpPr>
        <p:sp>
          <p:nvSpPr>
            <p:cNvPr id="5" name="Rectangle 5"/>
            <p:cNvSpPr/>
            <p:nvPr/>
          </p:nvSpPr>
          <p:spPr>
            <a:xfrm>
              <a:off x="609600" y="1771650"/>
              <a:ext cx="2057400" cy="3448050"/>
            </a:xfrm>
            <a:prstGeom prst="roundRect">
              <a:avLst>
                <a:gd name="adj" fmla="val 5556"/>
              </a:avLst>
            </a:prstGeom>
            <a:solidFill>
              <a:schemeClr val="lt2"/>
            </a:solidFill>
            <a:ln>
              <a:noFill/>
            </a:ln>
          </p:spPr>
        </p:sp>
        <p:sp>
          <p:nvSpPr>
            <p:cNvPr id="6" name="Rectangle 6"/>
            <p:cNvSpPr/>
            <p:nvPr/>
          </p:nvSpPr>
          <p:spPr>
            <a:xfrm>
              <a:off x="819150" y="1885950"/>
              <a:ext cx="381000" cy="38100"/>
            </a:xfrm>
            <a:prstGeom prst="rect">
              <a:avLst/>
            </a:prstGeom>
            <a:solidFill>
              <a:schemeClr val="accent2"/>
            </a:solidFill>
            <a:ln>
              <a:noFill/>
            </a:ln>
          </p:spPr>
        </p:sp>
        <p:sp>
          <p:nvSpPr>
            <p:cNvPr id="7" name="TextBox 7"/>
            <p:cNvSpPr txBox="1"/>
            <p:nvPr/>
          </p:nvSpPr>
          <p:spPr>
            <a:xfrm>
              <a:off x="811530" y="2028825"/>
              <a:ext cx="84538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BR-001</a:t>
              </a:r>
            </a:p>
          </p:txBody>
        </p:sp>
        <p:sp>
          <p:nvSpPr>
            <p:cNvPr id="8" name="TextBox 8"/>
            <p:cNvSpPr txBox="1"/>
            <p:nvPr/>
          </p:nvSpPr>
          <p:spPr>
            <a:xfrm>
              <a:off x="810768" y="2393632"/>
              <a:ext cx="1250846" cy="589407"/>
            </a:xfrm>
            <a:prstGeom prst="rect">
              <a:avLst/>
            </a:prstGeom>
            <a:noFill/>
            <a:ln>
              <a:noFill/>
            </a:ln>
          </p:spPr>
          <p:txBody>
            <a:bodyPr wrap="none" lIns="0" tIns="0" rIns="0" bIns="0" anchor="t" anchorCtr="0">
              <a:spAutoFit/>
            </a:bodyPr>
            <a:lstStyle/>
            <a:p>
              <a:pPr algn="l">
                <a:lnSpc>
                  <a:spcPts val="2100"/>
                </a:lnSpc>
              </a:pPr>
              <a:r>
                <a:rPr lang="en-US" sz="1650" b="1" dirty="0">
                  <a:solidFill>
                    <a:schemeClr val="accent1"/>
                  </a:solidFill>
                  <a:latin typeface="+mn-lt"/>
                  <a:ea typeface="+mn-ea"/>
                  <a:cs typeface="+mn-cs"/>
                </a:rPr>
                <a:t>Conflict-free</a:t>
              </a:r>
              <a:br/>
              <a:r>
                <a:rPr lang="en-US" sz="1650" b="1" dirty="0">
                  <a:solidFill>
                    <a:schemeClr val="accent1"/>
                  </a:solidFill>
                  <a:latin typeface="+mn-lt"/>
                  <a:ea typeface="+mn-ea"/>
                  <a:cs typeface="+mn-cs"/>
                </a:rPr>
                <a:t>scheduling</a:t>
              </a:r>
            </a:p>
          </p:txBody>
        </p:sp>
        <p:sp>
          <p:nvSpPr>
            <p:cNvPr id="9" name="Line 9"/>
            <p:cNvSpPr/>
            <p:nvPr/>
          </p:nvSpPr>
          <p:spPr>
            <a:xfrm>
              <a:off x="819150" y="3409950"/>
              <a:ext cx="1638300" cy="9525"/>
            </a:xfrm>
            <a:custGeom>
              <a:avLst/>
              <a:gdLst/>
              <a:ahLst/>
              <a:cxnLst/>
              <a:rect l="l" t="t" r="r" b="b"/>
              <a:pathLst>
                <a:path w="1638300" h="9525">
                  <a:moveTo>
                    <a:pt x="0" y="0"/>
                  </a:moveTo>
                  <a:lnTo>
                    <a:pt x="1638300" y="0"/>
                  </a:lnTo>
                </a:path>
              </a:pathLst>
            </a:custGeom>
            <a:noFill/>
            <a:ln w="9525">
              <a:solidFill>
                <a:schemeClr val="accent6"/>
              </a:solidFill>
            </a:ln>
          </p:spPr>
        </p:sp>
        <p:sp>
          <p:nvSpPr>
            <p:cNvPr id="10" name="TextBox 10"/>
            <p:cNvSpPr txBox="1"/>
            <p:nvPr/>
          </p:nvSpPr>
          <p:spPr>
            <a:xfrm>
              <a:off x="800862" y="3611880"/>
              <a:ext cx="306128" cy="704088"/>
            </a:xfrm>
            <a:prstGeom prst="rect">
              <a:avLst/>
            </a:prstGeom>
            <a:noFill/>
            <a:ln>
              <a:noFill/>
            </a:ln>
          </p:spPr>
          <p:txBody>
            <a:bodyPr wrap="none" lIns="0" tIns="0" rIns="0" bIns="0" anchor="t" anchorCtr="0">
              <a:spAutoFit/>
            </a:bodyPr>
            <a:lstStyle/>
            <a:p>
              <a:pPr algn="l"/>
              <a:r>
                <a:rPr lang="en-US" sz="3600" b="1" dirty="0">
                  <a:solidFill>
                    <a:schemeClr val="accent2"/>
                  </a:solidFill>
                  <a:latin typeface="+mn-lt"/>
                  <a:ea typeface="+mn-ea"/>
                  <a:cs typeface="+mn-cs"/>
                </a:rPr>
                <a:t>0</a:t>
              </a:r>
            </a:p>
          </p:txBody>
        </p:sp>
        <p:sp>
          <p:nvSpPr>
            <p:cNvPr id="11" name="TextBox 11"/>
            <p:cNvSpPr txBox="1"/>
            <p:nvPr/>
          </p:nvSpPr>
          <p:spPr>
            <a:xfrm>
              <a:off x="811530" y="4181475"/>
              <a:ext cx="1635709"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accent5"/>
                  </a:solidFill>
                  <a:latin typeface="+mn-lt"/>
                  <a:ea typeface="+mn-ea"/>
                  <a:cs typeface="+mn-cs"/>
                </a:rPr>
                <a:t>double-bookings or</a:t>
              </a:r>
              <a:br/>
              <a:r>
                <a:rPr lang="en-US" sz="1500" dirty="0">
                  <a:solidFill>
                    <a:schemeClr val="accent5"/>
                  </a:solidFill>
                  <a:latin typeface="+mn-lt"/>
                  <a:ea typeface="+mn-ea"/>
                  <a:cs typeface="+mn-cs"/>
                </a:rPr>
                <a:t>capacity overflows</a:t>
              </a:r>
            </a:p>
          </p:txBody>
        </p:sp>
      </p:grpSp>
      <p:grpSp>
        <p:nvGrpSpPr>
          <p:cNvPr id="19" name="obj-2"/>
          <p:cNvGrpSpPr/>
          <p:nvPr/>
        </p:nvGrpSpPr>
        <p:grpSpPr>
          <a:xfrm>
            <a:off x="2838450" y="1771650"/>
            <a:ext cx="2057400" cy="3448050"/>
            <a:chOff x="2838450" y="1771650"/>
            <a:chExt cx="2057400" cy="3448050"/>
          </a:xfrm>
        </p:grpSpPr>
        <p:sp>
          <p:nvSpPr>
            <p:cNvPr id="13" name="Rectangle 13"/>
            <p:cNvSpPr/>
            <p:nvPr/>
          </p:nvSpPr>
          <p:spPr>
            <a:xfrm>
              <a:off x="2838450" y="1771650"/>
              <a:ext cx="2057400" cy="3448050"/>
            </a:xfrm>
            <a:prstGeom prst="roundRect">
              <a:avLst>
                <a:gd name="adj" fmla="val 5556"/>
              </a:avLst>
            </a:prstGeom>
            <a:solidFill>
              <a:schemeClr val="lt2"/>
            </a:solidFill>
            <a:ln>
              <a:noFill/>
            </a:ln>
          </p:spPr>
        </p:sp>
        <p:sp>
          <p:nvSpPr>
            <p:cNvPr id="14" name="TextBox 14"/>
            <p:cNvSpPr txBox="1"/>
            <p:nvPr/>
          </p:nvSpPr>
          <p:spPr>
            <a:xfrm>
              <a:off x="3040380" y="2028825"/>
              <a:ext cx="84538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BR-002</a:t>
              </a:r>
            </a:p>
          </p:txBody>
        </p:sp>
        <p:sp>
          <p:nvSpPr>
            <p:cNvPr id="15" name="TextBox 15"/>
            <p:cNvSpPr txBox="1"/>
            <p:nvPr/>
          </p:nvSpPr>
          <p:spPr>
            <a:xfrm>
              <a:off x="3039618" y="2393632"/>
              <a:ext cx="1658588" cy="856107"/>
            </a:xfrm>
            <a:prstGeom prst="rect">
              <a:avLst/>
            </a:prstGeom>
            <a:noFill/>
            <a:ln>
              <a:noFill/>
            </a:ln>
          </p:spPr>
          <p:txBody>
            <a:bodyPr wrap="none" lIns="0" tIns="0" rIns="0" bIns="0" anchor="t" anchorCtr="0">
              <a:spAutoFit/>
            </a:bodyPr>
            <a:lstStyle/>
            <a:p>
              <a:pPr algn="l">
                <a:lnSpc>
                  <a:spcPts val="2100"/>
                </a:lnSpc>
              </a:pPr>
              <a:r>
                <a:rPr lang="en-US" sz="1650" b="1" dirty="0">
                  <a:solidFill>
                    <a:schemeClr val="accent1"/>
                  </a:solidFill>
                  <a:latin typeface="+mn-lt"/>
                  <a:ea typeface="+mn-ea"/>
                  <a:cs typeface="+mn-cs"/>
                </a:rPr>
                <a:t>One platform for</a:t>
              </a:r>
              <a:br/>
              <a:r>
                <a:rPr lang="en-US" sz="1650" b="1" dirty="0">
                  <a:solidFill>
                    <a:schemeClr val="accent1"/>
                  </a:solidFill>
                  <a:latin typeface="+mn-lt"/>
                  <a:ea typeface="+mn-ea"/>
                  <a:cs typeface="+mn-cs"/>
                </a:rPr>
                <a:t>groups, artifacts</a:t>
              </a:r>
              <a:br/>
              <a:r>
                <a:rPr lang="en-US" sz="1650" b="1" dirty="0">
                  <a:solidFill>
                    <a:schemeClr val="accent1"/>
                  </a:solidFill>
                  <a:latin typeface="+mn-lt"/>
                  <a:ea typeface="+mn-ea"/>
                  <a:cs typeface="+mn-cs"/>
                </a:rPr>
                <a:t>&amp; question bank</a:t>
              </a:r>
            </a:p>
          </p:txBody>
        </p:sp>
        <p:sp>
          <p:nvSpPr>
            <p:cNvPr id="16" name="Line 16"/>
            <p:cNvSpPr/>
            <p:nvPr/>
          </p:nvSpPr>
          <p:spPr>
            <a:xfrm>
              <a:off x="3048000" y="3409950"/>
              <a:ext cx="1638300" cy="9525"/>
            </a:xfrm>
            <a:custGeom>
              <a:avLst/>
              <a:gdLst/>
              <a:ahLst/>
              <a:cxnLst/>
              <a:rect l="l" t="t" r="r" b="b"/>
              <a:pathLst>
                <a:path w="1638300" h="9525">
                  <a:moveTo>
                    <a:pt x="0" y="0"/>
                  </a:moveTo>
                  <a:lnTo>
                    <a:pt x="1638300" y="0"/>
                  </a:lnTo>
                </a:path>
              </a:pathLst>
            </a:custGeom>
            <a:noFill/>
            <a:ln w="9525">
              <a:solidFill>
                <a:schemeClr val="accent6"/>
              </a:solidFill>
            </a:ln>
          </p:spPr>
        </p:sp>
        <p:sp>
          <p:nvSpPr>
            <p:cNvPr id="17" name="TextBox 17"/>
            <p:cNvSpPr txBox="1"/>
            <p:nvPr/>
          </p:nvSpPr>
          <p:spPr>
            <a:xfrm>
              <a:off x="3029712" y="3611880"/>
              <a:ext cx="1276168"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100%</a:t>
              </a:r>
            </a:p>
          </p:txBody>
        </p:sp>
        <p:sp>
          <p:nvSpPr>
            <p:cNvPr id="18" name="TextBox 18"/>
            <p:cNvSpPr txBox="1"/>
            <p:nvPr/>
          </p:nvSpPr>
          <p:spPr>
            <a:xfrm>
              <a:off x="3040380" y="4181475"/>
              <a:ext cx="1360132"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accent5"/>
                  </a:solidFill>
                  <a:latin typeface="+mn-lt"/>
                  <a:ea typeface="+mn-ea"/>
                  <a:cs typeface="+mn-cs"/>
                </a:rPr>
                <a:t>of active groups</a:t>
              </a:r>
              <a:br/>
              <a:r>
                <a:rPr lang="en-US" sz="1500" dirty="0">
                  <a:solidFill>
                    <a:schemeClr val="accent5"/>
                  </a:solidFill>
                  <a:latin typeface="+mn-lt"/>
                  <a:ea typeface="+mn-ea"/>
                  <a:cs typeface="+mn-cs"/>
                </a:rPr>
                <a:t>fully recorded</a:t>
              </a:r>
            </a:p>
          </p:txBody>
        </p:sp>
      </p:grpSp>
      <p:grpSp>
        <p:nvGrpSpPr>
          <p:cNvPr id="26" name="obj-3"/>
          <p:cNvGrpSpPr/>
          <p:nvPr/>
        </p:nvGrpSpPr>
        <p:grpSpPr>
          <a:xfrm>
            <a:off x="5067300" y="1771650"/>
            <a:ext cx="2057400" cy="3448050"/>
            <a:chOff x="5067300" y="1771650"/>
            <a:chExt cx="2057400" cy="3448050"/>
          </a:xfrm>
        </p:grpSpPr>
        <p:sp>
          <p:nvSpPr>
            <p:cNvPr id="20" name="Rectangle 20"/>
            <p:cNvSpPr/>
            <p:nvPr/>
          </p:nvSpPr>
          <p:spPr>
            <a:xfrm>
              <a:off x="5067300" y="1771650"/>
              <a:ext cx="2057400" cy="3448050"/>
            </a:xfrm>
            <a:prstGeom prst="roundRect">
              <a:avLst>
                <a:gd name="adj" fmla="val 5556"/>
              </a:avLst>
            </a:prstGeom>
            <a:solidFill>
              <a:schemeClr val="lt2"/>
            </a:solidFill>
            <a:ln>
              <a:noFill/>
            </a:ln>
          </p:spPr>
        </p:sp>
        <p:sp>
          <p:nvSpPr>
            <p:cNvPr id="21" name="TextBox 21"/>
            <p:cNvSpPr txBox="1"/>
            <p:nvPr/>
          </p:nvSpPr>
          <p:spPr>
            <a:xfrm>
              <a:off x="5269230" y="2028825"/>
              <a:ext cx="84538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BR-003</a:t>
              </a:r>
            </a:p>
          </p:txBody>
        </p:sp>
        <p:sp>
          <p:nvSpPr>
            <p:cNvPr id="22" name="TextBox 22"/>
            <p:cNvSpPr txBox="1"/>
            <p:nvPr/>
          </p:nvSpPr>
          <p:spPr>
            <a:xfrm>
              <a:off x="5268468" y="2393632"/>
              <a:ext cx="995279" cy="589407"/>
            </a:xfrm>
            <a:prstGeom prst="rect">
              <a:avLst/>
            </a:prstGeom>
            <a:noFill/>
            <a:ln>
              <a:noFill/>
            </a:ln>
          </p:spPr>
          <p:txBody>
            <a:bodyPr wrap="none" lIns="0" tIns="0" rIns="0" bIns="0" anchor="t" anchorCtr="0">
              <a:spAutoFit/>
            </a:bodyPr>
            <a:lstStyle/>
            <a:p>
              <a:pPr algn="l">
                <a:lnSpc>
                  <a:spcPts val="2100"/>
                </a:lnSpc>
              </a:pPr>
              <a:r>
                <a:rPr lang="en-US" sz="1650" b="1" dirty="0">
                  <a:solidFill>
                    <a:schemeClr val="accent1"/>
                  </a:solidFill>
                  <a:latin typeface="+mn-lt"/>
                  <a:ea typeface="+mn-ea"/>
                  <a:cs typeface="+mn-cs"/>
                </a:rPr>
                <a:t>Traceable</a:t>
              </a:r>
              <a:br/>
              <a:r>
                <a:rPr lang="en-US" sz="1650" b="1" dirty="0">
                  <a:solidFill>
                    <a:schemeClr val="accent1"/>
                  </a:solidFill>
                  <a:latin typeface="+mn-lt"/>
                  <a:ea typeface="+mn-ea"/>
                  <a:cs typeface="+mn-cs"/>
                </a:rPr>
                <a:t>meetings</a:t>
              </a:r>
            </a:p>
          </p:txBody>
        </p:sp>
        <p:sp>
          <p:nvSpPr>
            <p:cNvPr id="23" name="Line 23"/>
            <p:cNvSpPr/>
            <p:nvPr/>
          </p:nvSpPr>
          <p:spPr>
            <a:xfrm>
              <a:off x="5276850" y="3409950"/>
              <a:ext cx="1638300" cy="9525"/>
            </a:xfrm>
            <a:custGeom>
              <a:avLst/>
              <a:gdLst/>
              <a:ahLst/>
              <a:cxnLst/>
              <a:rect l="l" t="t" r="r" b="b"/>
              <a:pathLst>
                <a:path w="1638300" h="9525">
                  <a:moveTo>
                    <a:pt x="0" y="0"/>
                  </a:moveTo>
                  <a:lnTo>
                    <a:pt x="1638300" y="0"/>
                  </a:lnTo>
                </a:path>
              </a:pathLst>
            </a:custGeom>
            <a:noFill/>
            <a:ln w="9525">
              <a:solidFill>
                <a:schemeClr val="accent6"/>
              </a:solidFill>
            </a:ln>
          </p:spPr>
        </p:sp>
        <p:sp>
          <p:nvSpPr>
            <p:cNvPr id="24" name="TextBox 24"/>
            <p:cNvSpPr txBox="1"/>
            <p:nvPr/>
          </p:nvSpPr>
          <p:spPr>
            <a:xfrm>
              <a:off x="5258562" y="3611880"/>
              <a:ext cx="1289640"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−70%</a:t>
              </a:r>
            </a:p>
          </p:txBody>
        </p:sp>
        <p:sp>
          <p:nvSpPr>
            <p:cNvPr id="25" name="TextBox 25"/>
            <p:cNvSpPr txBox="1"/>
            <p:nvPr/>
          </p:nvSpPr>
          <p:spPr>
            <a:xfrm>
              <a:off x="5269230" y="4181475"/>
              <a:ext cx="1253985" cy="1036320"/>
            </a:xfrm>
            <a:prstGeom prst="rect">
              <a:avLst/>
            </a:prstGeom>
            <a:noFill/>
            <a:ln>
              <a:noFill/>
            </a:ln>
          </p:spPr>
          <p:txBody>
            <a:bodyPr wrap="none" lIns="0" tIns="0" rIns="0" bIns="0" anchor="t" anchorCtr="0">
              <a:spAutoFit/>
            </a:bodyPr>
            <a:lstStyle/>
            <a:p>
              <a:pPr algn="l">
                <a:lnSpc>
                  <a:spcPts val="1950"/>
                </a:lnSpc>
              </a:pPr>
              <a:r>
                <a:rPr lang="en-US" sz="1500" dirty="0">
                  <a:solidFill>
                    <a:schemeClr val="accent5"/>
                  </a:solidFill>
                  <a:latin typeface="+mn-lt"/>
                  <a:ea typeface="+mn-ea"/>
                  <a:cs typeface="+mn-cs"/>
                </a:rPr>
                <a:t>time to finish</a:t>
              </a:r>
              <a:br/>
              <a:r>
                <a:rPr lang="en-US" sz="1500" dirty="0">
                  <a:solidFill>
                    <a:schemeClr val="accent5"/>
                  </a:solidFill>
                  <a:latin typeface="+mn-lt"/>
                  <a:ea typeface="+mn-ea"/>
                  <a:cs typeface="+mn-cs"/>
                </a:rPr>
                <a:t>minutes; every</a:t>
              </a:r>
              <a:br/>
              <a:r>
                <a:rPr lang="en-US" sz="1500" dirty="0">
                  <a:solidFill>
                    <a:schemeClr val="accent5"/>
                  </a:solidFill>
                  <a:latin typeface="+mn-lt"/>
                  <a:ea typeface="+mn-ea"/>
                  <a:cs typeface="+mn-cs"/>
                </a:rPr>
                <a:t>requirement</a:t>
              </a:r>
              <a:br/>
              <a:r>
                <a:rPr lang="en-US" sz="1500" dirty="0">
                  <a:solidFill>
                    <a:schemeClr val="accent5"/>
                  </a:solidFill>
                  <a:latin typeface="+mn-lt"/>
                  <a:ea typeface="+mn-ea"/>
                  <a:cs typeface="+mn-cs"/>
                </a:rPr>
                <a:t>gets an ID</a:t>
              </a:r>
            </a:p>
          </p:txBody>
        </p:sp>
      </p:grpSp>
      <p:grpSp>
        <p:nvGrpSpPr>
          <p:cNvPr id="33" name="obj-4"/>
          <p:cNvGrpSpPr/>
          <p:nvPr/>
        </p:nvGrpSpPr>
        <p:grpSpPr>
          <a:xfrm>
            <a:off x="7296150" y="1771650"/>
            <a:ext cx="2057400" cy="3448050"/>
            <a:chOff x="7296150" y="1771650"/>
            <a:chExt cx="2057400" cy="3448050"/>
          </a:xfrm>
        </p:grpSpPr>
        <p:sp>
          <p:nvSpPr>
            <p:cNvPr id="27" name="Rectangle 27"/>
            <p:cNvSpPr/>
            <p:nvPr/>
          </p:nvSpPr>
          <p:spPr>
            <a:xfrm>
              <a:off x="7296150" y="1771650"/>
              <a:ext cx="2057400" cy="3448050"/>
            </a:xfrm>
            <a:prstGeom prst="roundRect">
              <a:avLst>
                <a:gd name="adj" fmla="val 5556"/>
              </a:avLst>
            </a:prstGeom>
            <a:solidFill>
              <a:schemeClr val="lt2"/>
            </a:solidFill>
            <a:ln>
              <a:noFill/>
            </a:ln>
          </p:spPr>
        </p:sp>
        <p:sp>
          <p:nvSpPr>
            <p:cNvPr id="28" name="TextBox 28"/>
            <p:cNvSpPr txBox="1"/>
            <p:nvPr/>
          </p:nvSpPr>
          <p:spPr>
            <a:xfrm>
              <a:off x="7498080" y="2028825"/>
              <a:ext cx="84538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BR-004</a:t>
              </a:r>
            </a:p>
          </p:txBody>
        </p:sp>
        <p:sp>
          <p:nvSpPr>
            <p:cNvPr id="29" name="TextBox 29"/>
            <p:cNvSpPr txBox="1"/>
            <p:nvPr/>
          </p:nvSpPr>
          <p:spPr>
            <a:xfrm>
              <a:off x="7497318" y="2393632"/>
              <a:ext cx="1053156" cy="589407"/>
            </a:xfrm>
            <a:prstGeom prst="rect">
              <a:avLst/>
            </a:prstGeom>
            <a:noFill/>
            <a:ln>
              <a:noFill/>
            </a:ln>
          </p:spPr>
          <p:txBody>
            <a:bodyPr wrap="none" lIns="0" tIns="0" rIns="0" bIns="0" anchor="t" anchorCtr="0">
              <a:spAutoFit/>
            </a:bodyPr>
            <a:lstStyle/>
            <a:p>
              <a:pPr algn="l">
                <a:lnSpc>
                  <a:spcPts val="2100"/>
                </a:lnSpc>
              </a:pPr>
              <a:r>
                <a:rPr lang="en-US" sz="1650" b="1" dirty="0">
                  <a:solidFill>
                    <a:schemeClr val="accent1"/>
                  </a:solidFill>
                  <a:latin typeface="+mn-lt"/>
                  <a:ea typeface="+mn-ea"/>
                  <a:cs typeface="+mn-cs"/>
                </a:rPr>
                <a:t>Standard</a:t>
              </a:r>
              <a:br/>
              <a:r>
                <a:rPr lang="en-US" sz="1650" b="1" dirty="0">
                  <a:solidFill>
                    <a:schemeClr val="accent1"/>
                  </a:solidFill>
                  <a:latin typeface="+mn-lt"/>
                  <a:ea typeface="+mn-ea"/>
                  <a:cs typeface="+mn-cs"/>
                </a:rPr>
                <a:t>evaluation</a:t>
              </a:r>
            </a:p>
          </p:txBody>
        </p:sp>
        <p:sp>
          <p:nvSpPr>
            <p:cNvPr id="30" name="Line 30"/>
            <p:cNvSpPr/>
            <p:nvPr/>
          </p:nvSpPr>
          <p:spPr>
            <a:xfrm>
              <a:off x="7505700" y="3409950"/>
              <a:ext cx="1638300" cy="9525"/>
            </a:xfrm>
            <a:custGeom>
              <a:avLst/>
              <a:gdLst/>
              <a:ahLst/>
              <a:cxnLst/>
              <a:rect l="l" t="t" r="r" b="b"/>
              <a:pathLst>
                <a:path w="1638300" h="9525">
                  <a:moveTo>
                    <a:pt x="0" y="0"/>
                  </a:moveTo>
                  <a:lnTo>
                    <a:pt x="1638300" y="0"/>
                  </a:lnTo>
                </a:path>
              </a:pathLst>
            </a:custGeom>
            <a:noFill/>
            <a:ln w="9525">
              <a:solidFill>
                <a:schemeClr val="accent6"/>
              </a:solidFill>
            </a:ln>
          </p:spPr>
        </p:sp>
        <p:sp>
          <p:nvSpPr>
            <p:cNvPr id="31" name="TextBox 31"/>
            <p:cNvSpPr txBox="1"/>
            <p:nvPr/>
          </p:nvSpPr>
          <p:spPr>
            <a:xfrm>
              <a:off x="7487412" y="3611880"/>
              <a:ext cx="1276168"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100%</a:t>
              </a:r>
            </a:p>
          </p:txBody>
        </p:sp>
        <p:sp>
          <p:nvSpPr>
            <p:cNvPr id="32" name="TextBox 32"/>
            <p:cNvSpPr txBox="1"/>
            <p:nvPr/>
          </p:nvSpPr>
          <p:spPr>
            <a:xfrm>
              <a:off x="7498080" y="4181475"/>
              <a:ext cx="1434274" cy="788670"/>
            </a:xfrm>
            <a:prstGeom prst="rect">
              <a:avLst/>
            </a:prstGeom>
            <a:noFill/>
            <a:ln>
              <a:noFill/>
            </a:ln>
          </p:spPr>
          <p:txBody>
            <a:bodyPr wrap="none" lIns="0" tIns="0" rIns="0" bIns="0" anchor="t" anchorCtr="0">
              <a:spAutoFit/>
            </a:bodyPr>
            <a:lstStyle/>
            <a:p>
              <a:pPr algn="l">
                <a:lnSpc>
                  <a:spcPts val="1950"/>
                </a:lnSpc>
              </a:pPr>
              <a:r>
                <a:rPr lang="en-US" sz="1500" dirty="0">
                  <a:solidFill>
                    <a:schemeClr val="accent5"/>
                  </a:solidFill>
                  <a:latin typeface="+mn-lt"/>
                  <a:ea typeface="+mn-ea"/>
                  <a:cs typeface="+mn-cs"/>
                </a:rPr>
                <a:t>of groups scored</a:t>
              </a:r>
              <a:br/>
              <a:r>
                <a:rPr lang="en-US" sz="1500" dirty="0">
                  <a:solidFill>
                    <a:schemeClr val="accent5"/>
                  </a:solidFill>
                  <a:latin typeface="+mn-lt"/>
                  <a:ea typeface="+mn-ea"/>
                  <a:cs typeface="+mn-cs"/>
                </a:rPr>
                <a:t>on 3 dimensions</a:t>
              </a:r>
              <a:br/>
              <a:r>
                <a:rPr lang="en-US" sz="1500" dirty="0">
                  <a:solidFill>
                    <a:schemeClr val="accent5"/>
                  </a:solidFill>
                  <a:latin typeface="+mn-lt"/>
                  <a:ea typeface="+mn-ea"/>
                  <a:cs typeface="+mn-cs"/>
                </a:rPr>
                <a:t>with comments</a:t>
              </a:r>
            </a:p>
          </p:txBody>
        </p:sp>
      </p:grpSp>
      <p:grpSp>
        <p:nvGrpSpPr>
          <p:cNvPr id="40" name="obj-5"/>
          <p:cNvGrpSpPr/>
          <p:nvPr/>
        </p:nvGrpSpPr>
        <p:grpSpPr>
          <a:xfrm>
            <a:off x="9525000" y="1771650"/>
            <a:ext cx="2057400" cy="3448050"/>
            <a:chOff x="9525000" y="1771650"/>
            <a:chExt cx="2057400" cy="3448050"/>
          </a:xfrm>
        </p:grpSpPr>
        <p:sp>
          <p:nvSpPr>
            <p:cNvPr id="34" name="Rectangle 34"/>
            <p:cNvSpPr/>
            <p:nvPr/>
          </p:nvSpPr>
          <p:spPr>
            <a:xfrm>
              <a:off x="9525000" y="1771650"/>
              <a:ext cx="2057400" cy="3448050"/>
            </a:xfrm>
            <a:prstGeom prst="roundRect">
              <a:avLst>
                <a:gd name="adj" fmla="val 5556"/>
              </a:avLst>
            </a:prstGeom>
            <a:solidFill>
              <a:schemeClr val="lt2"/>
            </a:solidFill>
            <a:ln>
              <a:noFill/>
            </a:ln>
          </p:spPr>
        </p:sp>
        <p:sp>
          <p:nvSpPr>
            <p:cNvPr id="35" name="TextBox 35"/>
            <p:cNvSpPr txBox="1"/>
            <p:nvPr/>
          </p:nvSpPr>
          <p:spPr>
            <a:xfrm>
              <a:off x="9726930" y="2028825"/>
              <a:ext cx="84538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BR-005</a:t>
              </a:r>
            </a:p>
          </p:txBody>
        </p:sp>
        <p:sp>
          <p:nvSpPr>
            <p:cNvPr id="36" name="TextBox 36"/>
            <p:cNvSpPr txBox="1"/>
            <p:nvPr/>
          </p:nvSpPr>
          <p:spPr>
            <a:xfrm>
              <a:off x="9726168" y="2393632"/>
              <a:ext cx="948507" cy="856107"/>
            </a:xfrm>
            <a:prstGeom prst="rect">
              <a:avLst/>
            </a:prstGeom>
            <a:noFill/>
            <a:ln>
              <a:noFill/>
            </a:ln>
          </p:spPr>
          <p:txBody>
            <a:bodyPr wrap="none" lIns="0" tIns="0" rIns="0" bIns="0" anchor="t" anchorCtr="0">
              <a:spAutoFit/>
            </a:bodyPr>
            <a:lstStyle/>
            <a:p>
              <a:pPr algn="l">
                <a:lnSpc>
                  <a:spcPts val="2100"/>
                </a:lnSpc>
              </a:pPr>
              <a:r>
                <a:rPr lang="en-US" sz="1650" b="1" dirty="0">
                  <a:solidFill>
                    <a:schemeClr val="accent1"/>
                  </a:solidFill>
                  <a:latin typeface="+mn-lt"/>
                  <a:ea typeface="+mn-ea"/>
                  <a:cs typeface="+mn-cs"/>
                </a:rPr>
                <a:t>Weekly &amp;</a:t>
              </a:r>
              <a:br/>
              <a:r>
                <a:rPr lang="en-US" sz="1650" b="1" dirty="0">
                  <a:solidFill>
                    <a:schemeClr val="accent1"/>
                  </a:solidFill>
                  <a:latin typeface="+mn-lt"/>
                  <a:ea typeface="+mn-ea"/>
                  <a:cs typeface="+mn-cs"/>
                </a:rPr>
                <a:t>semester</a:t>
              </a:r>
              <a:br/>
              <a:r>
                <a:rPr lang="en-US" sz="1650" b="1" dirty="0">
                  <a:solidFill>
                    <a:schemeClr val="accent1"/>
                  </a:solidFill>
                  <a:latin typeface="+mn-lt"/>
                  <a:ea typeface="+mn-ea"/>
                  <a:cs typeface="+mn-cs"/>
                </a:rPr>
                <a:t>statistics</a:t>
              </a:r>
            </a:p>
          </p:txBody>
        </p:sp>
        <p:sp>
          <p:nvSpPr>
            <p:cNvPr id="37" name="Line 37"/>
            <p:cNvSpPr/>
            <p:nvPr/>
          </p:nvSpPr>
          <p:spPr>
            <a:xfrm>
              <a:off x="9734550" y="3409950"/>
              <a:ext cx="1638300" cy="9525"/>
            </a:xfrm>
            <a:custGeom>
              <a:avLst/>
              <a:gdLst/>
              <a:ahLst/>
              <a:cxnLst/>
              <a:rect l="l" t="t" r="r" b="b"/>
              <a:pathLst>
                <a:path w="1638300" h="9525">
                  <a:moveTo>
                    <a:pt x="0" y="0"/>
                  </a:moveTo>
                  <a:lnTo>
                    <a:pt x="1638300" y="0"/>
                  </a:lnTo>
                </a:path>
              </a:pathLst>
            </a:custGeom>
            <a:noFill/>
            <a:ln w="9525">
              <a:solidFill>
                <a:schemeClr val="accent6"/>
              </a:solidFill>
            </a:ln>
          </p:spPr>
        </p:sp>
        <p:sp>
          <p:nvSpPr>
            <p:cNvPr id="38" name="TextBox 38"/>
            <p:cNvSpPr txBox="1"/>
            <p:nvPr/>
          </p:nvSpPr>
          <p:spPr>
            <a:xfrm>
              <a:off x="9716262" y="3611880"/>
              <a:ext cx="306128"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0</a:t>
              </a:r>
            </a:p>
          </p:txBody>
        </p:sp>
        <p:sp>
          <p:nvSpPr>
            <p:cNvPr id="39" name="TextBox 39"/>
            <p:cNvSpPr txBox="1"/>
            <p:nvPr/>
          </p:nvSpPr>
          <p:spPr>
            <a:xfrm>
              <a:off x="9726930" y="4181475"/>
              <a:ext cx="1402270" cy="788670"/>
            </a:xfrm>
            <a:prstGeom prst="rect">
              <a:avLst/>
            </a:prstGeom>
            <a:noFill/>
            <a:ln>
              <a:noFill/>
            </a:ln>
          </p:spPr>
          <p:txBody>
            <a:bodyPr wrap="none" lIns="0" tIns="0" rIns="0" bIns="0" anchor="t" anchorCtr="0">
              <a:spAutoFit/>
            </a:bodyPr>
            <a:lstStyle/>
            <a:p>
              <a:pPr algn="l">
                <a:lnSpc>
                  <a:spcPts val="1950"/>
                </a:lnSpc>
              </a:pPr>
              <a:r>
                <a:rPr lang="en-US" sz="1500" dirty="0">
                  <a:solidFill>
                    <a:schemeClr val="accent5"/>
                  </a:solidFill>
                  <a:latin typeface="+mn-lt"/>
                  <a:ea typeface="+mn-ea"/>
                  <a:cs typeface="+mn-cs"/>
                </a:rPr>
                <a:t>manual steps to</a:t>
              </a:r>
              <a:br/>
              <a:r>
                <a:rPr lang="en-US" sz="1500" dirty="0">
                  <a:solidFill>
                    <a:schemeClr val="accent5"/>
                  </a:solidFill>
                  <a:latin typeface="+mn-lt"/>
                  <a:ea typeface="+mn-ea"/>
                  <a:cs typeface="+mn-cs"/>
                </a:rPr>
                <a:t>consolidate</a:t>
              </a:r>
              <a:br/>
              <a:r>
                <a:rPr lang="en-US" sz="1500" dirty="0">
                  <a:solidFill>
                    <a:schemeClr val="accent5"/>
                  </a:solidFill>
                  <a:latin typeface="+mn-lt"/>
                  <a:ea typeface="+mn-ea"/>
                  <a:cs typeface="+mn-cs"/>
                </a:rPr>
                <a:t>progress reports</a:t>
              </a:r>
            </a:p>
          </p:txBody>
        </p:sp>
      </p:grpSp>
      <p:grpSp>
        <p:nvGrpSpPr>
          <p:cNvPr id="47" name="objectives-takeaway"/>
          <p:cNvGrpSpPr/>
          <p:nvPr/>
        </p:nvGrpSpPr>
        <p:grpSpPr>
          <a:xfrm>
            <a:off x="609600" y="5391150"/>
            <a:ext cx="10972800" cy="723900"/>
            <a:chOff x="609600" y="5391150"/>
            <a:chExt cx="10972800" cy="723900"/>
          </a:xfrm>
        </p:grpSpPr>
        <p:sp>
          <p:nvSpPr>
            <p:cNvPr id="41" name="Rectangle 41"/>
            <p:cNvSpPr/>
            <p:nvPr/>
          </p:nvSpPr>
          <p:spPr>
            <a:xfrm>
              <a:off x="609600" y="5391150"/>
              <a:ext cx="10972800" cy="723900"/>
            </a:xfrm>
            <a:prstGeom prst="roundRect">
              <a:avLst>
                <a:gd name="adj" fmla="val 15789"/>
              </a:avLst>
            </a:prstGeom>
            <a:solidFill>
              <a:srgbClr val="EDF3FC"/>
            </a:solidFill>
            <a:ln>
              <a:noFill/>
            </a:ln>
          </p:spPr>
        </p:sp>
        <p:grpSp>
          <p:nvGrpSpPr>
            <p:cNvPr id="45" name="Group 45"/>
            <p:cNvGrpSpPr/>
            <p:nvPr/>
          </p:nvGrpSpPr>
          <p:grpSpPr>
            <a:xfrm>
              <a:off x="919162" y="5624512"/>
              <a:ext cx="257175" cy="257175"/>
              <a:chOff x="919162" y="5624512"/>
              <a:chExt cx="257175" cy="257175"/>
            </a:xfrm>
          </p:grpSpPr>
          <p:sp>
            <p:nvSpPr>
              <p:cNvPr id="42" name="Freeform 42"/>
              <p:cNvSpPr/>
              <p:nvPr/>
            </p:nvSpPr>
            <p:spPr>
              <a:xfrm>
                <a:off x="1033462" y="573881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chemeClr val="accent3"/>
                </a:solidFill>
              </a:ln>
            </p:spPr>
          </p:sp>
          <p:sp>
            <p:nvSpPr>
              <p:cNvPr id="43" name="Freeform 43"/>
              <p:cNvSpPr/>
              <p:nvPr/>
            </p:nvSpPr>
            <p:spPr>
              <a:xfrm>
                <a:off x="976312" y="5681662"/>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8575">
                <a:solidFill>
                  <a:schemeClr val="accent3"/>
                </a:solidFill>
              </a:ln>
            </p:spPr>
          </p:sp>
          <p:sp>
            <p:nvSpPr>
              <p:cNvPr id="44" name="Freeform 44"/>
              <p:cNvSpPr/>
              <p:nvPr/>
            </p:nvSpPr>
            <p:spPr>
              <a:xfrm>
                <a:off x="919162" y="562451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28575">
                <a:solidFill>
                  <a:schemeClr val="accent3"/>
                </a:solidFill>
              </a:ln>
            </p:spPr>
          </p:sp>
        </p:grpSp>
        <p:sp>
          <p:nvSpPr>
            <p:cNvPr id="46" name="TextBox 46"/>
            <p:cNvSpPr txBox="1"/>
            <p:nvPr/>
          </p:nvSpPr>
          <p:spPr>
            <a:xfrm>
              <a:off x="1379982" y="5612130"/>
              <a:ext cx="928624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Every objective traces to one capability — and to a number we can check.</a:t>
              </a:r>
            </a:p>
          </p:txBody>
        </p:sp>
      </p:grpSp>
      <p:grpSp>
        <p:nvGrpSpPr>
          <p:cNvPr id="50" name="footer"/>
          <p:cNvGrpSpPr/>
          <p:nvPr/>
        </p:nvGrpSpPr>
        <p:grpSpPr>
          <a:xfrm>
            <a:off x="602742" y="6445568"/>
            <a:ext cx="10986516" cy="264033"/>
            <a:chOff x="602742" y="6445568"/>
            <a:chExt cx="10986516" cy="264033"/>
          </a:xfrm>
        </p:grpSpPr>
        <p:sp>
          <p:nvSpPr>
            <p:cNvPr id="48" name="TextBox 48"/>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49" name="TextBox 49"/>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05 / 13</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8184530" cy="991743"/>
            <a:chOff x="591312" y="561975"/>
            <a:chExt cx="8184530" cy="991743"/>
          </a:xfrm>
        </p:grpSpPr>
        <p:sp>
          <p:nvSpPr>
            <p:cNvPr id="2" name="TextBox 2"/>
            <p:cNvSpPr txBox="1"/>
            <p:nvPr/>
          </p:nvSpPr>
          <p:spPr>
            <a:xfrm>
              <a:off x="601980" y="561975"/>
              <a:ext cx="1329922"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SOLUTION</a:t>
              </a:r>
            </a:p>
          </p:txBody>
        </p:sp>
        <p:sp>
          <p:nvSpPr>
            <p:cNvPr id="3" name="TextBox 3"/>
            <p:cNvSpPr txBox="1"/>
            <p:nvPr/>
          </p:nvSpPr>
          <p:spPr>
            <a:xfrm>
              <a:off x="591312" y="849630"/>
              <a:ext cx="8184530"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One web platform, nine capabilities</a:t>
              </a:r>
            </a:p>
          </p:txBody>
        </p:sp>
      </p:grpSp>
      <p:grpSp>
        <p:nvGrpSpPr>
          <p:cNvPr id="91" name="capabilities"/>
          <p:cNvGrpSpPr/>
          <p:nvPr/>
        </p:nvGrpSpPr>
        <p:grpSpPr>
          <a:xfrm>
            <a:off x="609600" y="1676400"/>
            <a:ext cx="10972800" cy="3810000"/>
            <a:chOff x="609600" y="1676400"/>
            <a:chExt cx="10972800" cy="3810000"/>
          </a:xfrm>
        </p:grpSpPr>
        <p:sp>
          <p:nvSpPr>
            <p:cNvPr id="5" name="Rectangle 5"/>
            <p:cNvSpPr/>
            <p:nvPr/>
          </p:nvSpPr>
          <p:spPr>
            <a:xfrm>
              <a:off x="609600" y="1676400"/>
              <a:ext cx="10972800" cy="3810000"/>
            </a:xfrm>
            <a:prstGeom prst="roundRect">
              <a:avLst>
                <a:gd name="adj" fmla="val 3000"/>
              </a:avLst>
            </a:prstGeom>
            <a:solidFill>
              <a:schemeClr val="lt2"/>
            </a:solidFill>
            <a:ln>
              <a:noFill/>
            </a:ln>
          </p:spPr>
        </p:sp>
        <p:sp>
          <p:nvSpPr>
            <p:cNvPr id="6" name="Line 6"/>
            <p:cNvSpPr/>
            <p:nvPr/>
          </p:nvSpPr>
          <p:spPr>
            <a:xfrm>
              <a:off x="4267200" y="1905000"/>
              <a:ext cx="9525" cy="3352800"/>
            </a:xfrm>
            <a:custGeom>
              <a:avLst/>
              <a:gdLst/>
              <a:ahLst/>
              <a:cxnLst/>
              <a:rect l="l" t="t" r="r" b="b"/>
              <a:pathLst>
                <a:path w="9525" h="3352800">
                  <a:moveTo>
                    <a:pt x="0" y="0"/>
                  </a:moveTo>
                  <a:lnTo>
                    <a:pt x="0" y="3352800"/>
                  </a:lnTo>
                </a:path>
              </a:pathLst>
            </a:custGeom>
            <a:noFill/>
            <a:ln w="9525">
              <a:solidFill>
                <a:schemeClr val="accent6"/>
              </a:solidFill>
            </a:ln>
          </p:spPr>
        </p:sp>
        <p:sp>
          <p:nvSpPr>
            <p:cNvPr id="7" name="Line 7"/>
            <p:cNvSpPr/>
            <p:nvPr/>
          </p:nvSpPr>
          <p:spPr>
            <a:xfrm>
              <a:off x="7924800" y="1905000"/>
              <a:ext cx="9525" cy="3352800"/>
            </a:xfrm>
            <a:custGeom>
              <a:avLst/>
              <a:gdLst/>
              <a:ahLst/>
              <a:cxnLst/>
              <a:rect l="l" t="t" r="r" b="b"/>
              <a:pathLst>
                <a:path w="9525" h="3352800">
                  <a:moveTo>
                    <a:pt x="0" y="0"/>
                  </a:moveTo>
                  <a:lnTo>
                    <a:pt x="0" y="3352800"/>
                  </a:lnTo>
                </a:path>
              </a:pathLst>
            </a:custGeom>
            <a:noFill/>
            <a:ln w="9525">
              <a:solidFill>
                <a:schemeClr val="accent6"/>
              </a:solidFill>
            </a:ln>
          </p:spPr>
        </p:sp>
        <p:grpSp>
          <p:nvGrpSpPr>
            <p:cNvPr id="17" name="cap-01"/>
            <p:cNvGrpSpPr/>
            <p:nvPr/>
          </p:nvGrpSpPr>
          <p:grpSpPr>
            <a:xfrm>
              <a:off x="939800" y="1952625"/>
              <a:ext cx="3177446" cy="845820"/>
              <a:chOff x="939800" y="1952625"/>
              <a:chExt cx="3177446" cy="845820"/>
            </a:xfrm>
          </p:grpSpPr>
          <p:grpSp>
            <p:nvGrpSpPr>
              <p:cNvPr id="13" name="Group 13"/>
              <p:cNvGrpSpPr/>
              <p:nvPr/>
            </p:nvGrpSpPr>
            <p:grpSpPr>
              <a:xfrm>
                <a:off x="939800" y="2009775"/>
                <a:ext cx="254001" cy="285751"/>
                <a:chOff x="939800" y="2009775"/>
                <a:chExt cx="254001" cy="285751"/>
              </a:xfrm>
            </p:grpSpPr>
            <p:sp>
              <p:nvSpPr>
                <p:cNvPr id="8" name="Freeform 8"/>
                <p:cNvSpPr/>
                <p:nvPr/>
              </p:nvSpPr>
              <p:spPr>
                <a:xfrm>
                  <a:off x="939800" y="2041525"/>
                  <a:ext cx="254001" cy="254001"/>
                </a:xfrm>
                <a:custGeom>
                  <a:avLst/>
                  <a:gdLst/>
                  <a:ahLst/>
                  <a:cxnLst/>
                  <a:rect l="l" t="t" r="r" b="b"/>
                  <a:pathLst>
                    <a:path w="254001" h="254001">
                      <a:moveTo>
                        <a:pt x="0" y="31750"/>
                      </a:moveTo>
                      <a:cubicBezTo>
                        <a:pt x="0" y="14215"/>
                        <a:pt x="14215" y="0"/>
                        <a:pt x="31750" y="0"/>
                      </a:cubicBezTo>
                      <a:lnTo>
                        <a:pt x="222250" y="0"/>
                      </a:lnTo>
                      <a:cubicBezTo>
                        <a:pt x="239786" y="0"/>
                        <a:pt x="254001" y="14215"/>
                        <a:pt x="254001" y="31750"/>
                      </a:cubicBezTo>
                      <a:lnTo>
                        <a:pt x="254001" y="222250"/>
                      </a:lnTo>
                      <a:cubicBezTo>
                        <a:pt x="254001" y="239786"/>
                        <a:pt x="239786" y="254001"/>
                        <a:pt x="222250" y="254001"/>
                      </a:cubicBezTo>
                      <a:lnTo>
                        <a:pt x="31750" y="254001"/>
                      </a:lnTo>
                      <a:cubicBezTo>
                        <a:pt x="14215" y="254001"/>
                        <a:pt x="0" y="239786"/>
                        <a:pt x="0" y="222250"/>
                      </a:cubicBezTo>
                      <a:lnTo>
                        <a:pt x="0" y="31750"/>
                      </a:lnTo>
                    </a:path>
                  </a:pathLst>
                </a:custGeom>
                <a:noFill/>
                <a:ln w="31750">
                  <a:solidFill>
                    <a:schemeClr val="accent2"/>
                  </a:solidFill>
                </a:ln>
              </p:spPr>
            </p:sp>
            <p:sp>
              <p:nvSpPr>
                <p:cNvPr id="9" name="Freeform 9"/>
                <p:cNvSpPr/>
                <p:nvPr/>
              </p:nvSpPr>
              <p:spPr>
                <a:xfrm>
                  <a:off x="1130301" y="2009775"/>
                  <a:ext cx="9525" cy="63500"/>
                </a:xfrm>
                <a:custGeom>
                  <a:avLst/>
                  <a:gdLst/>
                  <a:ahLst/>
                  <a:cxnLst/>
                  <a:rect l="l" t="t" r="r" b="b"/>
                  <a:pathLst>
                    <a:path w="9525" h="63500">
                      <a:moveTo>
                        <a:pt x="0" y="0"/>
                      </a:moveTo>
                      <a:lnTo>
                        <a:pt x="0" y="63500"/>
                      </a:lnTo>
                    </a:path>
                  </a:pathLst>
                </a:custGeom>
                <a:noFill/>
                <a:ln w="31750">
                  <a:solidFill>
                    <a:schemeClr val="accent2"/>
                  </a:solidFill>
                </a:ln>
              </p:spPr>
            </p:sp>
            <p:sp>
              <p:nvSpPr>
                <p:cNvPr id="10" name="Freeform 10"/>
                <p:cNvSpPr/>
                <p:nvPr/>
              </p:nvSpPr>
              <p:spPr>
                <a:xfrm>
                  <a:off x="1003300" y="2009775"/>
                  <a:ext cx="9525" cy="63500"/>
                </a:xfrm>
                <a:custGeom>
                  <a:avLst/>
                  <a:gdLst/>
                  <a:ahLst/>
                  <a:cxnLst/>
                  <a:rect l="l" t="t" r="r" b="b"/>
                  <a:pathLst>
                    <a:path w="9525" h="63500">
                      <a:moveTo>
                        <a:pt x="0" y="0"/>
                      </a:moveTo>
                      <a:lnTo>
                        <a:pt x="0" y="63500"/>
                      </a:lnTo>
                    </a:path>
                  </a:pathLst>
                </a:custGeom>
                <a:noFill/>
                <a:ln w="31750">
                  <a:solidFill>
                    <a:schemeClr val="accent2"/>
                  </a:solidFill>
                </a:ln>
              </p:spPr>
            </p:sp>
            <p:sp>
              <p:nvSpPr>
                <p:cNvPr id="11" name="Freeform 11"/>
                <p:cNvSpPr/>
                <p:nvPr/>
              </p:nvSpPr>
              <p:spPr>
                <a:xfrm>
                  <a:off x="939800" y="2136775"/>
                  <a:ext cx="254001" cy="9525"/>
                </a:xfrm>
                <a:custGeom>
                  <a:avLst/>
                  <a:gdLst/>
                  <a:ahLst/>
                  <a:cxnLst/>
                  <a:rect l="l" t="t" r="r" b="b"/>
                  <a:pathLst>
                    <a:path w="254001" h="9525">
                      <a:moveTo>
                        <a:pt x="0" y="0"/>
                      </a:moveTo>
                      <a:lnTo>
                        <a:pt x="254001" y="0"/>
                      </a:lnTo>
                    </a:path>
                  </a:pathLst>
                </a:custGeom>
                <a:noFill/>
                <a:ln w="31750">
                  <a:solidFill>
                    <a:schemeClr val="accent2"/>
                  </a:solidFill>
                </a:ln>
              </p:spPr>
            </p:sp>
            <p:sp>
              <p:nvSpPr>
                <p:cNvPr id="12" name="Freeform 12"/>
                <p:cNvSpPr/>
                <p:nvPr/>
              </p:nvSpPr>
              <p:spPr>
                <a:xfrm>
                  <a:off x="1003300" y="2200275"/>
                  <a:ext cx="31750" cy="31750"/>
                </a:xfrm>
                <a:custGeom>
                  <a:avLst/>
                  <a:gdLst/>
                  <a:ahLst/>
                  <a:cxnLst/>
                  <a:rect l="l" t="t" r="r" b="b"/>
                  <a:pathLst>
                    <a:path w="31750" h="31750">
                      <a:moveTo>
                        <a:pt x="0" y="0"/>
                      </a:moveTo>
                      <a:lnTo>
                        <a:pt x="31750" y="0"/>
                      </a:lnTo>
                      <a:lnTo>
                        <a:pt x="31750" y="31750"/>
                      </a:lnTo>
                      <a:lnTo>
                        <a:pt x="0" y="31750"/>
                      </a:lnTo>
                      <a:lnTo>
                        <a:pt x="0" y="0"/>
                      </a:lnTo>
                    </a:path>
                  </a:pathLst>
                </a:custGeom>
                <a:noFill/>
                <a:ln w="31750">
                  <a:solidFill>
                    <a:schemeClr val="accent2"/>
                  </a:solidFill>
                </a:ln>
              </p:spPr>
            </p:sp>
          </p:grpSp>
          <p:sp>
            <p:nvSpPr>
              <p:cNvPr id="14" name="TextBox 14"/>
              <p:cNvSpPr txBox="1"/>
              <p:nvPr/>
            </p:nvSpPr>
            <p:spPr>
              <a:xfrm>
                <a:off x="1402080" y="1952625"/>
                <a:ext cx="86902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CAP-01</a:t>
                </a:r>
              </a:p>
            </p:txBody>
          </p:sp>
          <p:sp>
            <p:nvSpPr>
              <p:cNvPr id="15" name="TextBox 15"/>
              <p:cNvSpPr txBox="1"/>
              <p:nvPr/>
            </p:nvSpPr>
            <p:spPr>
              <a:xfrm>
                <a:off x="1401318" y="2222182"/>
                <a:ext cx="256691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Assessment scheduling</a:t>
                </a:r>
              </a:p>
            </p:txBody>
          </p:sp>
          <p:sp>
            <p:nvSpPr>
              <p:cNvPr id="16" name="TextBox 16"/>
              <p:cNvSpPr txBox="1"/>
              <p:nvPr/>
            </p:nvSpPr>
            <p:spPr>
              <a:xfrm>
                <a:off x="1402080" y="2505075"/>
                <a:ext cx="2715166"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Calendly-style slots &amp; booking</a:t>
                </a:r>
              </a:p>
            </p:txBody>
          </p:sp>
        </p:grpSp>
        <p:grpSp>
          <p:nvGrpSpPr>
            <p:cNvPr id="24" name="cap-02"/>
            <p:cNvGrpSpPr/>
            <p:nvPr/>
          </p:nvGrpSpPr>
          <p:grpSpPr>
            <a:xfrm>
              <a:off x="4597400" y="1952625"/>
              <a:ext cx="3154374" cy="845820"/>
              <a:chOff x="4597400" y="1952625"/>
              <a:chExt cx="3154374" cy="845820"/>
            </a:xfrm>
          </p:grpSpPr>
          <p:grpSp>
            <p:nvGrpSpPr>
              <p:cNvPr id="20" name="Group 20"/>
              <p:cNvGrpSpPr/>
              <p:nvPr/>
            </p:nvGrpSpPr>
            <p:grpSpPr>
              <a:xfrm>
                <a:off x="4597400" y="2009775"/>
                <a:ext cx="254001" cy="285751"/>
                <a:chOff x="4597400" y="2009775"/>
                <a:chExt cx="254001" cy="285751"/>
              </a:xfrm>
            </p:grpSpPr>
            <p:sp>
              <p:nvSpPr>
                <p:cNvPr id="18" name="Freeform 18"/>
                <p:cNvSpPr/>
                <p:nvPr/>
              </p:nvSpPr>
              <p:spPr>
                <a:xfrm>
                  <a:off x="4597400" y="2009775"/>
                  <a:ext cx="254001" cy="222250"/>
                </a:xfrm>
                <a:custGeom>
                  <a:avLst/>
                  <a:gdLst/>
                  <a:ahLst/>
                  <a:cxnLst/>
                  <a:rect l="l" t="t" r="r" b="b"/>
                  <a:pathLst>
                    <a:path w="254001" h="222250">
                      <a:moveTo>
                        <a:pt x="95250" y="31750"/>
                      </a:moveTo>
                      <a:cubicBezTo>
                        <a:pt x="95250" y="14215"/>
                        <a:pt x="109465" y="0"/>
                        <a:pt x="127000" y="0"/>
                      </a:cubicBezTo>
                      <a:cubicBezTo>
                        <a:pt x="144535" y="0"/>
                        <a:pt x="158750" y="14215"/>
                        <a:pt x="158750" y="31750"/>
                      </a:cubicBezTo>
                      <a:cubicBezTo>
                        <a:pt x="195901" y="49317"/>
                        <a:pt x="220324" y="85951"/>
                        <a:pt x="222250" y="127000"/>
                      </a:cubicBezTo>
                      <a:lnTo>
                        <a:pt x="222250" y="174625"/>
                      </a:lnTo>
                      <a:cubicBezTo>
                        <a:pt x="224673" y="194641"/>
                        <a:pt x="236457" y="212316"/>
                        <a:pt x="254001" y="222250"/>
                      </a:cubicBezTo>
                      <a:lnTo>
                        <a:pt x="0" y="222250"/>
                      </a:lnTo>
                      <a:cubicBezTo>
                        <a:pt x="17544" y="212316"/>
                        <a:pt x="29327" y="194641"/>
                        <a:pt x="31750" y="174625"/>
                      </a:cubicBezTo>
                      <a:lnTo>
                        <a:pt x="31750" y="127000"/>
                      </a:lnTo>
                      <a:cubicBezTo>
                        <a:pt x="33677" y="85951"/>
                        <a:pt x="58100" y="49317"/>
                        <a:pt x="95250" y="31750"/>
                      </a:cubicBezTo>
                    </a:path>
                  </a:pathLst>
                </a:custGeom>
                <a:noFill/>
                <a:ln w="31750">
                  <a:solidFill>
                    <a:schemeClr val="accent3"/>
                  </a:solidFill>
                </a:ln>
              </p:spPr>
            </p:sp>
            <p:sp>
              <p:nvSpPr>
                <p:cNvPr id="19" name="Freeform 19"/>
                <p:cNvSpPr/>
                <p:nvPr/>
              </p:nvSpPr>
              <p:spPr>
                <a:xfrm>
                  <a:off x="4676775" y="2232026"/>
                  <a:ext cx="95250" cy="63500"/>
                </a:xfrm>
                <a:custGeom>
                  <a:avLst/>
                  <a:gdLst/>
                  <a:ahLst/>
                  <a:cxnLst/>
                  <a:rect l="l" t="t" r="r" b="b"/>
                  <a:pathLst>
                    <a:path w="95250" h="63500">
                      <a:moveTo>
                        <a:pt x="0" y="0"/>
                      </a:moveTo>
                      <a:lnTo>
                        <a:pt x="0" y="15875"/>
                      </a:lnTo>
                      <a:cubicBezTo>
                        <a:pt x="0" y="42178"/>
                        <a:pt x="21322" y="63500"/>
                        <a:pt x="47625" y="63500"/>
                      </a:cubicBezTo>
                      <a:cubicBezTo>
                        <a:pt x="73928" y="63500"/>
                        <a:pt x="95250" y="42178"/>
                        <a:pt x="95250" y="15875"/>
                      </a:cubicBezTo>
                      <a:lnTo>
                        <a:pt x="95250" y="0"/>
                      </a:lnTo>
                    </a:path>
                  </a:pathLst>
                </a:custGeom>
                <a:noFill/>
                <a:ln w="31750">
                  <a:solidFill>
                    <a:schemeClr val="accent3"/>
                  </a:solidFill>
                </a:ln>
              </p:spPr>
            </p:sp>
          </p:grpSp>
          <p:sp>
            <p:nvSpPr>
              <p:cNvPr id="21" name="TextBox 21"/>
              <p:cNvSpPr txBox="1"/>
              <p:nvPr/>
            </p:nvSpPr>
            <p:spPr>
              <a:xfrm>
                <a:off x="5059680" y="1952625"/>
                <a:ext cx="86902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CAP-02</a:t>
                </a:r>
              </a:p>
            </p:txBody>
          </p:sp>
          <p:sp>
            <p:nvSpPr>
              <p:cNvPr id="22" name="TextBox 22"/>
              <p:cNvSpPr txBox="1"/>
              <p:nvPr/>
            </p:nvSpPr>
            <p:spPr>
              <a:xfrm>
                <a:off x="5058918" y="2222182"/>
                <a:ext cx="136770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Notifications</a:t>
                </a:r>
              </a:p>
            </p:txBody>
          </p:sp>
          <p:sp>
            <p:nvSpPr>
              <p:cNvPr id="23" name="TextBox 23"/>
              <p:cNvSpPr txBox="1"/>
              <p:nvPr/>
            </p:nvSpPr>
            <p:spPr>
              <a:xfrm>
                <a:off x="5059680" y="2505075"/>
                <a:ext cx="2692094"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Confirmations, reminders, .ics</a:t>
                </a:r>
              </a:p>
            </p:txBody>
          </p:sp>
        </p:grpSp>
        <p:grpSp>
          <p:nvGrpSpPr>
            <p:cNvPr id="32" name="cap-03"/>
            <p:cNvGrpSpPr/>
            <p:nvPr/>
          </p:nvGrpSpPr>
          <p:grpSpPr>
            <a:xfrm>
              <a:off x="8286750" y="1952625"/>
              <a:ext cx="2831424" cy="845820"/>
              <a:chOff x="8286750" y="1952625"/>
              <a:chExt cx="2831424" cy="845820"/>
            </a:xfrm>
          </p:grpSpPr>
          <p:grpSp>
            <p:nvGrpSpPr>
              <p:cNvPr id="28" name="Group 28"/>
              <p:cNvGrpSpPr/>
              <p:nvPr/>
            </p:nvGrpSpPr>
            <p:grpSpPr>
              <a:xfrm>
                <a:off x="8286750" y="2009775"/>
                <a:ext cx="254000" cy="301626"/>
                <a:chOff x="8286750" y="2009775"/>
                <a:chExt cx="254000" cy="301626"/>
              </a:xfrm>
            </p:grpSpPr>
            <p:sp>
              <p:nvSpPr>
                <p:cNvPr id="25" name="Freeform 25"/>
                <p:cNvSpPr/>
                <p:nvPr/>
              </p:nvSpPr>
              <p:spPr>
                <a:xfrm>
                  <a:off x="8286750" y="2200275"/>
                  <a:ext cx="95250" cy="95250"/>
                </a:xfrm>
                <a:custGeom>
                  <a:avLst/>
                  <a:gdLst/>
                  <a:ahLst/>
                  <a:cxnLst/>
                  <a:rect l="l" t="t" r="r" b="b"/>
                  <a:pathLst>
                    <a:path w="95250" h="95250">
                      <a:moveTo>
                        <a:pt x="0" y="95250"/>
                      </a:moveTo>
                      <a:lnTo>
                        <a:pt x="0" y="63500"/>
                      </a:lnTo>
                      <a:cubicBezTo>
                        <a:pt x="0" y="28430"/>
                        <a:pt x="28430" y="0"/>
                        <a:pt x="63500" y="0"/>
                      </a:cubicBezTo>
                      <a:lnTo>
                        <a:pt x="95250" y="0"/>
                      </a:lnTo>
                    </a:path>
                  </a:pathLst>
                </a:custGeom>
                <a:noFill/>
                <a:ln w="31750">
                  <a:solidFill>
                    <a:schemeClr val="accent3"/>
                  </a:solidFill>
                </a:ln>
              </p:spPr>
            </p:sp>
            <p:sp>
              <p:nvSpPr>
                <p:cNvPr id="26" name="Freeform 26"/>
                <p:cNvSpPr/>
                <p:nvPr/>
              </p:nvSpPr>
              <p:spPr>
                <a:xfrm>
                  <a:off x="8429625" y="2192338"/>
                  <a:ext cx="111125" cy="119063"/>
                </a:xfrm>
                <a:custGeom>
                  <a:avLst/>
                  <a:gdLst/>
                  <a:ahLst/>
                  <a:cxnLst/>
                  <a:rect l="l" t="t" r="r" b="b"/>
                  <a:pathLst>
                    <a:path w="111125" h="119063">
                      <a:moveTo>
                        <a:pt x="111125" y="23813"/>
                      </a:moveTo>
                      <a:cubicBezTo>
                        <a:pt x="111125" y="87313"/>
                        <a:pt x="71438" y="119063"/>
                        <a:pt x="55563" y="119063"/>
                      </a:cubicBezTo>
                      <a:cubicBezTo>
                        <a:pt x="39688" y="119063"/>
                        <a:pt x="0" y="87313"/>
                        <a:pt x="0" y="23813"/>
                      </a:cubicBezTo>
                      <a:cubicBezTo>
                        <a:pt x="15875" y="23813"/>
                        <a:pt x="39688" y="15875"/>
                        <a:pt x="55563" y="0"/>
                      </a:cubicBezTo>
                      <a:cubicBezTo>
                        <a:pt x="71438" y="15875"/>
                        <a:pt x="95250" y="23813"/>
                        <a:pt x="111125" y="23813"/>
                      </a:cubicBezTo>
                    </a:path>
                  </a:pathLst>
                </a:custGeom>
                <a:noFill/>
                <a:ln w="31750">
                  <a:solidFill>
                    <a:schemeClr val="accent3"/>
                  </a:solidFill>
                </a:ln>
              </p:spPr>
            </p:sp>
            <p:sp>
              <p:nvSpPr>
                <p:cNvPr id="27" name="Freeform 27"/>
                <p:cNvSpPr/>
                <p:nvPr/>
              </p:nvSpPr>
              <p:spPr>
                <a:xfrm>
                  <a:off x="8318500" y="2009775"/>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31750">
                  <a:solidFill>
                    <a:schemeClr val="accent3"/>
                  </a:solidFill>
                </a:ln>
              </p:spPr>
            </p:sp>
          </p:grpSp>
          <p:sp>
            <p:nvSpPr>
              <p:cNvPr id="29" name="TextBox 29"/>
              <p:cNvSpPr txBox="1"/>
              <p:nvPr/>
            </p:nvSpPr>
            <p:spPr>
              <a:xfrm>
                <a:off x="8717280" y="1952625"/>
                <a:ext cx="86902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CAP-03</a:t>
                </a:r>
              </a:p>
            </p:txBody>
          </p:sp>
          <p:sp>
            <p:nvSpPr>
              <p:cNvPr id="30" name="TextBox 30"/>
              <p:cNvSpPr txBox="1"/>
              <p:nvPr/>
            </p:nvSpPr>
            <p:spPr>
              <a:xfrm>
                <a:off x="8716518" y="2222182"/>
                <a:ext cx="166781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Users &amp; access</a:t>
                </a:r>
              </a:p>
            </p:txBody>
          </p:sp>
          <p:sp>
            <p:nvSpPr>
              <p:cNvPr id="31" name="TextBox 31"/>
              <p:cNvSpPr txBox="1"/>
              <p:nvPr/>
            </p:nvSpPr>
            <p:spPr>
              <a:xfrm>
                <a:off x="8717280" y="2505075"/>
                <a:ext cx="2400894"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RBAC, school email, SSO</a:t>
                </a:r>
              </a:p>
            </p:txBody>
          </p:sp>
        </p:grpSp>
        <p:grpSp>
          <p:nvGrpSpPr>
            <p:cNvPr id="43" name="cap-04"/>
            <p:cNvGrpSpPr/>
            <p:nvPr/>
          </p:nvGrpSpPr>
          <p:grpSpPr>
            <a:xfrm>
              <a:off x="923925" y="3095625"/>
              <a:ext cx="3058509" cy="845820"/>
              <a:chOff x="923925" y="3095625"/>
              <a:chExt cx="3058509" cy="845820"/>
            </a:xfrm>
          </p:grpSpPr>
          <p:grpSp>
            <p:nvGrpSpPr>
              <p:cNvPr id="39" name="Group 39"/>
              <p:cNvGrpSpPr/>
              <p:nvPr/>
            </p:nvGrpSpPr>
            <p:grpSpPr>
              <a:xfrm>
                <a:off x="923925" y="3152775"/>
                <a:ext cx="285751" cy="285751"/>
                <a:chOff x="923925" y="3152775"/>
                <a:chExt cx="285751" cy="285751"/>
              </a:xfrm>
            </p:grpSpPr>
            <p:sp>
              <p:nvSpPr>
                <p:cNvPr id="33" name="Freeform 33"/>
                <p:cNvSpPr/>
                <p:nvPr/>
              </p:nvSpPr>
              <p:spPr>
                <a:xfrm>
                  <a:off x="1035050" y="327977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31750">
                  <a:solidFill>
                    <a:schemeClr val="accent3"/>
                  </a:solidFill>
                </a:ln>
              </p:spPr>
            </p:sp>
            <p:sp>
              <p:nvSpPr>
                <p:cNvPr id="34" name="Freeform 34"/>
                <p:cNvSpPr/>
                <p:nvPr/>
              </p:nvSpPr>
              <p:spPr>
                <a:xfrm>
                  <a:off x="1003300" y="3390901"/>
                  <a:ext cx="127000" cy="47625"/>
                </a:xfrm>
                <a:custGeom>
                  <a:avLst/>
                  <a:gdLst/>
                  <a:ahLst/>
                  <a:cxnLst/>
                  <a:rect l="l" t="t" r="r" b="b"/>
                  <a:pathLst>
                    <a:path w="127000" h="47625">
                      <a:moveTo>
                        <a:pt x="0" y="47625"/>
                      </a:moveTo>
                      <a:lnTo>
                        <a:pt x="0" y="31750"/>
                      </a:lnTo>
                      <a:cubicBezTo>
                        <a:pt x="0" y="14215"/>
                        <a:pt x="14215" y="0"/>
                        <a:pt x="31750" y="0"/>
                      </a:cubicBezTo>
                      <a:lnTo>
                        <a:pt x="95250" y="0"/>
                      </a:lnTo>
                      <a:cubicBezTo>
                        <a:pt x="112785" y="0"/>
                        <a:pt x="127000" y="14215"/>
                        <a:pt x="127000" y="31750"/>
                      </a:cubicBezTo>
                      <a:lnTo>
                        <a:pt x="127000" y="47625"/>
                      </a:lnTo>
                    </a:path>
                  </a:pathLst>
                </a:custGeom>
                <a:noFill/>
                <a:ln w="31750">
                  <a:solidFill>
                    <a:schemeClr val="accent3"/>
                  </a:solidFill>
                </a:ln>
              </p:spPr>
            </p:sp>
            <p:sp>
              <p:nvSpPr>
                <p:cNvPr id="35" name="Freeform 35"/>
                <p:cNvSpPr/>
                <p:nvPr/>
              </p:nvSpPr>
              <p:spPr>
                <a:xfrm>
                  <a:off x="1114425" y="315277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31750">
                  <a:solidFill>
                    <a:schemeClr val="accent3"/>
                  </a:solidFill>
                </a:ln>
              </p:spPr>
            </p:sp>
            <p:sp>
              <p:nvSpPr>
                <p:cNvPr id="36" name="Freeform 36"/>
                <p:cNvSpPr/>
                <p:nvPr/>
              </p:nvSpPr>
              <p:spPr>
                <a:xfrm>
                  <a:off x="1146176" y="3263900"/>
                  <a:ext cx="63500" cy="47625"/>
                </a:xfrm>
                <a:custGeom>
                  <a:avLst/>
                  <a:gdLst/>
                  <a:ahLst/>
                  <a:cxnLst/>
                  <a:rect l="l" t="t" r="r" b="b"/>
                  <a:pathLst>
                    <a:path w="63500" h="47625">
                      <a:moveTo>
                        <a:pt x="0" y="0"/>
                      </a:moveTo>
                      <a:lnTo>
                        <a:pt x="31750" y="0"/>
                      </a:lnTo>
                      <a:cubicBezTo>
                        <a:pt x="49285" y="0"/>
                        <a:pt x="63500" y="14215"/>
                        <a:pt x="63500" y="31750"/>
                      </a:cubicBezTo>
                      <a:lnTo>
                        <a:pt x="63500" y="47625"/>
                      </a:lnTo>
                    </a:path>
                  </a:pathLst>
                </a:custGeom>
                <a:noFill/>
                <a:ln w="31750">
                  <a:solidFill>
                    <a:schemeClr val="accent3"/>
                  </a:solidFill>
                </a:ln>
              </p:spPr>
            </p:sp>
            <p:sp>
              <p:nvSpPr>
                <p:cNvPr id="37" name="Freeform 37"/>
                <p:cNvSpPr/>
                <p:nvPr/>
              </p:nvSpPr>
              <p:spPr>
                <a:xfrm>
                  <a:off x="955675" y="315277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31750">
                  <a:solidFill>
                    <a:schemeClr val="accent3"/>
                  </a:solidFill>
                </a:ln>
              </p:spPr>
            </p:sp>
            <p:sp>
              <p:nvSpPr>
                <p:cNvPr id="38" name="Freeform 38"/>
                <p:cNvSpPr/>
                <p:nvPr/>
              </p:nvSpPr>
              <p:spPr>
                <a:xfrm>
                  <a:off x="923925" y="3263900"/>
                  <a:ext cx="63500" cy="47625"/>
                </a:xfrm>
                <a:custGeom>
                  <a:avLst/>
                  <a:gdLst/>
                  <a:ahLst/>
                  <a:cxnLst/>
                  <a:rect l="l" t="t" r="r" b="b"/>
                  <a:pathLst>
                    <a:path w="63500" h="47625">
                      <a:moveTo>
                        <a:pt x="0" y="47625"/>
                      </a:moveTo>
                      <a:lnTo>
                        <a:pt x="0" y="31750"/>
                      </a:lnTo>
                      <a:cubicBezTo>
                        <a:pt x="0" y="14215"/>
                        <a:pt x="14215" y="0"/>
                        <a:pt x="31750" y="0"/>
                      </a:cubicBezTo>
                      <a:lnTo>
                        <a:pt x="63500" y="0"/>
                      </a:lnTo>
                    </a:path>
                  </a:pathLst>
                </a:custGeom>
                <a:noFill/>
                <a:ln w="31750">
                  <a:solidFill>
                    <a:schemeClr val="accent3"/>
                  </a:solidFill>
                </a:ln>
              </p:spPr>
            </p:sp>
          </p:grpSp>
          <p:sp>
            <p:nvSpPr>
              <p:cNvPr id="40" name="TextBox 40"/>
              <p:cNvSpPr txBox="1"/>
              <p:nvPr/>
            </p:nvSpPr>
            <p:spPr>
              <a:xfrm>
                <a:off x="1402080" y="3095625"/>
                <a:ext cx="86902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CAP-04</a:t>
                </a:r>
              </a:p>
            </p:txBody>
          </p:sp>
          <p:sp>
            <p:nvSpPr>
              <p:cNvPr id="41" name="TextBox 41"/>
              <p:cNvSpPr txBox="1"/>
              <p:nvPr/>
            </p:nvSpPr>
            <p:spPr>
              <a:xfrm>
                <a:off x="1401318" y="3365182"/>
                <a:ext cx="212281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Group management</a:t>
                </a:r>
              </a:p>
            </p:txBody>
          </p:sp>
          <p:sp>
            <p:nvSpPr>
              <p:cNvPr id="42" name="TextBox 42"/>
              <p:cNvSpPr txBox="1"/>
              <p:nvPr/>
            </p:nvSpPr>
            <p:spPr>
              <a:xfrm>
                <a:off x="1402080" y="3648075"/>
                <a:ext cx="2580354"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Members, leader, supervisor</a:t>
                </a:r>
              </a:p>
            </p:txBody>
          </p:sp>
        </p:grpSp>
        <p:grpSp>
          <p:nvGrpSpPr>
            <p:cNvPr id="55" name="cap-05"/>
            <p:cNvGrpSpPr/>
            <p:nvPr/>
          </p:nvGrpSpPr>
          <p:grpSpPr>
            <a:xfrm>
              <a:off x="4613275" y="3095625"/>
              <a:ext cx="2975522" cy="845820"/>
              <a:chOff x="4613275" y="3095625"/>
              <a:chExt cx="2975522" cy="845820"/>
            </a:xfrm>
          </p:grpSpPr>
          <p:grpSp>
            <p:nvGrpSpPr>
              <p:cNvPr id="51" name="Group 51"/>
              <p:cNvGrpSpPr/>
              <p:nvPr/>
            </p:nvGrpSpPr>
            <p:grpSpPr>
              <a:xfrm>
                <a:off x="4613275" y="3166983"/>
                <a:ext cx="255573" cy="257334"/>
                <a:chOff x="4613275" y="3166983"/>
                <a:chExt cx="255573" cy="257334"/>
              </a:xfrm>
            </p:grpSpPr>
            <p:sp>
              <p:nvSpPr>
                <p:cNvPr id="44" name="Freeform 44"/>
                <p:cNvSpPr/>
                <p:nvPr/>
              </p:nvSpPr>
              <p:spPr>
                <a:xfrm>
                  <a:off x="4613275" y="3168650"/>
                  <a:ext cx="63500" cy="254001"/>
                </a:xfrm>
                <a:custGeom>
                  <a:avLst/>
                  <a:gdLst/>
                  <a:ahLst/>
                  <a:cxnLst/>
                  <a:rect l="l" t="t" r="r" b="b"/>
                  <a:pathLst>
                    <a:path w="63500" h="254001">
                      <a:moveTo>
                        <a:pt x="0" y="15875"/>
                      </a:moveTo>
                      <a:cubicBezTo>
                        <a:pt x="0" y="7107"/>
                        <a:pt x="7107" y="0"/>
                        <a:pt x="15875" y="0"/>
                      </a:cubicBezTo>
                      <a:lnTo>
                        <a:pt x="47625" y="0"/>
                      </a:lnTo>
                      <a:cubicBezTo>
                        <a:pt x="56393" y="0"/>
                        <a:pt x="63500" y="7107"/>
                        <a:pt x="63500" y="15875"/>
                      </a:cubicBezTo>
                      <a:lnTo>
                        <a:pt x="63500" y="238125"/>
                      </a:lnTo>
                      <a:cubicBezTo>
                        <a:pt x="63500" y="246893"/>
                        <a:pt x="56393" y="254001"/>
                        <a:pt x="47625" y="254001"/>
                      </a:cubicBezTo>
                      <a:lnTo>
                        <a:pt x="15875" y="254001"/>
                      </a:lnTo>
                      <a:cubicBezTo>
                        <a:pt x="7107" y="254001"/>
                        <a:pt x="0" y="246893"/>
                        <a:pt x="0" y="238125"/>
                      </a:cubicBezTo>
                      <a:lnTo>
                        <a:pt x="0" y="15875"/>
                      </a:lnTo>
                    </a:path>
                  </a:pathLst>
                </a:custGeom>
                <a:noFill/>
                <a:ln w="31750">
                  <a:solidFill>
                    <a:schemeClr val="accent3"/>
                  </a:solidFill>
                </a:ln>
              </p:spPr>
            </p:sp>
            <p:sp>
              <p:nvSpPr>
                <p:cNvPr id="45" name="Freeform 45"/>
                <p:cNvSpPr/>
                <p:nvPr/>
              </p:nvSpPr>
              <p:spPr>
                <a:xfrm>
                  <a:off x="4676775" y="3168650"/>
                  <a:ext cx="63500" cy="254001"/>
                </a:xfrm>
                <a:custGeom>
                  <a:avLst/>
                  <a:gdLst/>
                  <a:ahLst/>
                  <a:cxnLst/>
                  <a:rect l="l" t="t" r="r" b="b"/>
                  <a:pathLst>
                    <a:path w="63500" h="254001">
                      <a:moveTo>
                        <a:pt x="0" y="15875"/>
                      </a:moveTo>
                      <a:cubicBezTo>
                        <a:pt x="0" y="7107"/>
                        <a:pt x="7107" y="0"/>
                        <a:pt x="15875" y="0"/>
                      </a:cubicBezTo>
                      <a:lnTo>
                        <a:pt x="47625" y="0"/>
                      </a:lnTo>
                      <a:cubicBezTo>
                        <a:pt x="56393" y="0"/>
                        <a:pt x="63500" y="7107"/>
                        <a:pt x="63500" y="15875"/>
                      </a:cubicBezTo>
                      <a:lnTo>
                        <a:pt x="63500" y="238125"/>
                      </a:lnTo>
                      <a:cubicBezTo>
                        <a:pt x="63500" y="246893"/>
                        <a:pt x="56393" y="254001"/>
                        <a:pt x="47625" y="254001"/>
                      </a:cubicBezTo>
                      <a:lnTo>
                        <a:pt x="15875" y="254001"/>
                      </a:lnTo>
                      <a:cubicBezTo>
                        <a:pt x="7107" y="254001"/>
                        <a:pt x="0" y="246893"/>
                        <a:pt x="0" y="238125"/>
                      </a:cubicBezTo>
                      <a:lnTo>
                        <a:pt x="0" y="15875"/>
                      </a:lnTo>
                    </a:path>
                  </a:pathLst>
                </a:custGeom>
                <a:noFill/>
                <a:ln w="31750">
                  <a:solidFill>
                    <a:schemeClr val="accent3"/>
                  </a:solidFill>
                </a:ln>
              </p:spPr>
            </p:sp>
            <p:sp>
              <p:nvSpPr>
                <p:cNvPr id="46" name="Freeform 46"/>
                <p:cNvSpPr/>
                <p:nvPr/>
              </p:nvSpPr>
              <p:spPr>
                <a:xfrm>
                  <a:off x="4613275" y="3232150"/>
                  <a:ext cx="63500" cy="9525"/>
                </a:xfrm>
                <a:custGeom>
                  <a:avLst/>
                  <a:gdLst/>
                  <a:ahLst/>
                  <a:cxnLst/>
                  <a:rect l="l" t="t" r="r" b="b"/>
                  <a:pathLst>
                    <a:path w="63500" h="9525">
                      <a:moveTo>
                        <a:pt x="0" y="0"/>
                      </a:moveTo>
                      <a:lnTo>
                        <a:pt x="63500" y="0"/>
                      </a:lnTo>
                    </a:path>
                  </a:pathLst>
                </a:custGeom>
                <a:noFill/>
                <a:ln w="31750">
                  <a:solidFill>
                    <a:schemeClr val="accent3"/>
                  </a:solidFill>
                </a:ln>
              </p:spPr>
            </p:sp>
            <p:sp>
              <p:nvSpPr>
                <p:cNvPr id="47" name="Freeform 47"/>
                <p:cNvSpPr/>
                <p:nvPr/>
              </p:nvSpPr>
              <p:spPr>
                <a:xfrm>
                  <a:off x="4676775" y="3359151"/>
                  <a:ext cx="63500" cy="9525"/>
                </a:xfrm>
                <a:custGeom>
                  <a:avLst/>
                  <a:gdLst/>
                  <a:ahLst/>
                  <a:cxnLst/>
                  <a:rect l="l" t="t" r="r" b="b"/>
                  <a:pathLst>
                    <a:path w="63500" h="9525">
                      <a:moveTo>
                        <a:pt x="0" y="0"/>
                      </a:moveTo>
                      <a:lnTo>
                        <a:pt x="63500" y="0"/>
                      </a:lnTo>
                    </a:path>
                  </a:pathLst>
                </a:custGeom>
                <a:noFill/>
                <a:ln w="31750">
                  <a:solidFill>
                    <a:schemeClr val="accent3"/>
                  </a:solidFill>
                </a:ln>
              </p:spPr>
            </p:sp>
            <p:sp>
              <p:nvSpPr>
                <p:cNvPr id="48" name="Freeform 48"/>
                <p:cNvSpPr/>
                <p:nvPr/>
              </p:nvSpPr>
              <p:spPr>
                <a:xfrm>
                  <a:off x="4738702" y="3166983"/>
                  <a:ext cx="130146" cy="257334"/>
                </a:xfrm>
                <a:custGeom>
                  <a:avLst/>
                  <a:gdLst/>
                  <a:ahLst/>
                  <a:cxnLst/>
                  <a:rect l="l" t="t" r="r" b="b"/>
                  <a:pathLst>
                    <a:path w="130146" h="257334">
                      <a:moveTo>
                        <a:pt x="14321" y="10557"/>
                      </a:moveTo>
                      <a:lnTo>
                        <a:pt x="48992" y="2143"/>
                      </a:lnTo>
                      <a:cubicBezTo>
                        <a:pt x="57914" y="0"/>
                        <a:pt x="66978" y="5159"/>
                        <a:pt x="69344" y="13764"/>
                      </a:cubicBezTo>
                      <a:lnTo>
                        <a:pt x="128002" y="226775"/>
                      </a:lnTo>
                      <a:cubicBezTo>
                        <a:pt x="130146" y="234856"/>
                        <a:pt x="125785" y="243242"/>
                        <a:pt x="117937" y="246126"/>
                      </a:cubicBezTo>
                      <a:lnTo>
                        <a:pt x="115826" y="246777"/>
                      </a:lnTo>
                      <a:lnTo>
                        <a:pt x="81155" y="255191"/>
                      </a:lnTo>
                      <a:cubicBezTo>
                        <a:pt x="72233" y="257334"/>
                        <a:pt x="63168" y="252175"/>
                        <a:pt x="60803" y="243571"/>
                      </a:cubicBezTo>
                      <a:lnTo>
                        <a:pt x="2145" y="30559"/>
                      </a:lnTo>
                      <a:cubicBezTo>
                        <a:pt x="0" y="22478"/>
                        <a:pt x="4361" y="14092"/>
                        <a:pt x="12209" y="11208"/>
                      </a:cubicBezTo>
                      <a:lnTo>
                        <a:pt x="14321" y="10557"/>
                      </a:lnTo>
                    </a:path>
                  </a:pathLst>
                </a:custGeom>
                <a:noFill/>
                <a:ln w="31750">
                  <a:solidFill>
                    <a:schemeClr val="accent3"/>
                  </a:solidFill>
                </a:ln>
              </p:spPr>
            </p:sp>
            <p:sp>
              <p:nvSpPr>
                <p:cNvPr id="49" name="Freeform 49"/>
                <p:cNvSpPr/>
                <p:nvPr/>
              </p:nvSpPr>
              <p:spPr>
                <a:xfrm>
                  <a:off x="4756150" y="3232150"/>
                  <a:ext cx="63500" cy="15875"/>
                </a:xfrm>
                <a:custGeom>
                  <a:avLst/>
                  <a:gdLst/>
                  <a:ahLst/>
                  <a:cxnLst/>
                  <a:rect l="l" t="t" r="r" b="b"/>
                  <a:pathLst>
                    <a:path w="63500" h="15875">
                      <a:moveTo>
                        <a:pt x="0" y="15875"/>
                      </a:moveTo>
                      <a:lnTo>
                        <a:pt x="63500" y="0"/>
                      </a:lnTo>
                    </a:path>
                  </a:pathLst>
                </a:custGeom>
                <a:noFill/>
                <a:ln w="31750">
                  <a:solidFill>
                    <a:schemeClr val="accent3"/>
                  </a:solidFill>
                </a:ln>
              </p:spPr>
            </p:sp>
            <p:sp>
              <p:nvSpPr>
                <p:cNvPr id="50" name="Freeform 50"/>
                <p:cNvSpPr/>
                <p:nvPr/>
              </p:nvSpPr>
              <p:spPr>
                <a:xfrm>
                  <a:off x="4787901" y="3343593"/>
                  <a:ext cx="62278" cy="15558"/>
                </a:xfrm>
                <a:custGeom>
                  <a:avLst/>
                  <a:gdLst/>
                  <a:ahLst/>
                  <a:cxnLst/>
                  <a:rect l="l" t="t" r="r" b="b"/>
                  <a:pathLst>
                    <a:path w="62278" h="15558">
                      <a:moveTo>
                        <a:pt x="0" y="15558"/>
                      </a:moveTo>
                      <a:lnTo>
                        <a:pt x="62278" y="0"/>
                      </a:lnTo>
                    </a:path>
                  </a:pathLst>
                </a:custGeom>
                <a:noFill/>
                <a:ln w="31750">
                  <a:solidFill>
                    <a:schemeClr val="accent3"/>
                  </a:solidFill>
                </a:ln>
              </p:spPr>
            </p:sp>
          </p:grpSp>
          <p:sp>
            <p:nvSpPr>
              <p:cNvPr id="52" name="TextBox 52"/>
              <p:cNvSpPr txBox="1"/>
              <p:nvPr/>
            </p:nvSpPr>
            <p:spPr>
              <a:xfrm>
                <a:off x="5059680" y="3095625"/>
                <a:ext cx="86902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CAP-05</a:t>
                </a:r>
              </a:p>
            </p:txBody>
          </p:sp>
          <p:sp>
            <p:nvSpPr>
              <p:cNvPr id="53" name="TextBox 53"/>
              <p:cNvSpPr txBox="1"/>
              <p:nvPr/>
            </p:nvSpPr>
            <p:spPr>
              <a:xfrm>
                <a:off x="5058918" y="3365182"/>
                <a:ext cx="252987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Topics &amp; question bank</a:t>
                </a:r>
              </a:p>
            </p:txBody>
          </p:sp>
          <p:sp>
            <p:nvSpPr>
              <p:cNvPr id="54" name="TextBox 54"/>
              <p:cNvSpPr txBox="1"/>
              <p:nvPr/>
            </p:nvSpPr>
            <p:spPr>
              <a:xfrm>
                <a:off x="5059680" y="3648075"/>
                <a:ext cx="1952402"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Curated by the admin</a:t>
                </a:r>
              </a:p>
            </p:txBody>
          </p:sp>
        </p:grpSp>
        <p:grpSp>
          <p:nvGrpSpPr>
            <p:cNvPr id="64" name="cap-06"/>
            <p:cNvGrpSpPr/>
            <p:nvPr/>
          </p:nvGrpSpPr>
          <p:grpSpPr>
            <a:xfrm>
              <a:off x="8270875" y="3095625"/>
              <a:ext cx="3195370" cy="845820"/>
              <a:chOff x="8270875" y="3095625"/>
              <a:chExt cx="3195370" cy="845820"/>
            </a:xfrm>
          </p:grpSpPr>
          <p:grpSp>
            <p:nvGrpSpPr>
              <p:cNvPr id="60" name="Group 60"/>
              <p:cNvGrpSpPr/>
              <p:nvPr/>
            </p:nvGrpSpPr>
            <p:grpSpPr>
              <a:xfrm>
                <a:off x="8270875" y="3152775"/>
                <a:ext cx="222250" cy="285751"/>
                <a:chOff x="8270875" y="3152775"/>
                <a:chExt cx="222250" cy="285751"/>
              </a:xfrm>
            </p:grpSpPr>
            <p:sp>
              <p:nvSpPr>
                <p:cNvPr id="56" name="Freeform 56"/>
                <p:cNvSpPr/>
                <p:nvPr/>
              </p:nvSpPr>
              <p:spPr>
                <a:xfrm>
                  <a:off x="8270875" y="3152775"/>
                  <a:ext cx="222250" cy="285751"/>
                </a:xfrm>
                <a:custGeom>
                  <a:avLst/>
                  <a:gdLst/>
                  <a:ahLst/>
                  <a:cxnLst/>
                  <a:rect l="l" t="t" r="r" b="b"/>
                  <a:pathLst>
                    <a:path w="222250" h="285751">
                      <a:moveTo>
                        <a:pt x="0" y="31750"/>
                      </a:moveTo>
                      <a:cubicBezTo>
                        <a:pt x="0" y="14215"/>
                        <a:pt x="14215" y="0"/>
                        <a:pt x="31750" y="0"/>
                      </a:cubicBezTo>
                      <a:lnTo>
                        <a:pt x="190500" y="0"/>
                      </a:lnTo>
                      <a:cubicBezTo>
                        <a:pt x="208035" y="0"/>
                        <a:pt x="222250" y="14215"/>
                        <a:pt x="222250" y="31750"/>
                      </a:cubicBezTo>
                      <a:lnTo>
                        <a:pt x="222250" y="254001"/>
                      </a:lnTo>
                      <a:cubicBezTo>
                        <a:pt x="222250" y="271536"/>
                        <a:pt x="208035" y="285751"/>
                        <a:pt x="190500" y="285751"/>
                      </a:cubicBezTo>
                      <a:lnTo>
                        <a:pt x="31750" y="285751"/>
                      </a:lnTo>
                      <a:cubicBezTo>
                        <a:pt x="14215" y="285751"/>
                        <a:pt x="0" y="271536"/>
                        <a:pt x="0" y="254001"/>
                      </a:cubicBezTo>
                      <a:lnTo>
                        <a:pt x="0" y="31750"/>
                      </a:lnTo>
                    </a:path>
                  </a:pathLst>
                </a:custGeom>
                <a:noFill/>
                <a:ln w="31750">
                  <a:solidFill>
                    <a:schemeClr val="accent3"/>
                  </a:solidFill>
                </a:ln>
              </p:spPr>
            </p:sp>
            <p:sp>
              <p:nvSpPr>
                <p:cNvPr id="57" name="Freeform 57"/>
                <p:cNvSpPr/>
                <p:nvPr/>
              </p:nvSpPr>
              <p:spPr>
                <a:xfrm>
                  <a:off x="8334375" y="3216275"/>
                  <a:ext cx="95250" cy="9525"/>
                </a:xfrm>
                <a:custGeom>
                  <a:avLst/>
                  <a:gdLst/>
                  <a:ahLst/>
                  <a:cxnLst/>
                  <a:rect l="l" t="t" r="r" b="b"/>
                  <a:pathLst>
                    <a:path w="95250" h="9525">
                      <a:moveTo>
                        <a:pt x="0" y="0"/>
                      </a:moveTo>
                      <a:lnTo>
                        <a:pt x="95250" y="0"/>
                      </a:lnTo>
                    </a:path>
                  </a:pathLst>
                </a:custGeom>
                <a:noFill/>
                <a:ln w="31750">
                  <a:solidFill>
                    <a:schemeClr val="accent3"/>
                  </a:solidFill>
                </a:ln>
              </p:spPr>
            </p:sp>
            <p:sp>
              <p:nvSpPr>
                <p:cNvPr id="58" name="Freeform 58"/>
                <p:cNvSpPr/>
                <p:nvPr/>
              </p:nvSpPr>
              <p:spPr>
                <a:xfrm>
                  <a:off x="8334375" y="3279775"/>
                  <a:ext cx="95250" cy="9525"/>
                </a:xfrm>
                <a:custGeom>
                  <a:avLst/>
                  <a:gdLst/>
                  <a:ahLst/>
                  <a:cxnLst/>
                  <a:rect l="l" t="t" r="r" b="b"/>
                  <a:pathLst>
                    <a:path w="95250" h="9525">
                      <a:moveTo>
                        <a:pt x="0" y="0"/>
                      </a:moveTo>
                      <a:lnTo>
                        <a:pt x="95250" y="0"/>
                      </a:lnTo>
                    </a:path>
                  </a:pathLst>
                </a:custGeom>
                <a:noFill/>
                <a:ln w="31750">
                  <a:solidFill>
                    <a:schemeClr val="accent3"/>
                  </a:solidFill>
                </a:ln>
              </p:spPr>
            </p:sp>
            <p:sp>
              <p:nvSpPr>
                <p:cNvPr id="59" name="Freeform 59"/>
                <p:cNvSpPr/>
                <p:nvPr/>
              </p:nvSpPr>
              <p:spPr>
                <a:xfrm>
                  <a:off x="8334375" y="3343275"/>
                  <a:ext cx="63500" cy="9525"/>
                </a:xfrm>
                <a:custGeom>
                  <a:avLst/>
                  <a:gdLst/>
                  <a:ahLst/>
                  <a:cxnLst/>
                  <a:rect l="l" t="t" r="r" b="b"/>
                  <a:pathLst>
                    <a:path w="63500" h="9525">
                      <a:moveTo>
                        <a:pt x="0" y="0"/>
                      </a:moveTo>
                      <a:lnTo>
                        <a:pt x="63500" y="0"/>
                      </a:lnTo>
                    </a:path>
                  </a:pathLst>
                </a:custGeom>
                <a:noFill/>
                <a:ln w="31750">
                  <a:solidFill>
                    <a:schemeClr val="accent3"/>
                  </a:solidFill>
                </a:ln>
              </p:spPr>
            </p:sp>
          </p:grpSp>
          <p:sp>
            <p:nvSpPr>
              <p:cNvPr id="61" name="TextBox 61"/>
              <p:cNvSpPr txBox="1"/>
              <p:nvPr/>
            </p:nvSpPr>
            <p:spPr>
              <a:xfrm>
                <a:off x="8717280" y="3095625"/>
                <a:ext cx="86902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CAP-06</a:t>
                </a:r>
              </a:p>
            </p:txBody>
          </p:sp>
          <p:sp>
            <p:nvSpPr>
              <p:cNvPr id="62" name="TextBox 62"/>
              <p:cNvSpPr txBox="1"/>
              <p:nvPr/>
            </p:nvSpPr>
            <p:spPr>
              <a:xfrm>
                <a:off x="8716518" y="3365182"/>
                <a:ext cx="218405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Artifacts &amp; meetings</a:t>
                </a:r>
              </a:p>
            </p:txBody>
          </p:sp>
          <p:sp>
            <p:nvSpPr>
              <p:cNvPr id="63" name="TextBox 63"/>
              <p:cNvSpPr txBox="1"/>
              <p:nvPr/>
            </p:nvSpPr>
            <p:spPr>
              <a:xfrm>
                <a:off x="8717280" y="3648075"/>
                <a:ext cx="2748965"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Requirements, signed minutes</a:t>
                </a:r>
              </a:p>
            </p:txBody>
          </p:sp>
        </p:grpSp>
        <p:grpSp>
          <p:nvGrpSpPr>
            <p:cNvPr id="74" name="cap-07"/>
            <p:cNvGrpSpPr/>
            <p:nvPr/>
          </p:nvGrpSpPr>
          <p:grpSpPr>
            <a:xfrm>
              <a:off x="923925" y="4238625"/>
              <a:ext cx="2962654" cy="845820"/>
              <a:chOff x="923925" y="4238625"/>
              <a:chExt cx="2962654" cy="845820"/>
            </a:xfrm>
          </p:grpSpPr>
          <p:grpSp>
            <p:nvGrpSpPr>
              <p:cNvPr id="70" name="Group 70"/>
              <p:cNvGrpSpPr/>
              <p:nvPr/>
            </p:nvGrpSpPr>
            <p:grpSpPr>
              <a:xfrm>
                <a:off x="923925" y="4295775"/>
                <a:ext cx="285750" cy="279401"/>
                <a:chOff x="923925" y="4295775"/>
                <a:chExt cx="285750" cy="279401"/>
              </a:xfrm>
            </p:grpSpPr>
            <p:sp>
              <p:nvSpPr>
                <p:cNvPr id="65" name="Freeform 65"/>
                <p:cNvSpPr/>
                <p:nvPr/>
              </p:nvSpPr>
              <p:spPr>
                <a:xfrm>
                  <a:off x="987425" y="4565651"/>
                  <a:ext cx="158750" cy="9525"/>
                </a:xfrm>
                <a:custGeom>
                  <a:avLst/>
                  <a:gdLst/>
                  <a:ahLst/>
                  <a:cxnLst/>
                  <a:rect l="l" t="t" r="r" b="b"/>
                  <a:pathLst>
                    <a:path w="158750" h="9525">
                      <a:moveTo>
                        <a:pt x="0" y="0"/>
                      </a:moveTo>
                      <a:lnTo>
                        <a:pt x="158750" y="0"/>
                      </a:lnTo>
                    </a:path>
                  </a:pathLst>
                </a:custGeom>
                <a:noFill/>
                <a:ln w="31750">
                  <a:solidFill>
                    <a:schemeClr val="accent3"/>
                  </a:solidFill>
                </a:ln>
              </p:spPr>
            </p:sp>
            <p:sp>
              <p:nvSpPr>
                <p:cNvPr id="66" name="Freeform 66"/>
                <p:cNvSpPr/>
                <p:nvPr/>
              </p:nvSpPr>
              <p:spPr>
                <a:xfrm>
                  <a:off x="971550" y="4327525"/>
                  <a:ext cx="190500" cy="15875"/>
                </a:xfrm>
                <a:custGeom>
                  <a:avLst/>
                  <a:gdLst/>
                  <a:ahLst/>
                  <a:cxnLst/>
                  <a:rect l="l" t="t" r="r" b="b"/>
                  <a:pathLst>
                    <a:path w="190500" h="15875">
                      <a:moveTo>
                        <a:pt x="0" y="15875"/>
                      </a:moveTo>
                      <a:lnTo>
                        <a:pt x="95250" y="0"/>
                      </a:lnTo>
                      <a:lnTo>
                        <a:pt x="190500" y="15875"/>
                      </a:lnTo>
                    </a:path>
                  </a:pathLst>
                </a:custGeom>
                <a:noFill/>
                <a:ln w="31750">
                  <a:solidFill>
                    <a:schemeClr val="accent3"/>
                  </a:solidFill>
                </a:ln>
              </p:spPr>
            </p:sp>
            <p:sp>
              <p:nvSpPr>
                <p:cNvPr id="67" name="Freeform 67"/>
                <p:cNvSpPr/>
                <p:nvPr/>
              </p:nvSpPr>
              <p:spPr>
                <a:xfrm>
                  <a:off x="1066800" y="4295775"/>
                  <a:ext cx="9525" cy="269876"/>
                </a:xfrm>
                <a:custGeom>
                  <a:avLst/>
                  <a:gdLst/>
                  <a:ahLst/>
                  <a:cxnLst/>
                  <a:rect l="l" t="t" r="r" b="b"/>
                  <a:pathLst>
                    <a:path w="9525" h="269876">
                      <a:moveTo>
                        <a:pt x="0" y="0"/>
                      </a:moveTo>
                      <a:lnTo>
                        <a:pt x="0" y="269876"/>
                      </a:lnTo>
                    </a:path>
                  </a:pathLst>
                </a:custGeom>
                <a:noFill/>
                <a:ln w="31750">
                  <a:solidFill>
                    <a:schemeClr val="accent3"/>
                  </a:solidFill>
                </a:ln>
              </p:spPr>
            </p:sp>
            <p:sp>
              <p:nvSpPr>
                <p:cNvPr id="68" name="Freeform 68"/>
                <p:cNvSpPr/>
                <p:nvPr/>
              </p:nvSpPr>
              <p:spPr>
                <a:xfrm>
                  <a:off x="923925" y="434340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3"/>
                  </a:solidFill>
                </a:ln>
              </p:spPr>
            </p:sp>
            <p:sp>
              <p:nvSpPr>
                <p:cNvPr id="69" name="Freeform 69"/>
                <p:cNvSpPr/>
                <p:nvPr/>
              </p:nvSpPr>
              <p:spPr>
                <a:xfrm>
                  <a:off x="1114425" y="434340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3"/>
                  </a:solidFill>
                </a:ln>
              </p:spPr>
            </p:sp>
          </p:grpSp>
          <p:sp>
            <p:nvSpPr>
              <p:cNvPr id="71" name="TextBox 71"/>
              <p:cNvSpPr txBox="1"/>
              <p:nvPr/>
            </p:nvSpPr>
            <p:spPr>
              <a:xfrm>
                <a:off x="1402080" y="4238625"/>
                <a:ext cx="86902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CAP-07</a:t>
                </a:r>
              </a:p>
            </p:txBody>
          </p:sp>
          <p:sp>
            <p:nvSpPr>
              <p:cNvPr id="72" name="TextBox 72"/>
              <p:cNvSpPr txBox="1"/>
              <p:nvPr/>
            </p:nvSpPr>
            <p:spPr>
              <a:xfrm>
                <a:off x="1401318" y="4508182"/>
                <a:ext cx="248526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3-dimension evaluation</a:t>
                </a:r>
              </a:p>
            </p:txBody>
          </p:sp>
          <p:sp>
            <p:nvSpPr>
              <p:cNvPr id="73" name="TextBox 73"/>
              <p:cNvSpPr txBox="1"/>
              <p:nvPr/>
            </p:nvSpPr>
            <p:spPr>
              <a:xfrm>
                <a:off x="1402080" y="4791075"/>
                <a:ext cx="2411611"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Fit, quality, communication</a:t>
                </a:r>
              </a:p>
            </p:txBody>
          </p:sp>
        </p:grpSp>
        <p:grpSp>
          <p:nvGrpSpPr>
            <p:cNvPr id="83" name="cap-08"/>
            <p:cNvGrpSpPr/>
            <p:nvPr/>
          </p:nvGrpSpPr>
          <p:grpSpPr>
            <a:xfrm>
              <a:off x="4581525" y="4238625"/>
              <a:ext cx="3002433" cy="845820"/>
              <a:chOff x="4581525" y="4238625"/>
              <a:chExt cx="3002433" cy="845820"/>
            </a:xfrm>
          </p:grpSpPr>
          <p:grpSp>
            <p:nvGrpSpPr>
              <p:cNvPr id="79" name="Group 79"/>
              <p:cNvGrpSpPr/>
              <p:nvPr/>
            </p:nvGrpSpPr>
            <p:grpSpPr>
              <a:xfrm>
                <a:off x="4581525" y="4311650"/>
                <a:ext cx="285750" cy="263526"/>
                <a:chOff x="4581525" y="4311650"/>
                <a:chExt cx="285750" cy="263526"/>
              </a:xfrm>
            </p:grpSpPr>
            <p:sp>
              <p:nvSpPr>
                <p:cNvPr id="75" name="Freeform 75"/>
                <p:cNvSpPr/>
                <p:nvPr/>
              </p:nvSpPr>
              <p:spPr>
                <a:xfrm>
                  <a:off x="4581525" y="443865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31750">
                  <a:solidFill>
                    <a:schemeClr val="accent3"/>
                  </a:solidFill>
                </a:ln>
              </p:spPr>
            </p:sp>
            <p:sp>
              <p:nvSpPr>
                <p:cNvPr id="76" name="Freeform 76"/>
                <p:cNvSpPr/>
                <p:nvPr/>
              </p:nvSpPr>
              <p:spPr>
                <a:xfrm>
                  <a:off x="4772025" y="437515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31750">
                  <a:solidFill>
                    <a:schemeClr val="accent3"/>
                  </a:solidFill>
                </a:ln>
              </p:spPr>
            </p:sp>
            <p:sp>
              <p:nvSpPr>
                <p:cNvPr id="77" name="Freeform 77"/>
                <p:cNvSpPr/>
                <p:nvPr/>
              </p:nvSpPr>
              <p:spPr>
                <a:xfrm>
                  <a:off x="4676775" y="4311650"/>
                  <a:ext cx="95250" cy="254001"/>
                </a:xfrm>
                <a:custGeom>
                  <a:avLst/>
                  <a:gdLst/>
                  <a:ahLst/>
                  <a:cxnLst/>
                  <a:rect l="l" t="t" r="r" b="b"/>
                  <a:pathLst>
                    <a:path w="95250" h="254001">
                      <a:moveTo>
                        <a:pt x="0" y="15875"/>
                      </a:moveTo>
                      <a:cubicBezTo>
                        <a:pt x="0" y="7107"/>
                        <a:pt x="7107" y="0"/>
                        <a:pt x="15875" y="0"/>
                      </a:cubicBezTo>
                      <a:lnTo>
                        <a:pt x="79375" y="0"/>
                      </a:lnTo>
                      <a:cubicBezTo>
                        <a:pt x="88143" y="0"/>
                        <a:pt x="95250" y="7107"/>
                        <a:pt x="95250" y="15875"/>
                      </a:cubicBezTo>
                      <a:lnTo>
                        <a:pt x="95250" y="238125"/>
                      </a:lnTo>
                      <a:cubicBezTo>
                        <a:pt x="95250" y="246893"/>
                        <a:pt x="88143" y="254001"/>
                        <a:pt x="79375" y="254001"/>
                      </a:cubicBezTo>
                      <a:lnTo>
                        <a:pt x="15875" y="254001"/>
                      </a:lnTo>
                      <a:cubicBezTo>
                        <a:pt x="7107" y="254001"/>
                        <a:pt x="0" y="246893"/>
                        <a:pt x="0" y="238125"/>
                      </a:cubicBezTo>
                      <a:lnTo>
                        <a:pt x="0" y="15875"/>
                      </a:lnTo>
                    </a:path>
                  </a:pathLst>
                </a:custGeom>
                <a:noFill/>
                <a:ln w="31750">
                  <a:solidFill>
                    <a:schemeClr val="accent3"/>
                  </a:solidFill>
                </a:ln>
              </p:spPr>
            </p:sp>
            <p:sp>
              <p:nvSpPr>
                <p:cNvPr id="78" name="Freeform 78"/>
                <p:cNvSpPr/>
                <p:nvPr/>
              </p:nvSpPr>
              <p:spPr>
                <a:xfrm>
                  <a:off x="4597400" y="4565651"/>
                  <a:ext cx="222250" cy="9525"/>
                </a:xfrm>
                <a:custGeom>
                  <a:avLst/>
                  <a:gdLst/>
                  <a:ahLst/>
                  <a:cxnLst/>
                  <a:rect l="l" t="t" r="r" b="b"/>
                  <a:pathLst>
                    <a:path w="222250" h="9525">
                      <a:moveTo>
                        <a:pt x="0" y="0"/>
                      </a:moveTo>
                      <a:lnTo>
                        <a:pt x="222250" y="0"/>
                      </a:lnTo>
                    </a:path>
                  </a:pathLst>
                </a:custGeom>
                <a:noFill/>
                <a:ln w="31750">
                  <a:solidFill>
                    <a:schemeClr val="accent3"/>
                  </a:solidFill>
                </a:ln>
              </p:spPr>
            </p:sp>
          </p:grpSp>
          <p:sp>
            <p:nvSpPr>
              <p:cNvPr id="80" name="TextBox 80"/>
              <p:cNvSpPr txBox="1"/>
              <p:nvPr/>
            </p:nvSpPr>
            <p:spPr>
              <a:xfrm>
                <a:off x="5059680" y="4238625"/>
                <a:ext cx="86902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CAP-08</a:t>
                </a:r>
              </a:p>
            </p:txBody>
          </p:sp>
          <p:sp>
            <p:nvSpPr>
              <p:cNvPr id="81" name="TextBox 81"/>
              <p:cNvSpPr txBox="1"/>
              <p:nvPr/>
            </p:nvSpPr>
            <p:spPr>
              <a:xfrm>
                <a:off x="5058918" y="4508182"/>
                <a:ext cx="206032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Statistics &amp; reports</a:t>
                </a:r>
              </a:p>
            </p:txBody>
          </p:sp>
          <p:sp>
            <p:nvSpPr>
              <p:cNvPr id="82" name="TextBox 82"/>
              <p:cNvSpPr txBox="1"/>
              <p:nvPr/>
            </p:nvSpPr>
            <p:spPr>
              <a:xfrm>
                <a:off x="5059680" y="4791075"/>
                <a:ext cx="2524278"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Weekly and semester views</a:t>
                </a:r>
              </a:p>
            </p:txBody>
          </p:sp>
        </p:grpSp>
        <p:grpSp>
          <p:nvGrpSpPr>
            <p:cNvPr id="90" name="cap-09"/>
            <p:cNvGrpSpPr/>
            <p:nvPr/>
          </p:nvGrpSpPr>
          <p:grpSpPr>
            <a:xfrm>
              <a:off x="8239919" y="4238625"/>
              <a:ext cx="2889968" cy="845820"/>
              <a:chOff x="8239919" y="4238625"/>
              <a:chExt cx="2889968" cy="845820"/>
            </a:xfrm>
          </p:grpSpPr>
          <p:grpSp>
            <p:nvGrpSpPr>
              <p:cNvPr id="86" name="Group 86"/>
              <p:cNvGrpSpPr/>
              <p:nvPr/>
            </p:nvGrpSpPr>
            <p:grpSpPr>
              <a:xfrm>
                <a:off x="8239919" y="4293558"/>
                <a:ext cx="292926" cy="299652"/>
                <a:chOff x="8239919" y="4293558"/>
                <a:chExt cx="292926" cy="299652"/>
              </a:xfrm>
            </p:grpSpPr>
            <p:sp>
              <p:nvSpPr>
                <p:cNvPr id="84" name="Freeform 84"/>
                <p:cNvSpPr/>
                <p:nvPr/>
              </p:nvSpPr>
              <p:spPr>
                <a:xfrm>
                  <a:off x="8382000" y="4375150"/>
                  <a:ext cx="31750" cy="95250"/>
                </a:xfrm>
                <a:custGeom>
                  <a:avLst/>
                  <a:gdLst/>
                  <a:ahLst/>
                  <a:cxnLst/>
                  <a:rect l="l" t="t" r="r" b="b"/>
                  <a:pathLst>
                    <a:path w="31750" h="95250">
                      <a:moveTo>
                        <a:pt x="0" y="0"/>
                      </a:moveTo>
                      <a:lnTo>
                        <a:pt x="0" y="63500"/>
                      </a:lnTo>
                      <a:lnTo>
                        <a:pt x="31750" y="95250"/>
                      </a:lnTo>
                    </a:path>
                  </a:pathLst>
                </a:custGeom>
                <a:noFill/>
                <a:ln w="31750">
                  <a:solidFill>
                    <a:schemeClr val="accent3"/>
                  </a:solidFill>
                </a:ln>
              </p:spPr>
            </p:sp>
            <p:sp>
              <p:nvSpPr>
                <p:cNvPr id="85" name="Freeform 85"/>
                <p:cNvSpPr/>
                <p:nvPr/>
              </p:nvSpPr>
              <p:spPr>
                <a:xfrm>
                  <a:off x="8239919" y="4293558"/>
                  <a:ext cx="292926" cy="299652"/>
                </a:xfrm>
                <a:custGeom>
                  <a:avLst/>
                  <a:gdLst/>
                  <a:ahLst/>
                  <a:cxnLst/>
                  <a:rect l="l" t="t" r="r" b="b"/>
                  <a:pathLst>
                    <a:path w="292926" h="299652">
                      <a:moveTo>
                        <a:pt x="0" y="129217"/>
                      </a:moveTo>
                      <a:cubicBezTo>
                        <a:pt x="7365" y="56914"/>
                        <a:pt x="67835" y="1660"/>
                        <a:pt x="140508" y="830"/>
                      </a:cubicBezTo>
                      <a:cubicBezTo>
                        <a:pt x="213181" y="0"/>
                        <a:pt x="274897" y="53858"/>
                        <a:pt x="283912" y="125975"/>
                      </a:cubicBezTo>
                      <a:cubicBezTo>
                        <a:pt x="292926" y="198091"/>
                        <a:pt x="246366" y="265484"/>
                        <a:pt x="175725" y="282568"/>
                      </a:cubicBezTo>
                      <a:cubicBezTo>
                        <a:pt x="105084" y="299652"/>
                        <a:pt x="32874" y="260983"/>
                        <a:pt x="7938" y="192717"/>
                      </a:cubicBezTo>
                      <a:moveTo>
                        <a:pt x="0" y="272093"/>
                      </a:moveTo>
                      <a:lnTo>
                        <a:pt x="0" y="192717"/>
                      </a:lnTo>
                      <a:lnTo>
                        <a:pt x="79375" y="192717"/>
                      </a:lnTo>
                    </a:path>
                  </a:pathLst>
                </a:custGeom>
                <a:noFill/>
                <a:ln w="31750">
                  <a:solidFill>
                    <a:schemeClr val="accent3"/>
                  </a:solidFill>
                </a:ln>
              </p:spPr>
            </p:sp>
          </p:grpSp>
          <p:sp>
            <p:nvSpPr>
              <p:cNvPr id="87" name="TextBox 87"/>
              <p:cNvSpPr txBox="1"/>
              <p:nvPr/>
            </p:nvSpPr>
            <p:spPr>
              <a:xfrm>
                <a:off x="8717280" y="4238625"/>
                <a:ext cx="869021"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CAP-09</a:t>
                </a:r>
              </a:p>
            </p:txBody>
          </p:sp>
          <p:sp>
            <p:nvSpPr>
              <p:cNvPr id="88" name="TextBox 88"/>
              <p:cNvSpPr txBox="1"/>
              <p:nvPr/>
            </p:nvSpPr>
            <p:spPr>
              <a:xfrm>
                <a:off x="8716518" y="4508182"/>
                <a:ext cx="105914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Audit trail</a:t>
                </a:r>
              </a:p>
            </p:txBody>
          </p:sp>
          <p:sp>
            <p:nvSpPr>
              <p:cNvPr id="89" name="TextBox 89"/>
              <p:cNvSpPr txBox="1"/>
              <p:nvPr/>
            </p:nvSpPr>
            <p:spPr>
              <a:xfrm>
                <a:off x="8717280" y="4791075"/>
                <a:ext cx="2412607"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Every state change logged</a:t>
                </a:r>
              </a:p>
            </p:txBody>
          </p:sp>
        </p:grpSp>
      </p:grpSp>
      <p:grpSp>
        <p:nvGrpSpPr>
          <p:cNvPr id="94" name="platform-base"/>
          <p:cNvGrpSpPr/>
          <p:nvPr/>
        </p:nvGrpSpPr>
        <p:grpSpPr>
          <a:xfrm>
            <a:off x="609600" y="5638800"/>
            <a:ext cx="10972800" cy="552450"/>
            <a:chOff x="609600" y="5638800"/>
            <a:chExt cx="10972800" cy="552450"/>
          </a:xfrm>
        </p:grpSpPr>
        <p:sp>
          <p:nvSpPr>
            <p:cNvPr id="92" name="Rectangle 92"/>
            <p:cNvSpPr/>
            <p:nvPr/>
          </p:nvSpPr>
          <p:spPr>
            <a:xfrm>
              <a:off x="609600" y="5638800"/>
              <a:ext cx="10972800" cy="552450"/>
            </a:xfrm>
            <a:prstGeom prst="roundRect">
              <a:avLst>
                <a:gd name="adj" fmla="val 20690"/>
              </a:avLst>
            </a:prstGeom>
            <a:solidFill>
              <a:schemeClr val="accent1"/>
            </a:solidFill>
            <a:ln>
              <a:noFill/>
            </a:ln>
          </p:spPr>
        </p:sp>
        <p:sp>
          <p:nvSpPr>
            <p:cNvPr id="93" name="TextBox 93"/>
            <p:cNvSpPr txBox="1"/>
            <p:nvPr/>
          </p:nvSpPr>
          <p:spPr>
            <a:xfrm>
              <a:off x="2792099" y="5799772"/>
              <a:ext cx="6607803" cy="381381"/>
            </a:xfrm>
            <a:prstGeom prst="rect">
              <a:avLst/>
            </a:prstGeom>
            <a:noFill/>
            <a:ln>
              <a:noFill/>
            </a:ln>
          </p:spPr>
          <p:txBody>
            <a:bodyPr wrap="none" lIns="0" tIns="0" rIns="0" bIns="0" anchor="t" anchorCtr="0">
              <a:spAutoFit/>
            </a:bodyPr>
            <a:lstStyle/>
            <a:p>
              <a:pPr algn="ctr"/>
              <a:r>
                <a:rPr lang="en-US" sz="1950" dirty="0">
                  <a:solidFill>
                    <a:srgbClr val="FFFFFF"/>
                  </a:solidFill>
                  <a:latin typeface="+mn-lt"/>
                  <a:ea typeface="+mn-ea"/>
                  <a:cs typeface="+mn-cs"/>
                </a:rPr>
                <a:t>One role-based web platform · REST API · PostgreSQL</a:t>
              </a:r>
            </a:p>
          </p:txBody>
        </p:sp>
      </p:grpSp>
      <p:grpSp>
        <p:nvGrpSpPr>
          <p:cNvPr id="97" name="footer"/>
          <p:cNvGrpSpPr/>
          <p:nvPr/>
        </p:nvGrpSpPr>
        <p:grpSpPr>
          <a:xfrm>
            <a:off x="602742" y="6445568"/>
            <a:ext cx="10986516" cy="264033"/>
            <a:chOff x="602742" y="6445568"/>
            <a:chExt cx="10986516" cy="264033"/>
          </a:xfrm>
        </p:grpSpPr>
        <p:sp>
          <p:nvSpPr>
            <p:cNvPr id="95" name="TextBox 95"/>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96" name="TextBox 96"/>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06 / 13</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1312" y="561975"/>
            <a:ext cx="8509234" cy="1259014"/>
            <a:chOff x="591312" y="561975"/>
            <a:chExt cx="8509234" cy="1259014"/>
          </a:xfrm>
        </p:grpSpPr>
        <p:sp>
          <p:nvSpPr>
            <p:cNvPr id="2" name="TextBox 2"/>
            <p:cNvSpPr txBox="1"/>
            <p:nvPr/>
          </p:nvSpPr>
          <p:spPr>
            <a:xfrm>
              <a:off x="601980" y="561975"/>
              <a:ext cx="2165525"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SOLUTION FLOW</a:t>
              </a:r>
            </a:p>
          </p:txBody>
        </p:sp>
        <p:sp>
          <p:nvSpPr>
            <p:cNvPr id="3" name="TextBox 3"/>
            <p:cNvSpPr txBox="1"/>
            <p:nvPr/>
          </p:nvSpPr>
          <p:spPr>
            <a:xfrm>
              <a:off x="591312" y="849630"/>
              <a:ext cx="8509234"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How it works: one traceable lifecycle</a:t>
              </a:r>
            </a:p>
          </p:txBody>
        </p:sp>
        <p:sp>
          <p:nvSpPr>
            <p:cNvPr id="4" name="TextBox 4"/>
            <p:cNvSpPr txBox="1"/>
            <p:nvPr/>
          </p:nvSpPr>
          <p:spPr>
            <a:xfrm>
              <a:off x="601218" y="1498282"/>
              <a:ext cx="6988380"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Each step produces data that the next step — and the reports — reuse</a:t>
              </a:r>
            </a:p>
          </p:txBody>
        </p:sp>
      </p:grpSp>
      <p:grpSp>
        <p:nvGrpSpPr>
          <p:cNvPr id="42" name="lifecycle"/>
          <p:cNvGrpSpPr/>
          <p:nvPr/>
        </p:nvGrpSpPr>
        <p:grpSpPr>
          <a:xfrm>
            <a:off x="616926" y="2514600"/>
            <a:ext cx="10920556" cy="1769745"/>
            <a:chOff x="616926" y="2514600"/>
            <a:chExt cx="10920556" cy="1769745"/>
          </a:xfrm>
        </p:grpSpPr>
        <p:sp>
          <p:nvSpPr>
            <p:cNvPr id="6" name="Line 6"/>
            <p:cNvSpPr/>
            <p:nvPr/>
          </p:nvSpPr>
          <p:spPr>
            <a:xfrm>
              <a:off x="1047750" y="2857500"/>
              <a:ext cx="10344150" cy="1"/>
            </a:xfrm>
            <a:prstGeom prst="line">
              <a:avLst/>
            </a:prstGeom>
            <a:noFill/>
            <a:ln w="28575">
              <a:solidFill>
                <a:schemeClr val="accent1"/>
              </a:solidFill>
              <a:tailEnd type="triangle" w="lg" len="lg"/>
            </a:ln>
          </p:spPr>
        </p:sp>
        <p:grpSp>
          <p:nvGrpSpPr>
            <p:cNvPr id="11" name="step-1"/>
            <p:cNvGrpSpPr/>
            <p:nvPr/>
          </p:nvGrpSpPr>
          <p:grpSpPr>
            <a:xfrm>
              <a:off x="616926" y="2571750"/>
              <a:ext cx="861648" cy="1712595"/>
              <a:chOff x="616926" y="2571750"/>
              <a:chExt cx="861648" cy="1712595"/>
            </a:xfrm>
          </p:grpSpPr>
          <p:sp>
            <p:nvSpPr>
              <p:cNvPr id="7" name="Ellipse 7"/>
              <p:cNvSpPr/>
              <p:nvPr/>
            </p:nvSpPr>
            <p:spPr>
              <a:xfrm>
                <a:off x="762000" y="2571750"/>
                <a:ext cx="571500" cy="571500"/>
              </a:xfrm>
              <a:prstGeom prst="ellipse">
                <a:avLst/>
              </a:prstGeom>
              <a:solidFill>
                <a:schemeClr val="accent1"/>
              </a:solidFill>
              <a:ln>
                <a:noFill/>
              </a:ln>
            </p:spPr>
          </p:sp>
          <p:sp>
            <p:nvSpPr>
              <p:cNvPr id="8" name="TextBox 8"/>
              <p:cNvSpPr txBox="1"/>
              <p:nvPr/>
            </p:nvSpPr>
            <p:spPr>
              <a:xfrm>
                <a:off x="977596" y="2755582"/>
                <a:ext cx="14030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1</a:t>
                </a:r>
              </a:p>
            </p:txBody>
          </p:sp>
          <p:sp>
            <p:nvSpPr>
              <p:cNvPr id="9" name="TextBox 9"/>
              <p:cNvSpPr txBox="1"/>
              <p:nvPr/>
            </p:nvSpPr>
            <p:spPr>
              <a:xfrm>
                <a:off x="661005" y="3365182"/>
                <a:ext cx="773491" cy="589407"/>
              </a:xfrm>
              <a:prstGeom prst="rect">
                <a:avLst/>
              </a:prstGeom>
              <a:noFill/>
              <a:ln>
                <a:noFill/>
              </a:ln>
            </p:spPr>
            <p:txBody>
              <a:bodyPr wrap="none" lIns="0" tIns="0" rIns="0" bIns="0" anchor="t" anchorCtr="0">
                <a:spAutoFit/>
              </a:bodyPr>
              <a:lstStyle/>
              <a:p>
                <a:pPr algn="ctr">
                  <a:lnSpc>
                    <a:spcPts val="2100"/>
                  </a:lnSpc>
                </a:pPr>
                <a:r>
                  <a:rPr lang="en-US" sz="1650" b="1" dirty="0">
                    <a:solidFill>
                      <a:schemeClr val="accent1"/>
                    </a:solidFill>
                    <a:latin typeface="+mn-lt"/>
                    <a:ea typeface="+mn-ea"/>
                    <a:cs typeface="+mn-cs"/>
                  </a:rPr>
                  <a:t>Publish</a:t>
                </a:r>
                <a:br/>
                <a:r>
                  <a:rPr lang="en-US" sz="1650" b="1" dirty="0">
                    <a:solidFill>
                      <a:schemeClr val="accent1"/>
                    </a:solidFill>
                    <a:latin typeface="+mn-lt"/>
                    <a:ea typeface="+mn-ea"/>
                    <a:cs typeface="+mn-cs"/>
                  </a:rPr>
                  <a:t>slots</a:t>
                </a:r>
              </a:p>
            </p:txBody>
          </p:sp>
          <p:sp>
            <p:nvSpPr>
              <p:cNvPr id="10" name="TextBox 10"/>
              <p:cNvSpPr txBox="1"/>
              <p:nvPr/>
            </p:nvSpPr>
            <p:spPr>
              <a:xfrm>
                <a:off x="616926" y="3990975"/>
                <a:ext cx="861648" cy="293370"/>
              </a:xfrm>
              <a:prstGeom prst="rect">
                <a:avLst/>
              </a:prstGeom>
              <a:noFill/>
              <a:ln>
                <a:noFill/>
              </a:ln>
            </p:spPr>
            <p:txBody>
              <a:bodyPr wrap="none" lIns="0" tIns="0" rIns="0" bIns="0" anchor="t" anchorCtr="0">
                <a:spAutoFit/>
              </a:bodyPr>
              <a:lstStyle/>
              <a:p>
                <a:pPr algn="ctr"/>
                <a:r>
                  <a:rPr lang="en-US" sz="1500" dirty="0">
                    <a:solidFill>
                      <a:schemeClr val="accent5"/>
                    </a:solidFill>
                    <a:latin typeface="+mn-lt"/>
                    <a:ea typeface="+mn-ea"/>
                    <a:cs typeface="+mn-cs"/>
                  </a:rPr>
                  <a:t>Instructor</a:t>
                </a:r>
              </a:p>
            </p:txBody>
          </p:sp>
        </p:grpSp>
        <p:grpSp>
          <p:nvGrpSpPr>
            <p:cNvPr id="16" name="step-2"/>
            <p:cNvGrpSpPr/>
            <p:nvPr/>
          </p:nvGrpSpPr>
          <p:grpSpPr>
            <a:xfrm>
              <a:off x="2048942" y="2571750"/>
              <a:ext cx="1274215" cy="1712595"/>
              <a:chOff x="2048942" y="2571750"/>
              <a:chExt cx="1274215" cy="1712595"/>
            </a:xfrm>
          </p:grpSpPr>
          <p:sp>
            <p:nvSpPr>
              <p:cNvPr id="12" name="Ellipse 12"/>
              <p:cNvSpPr/>
              <p:nvPr/>
            </p:nvSpPr>
            <p:spPr>
              <a:xfrm>
                <a:off x="2400300" y="2571750"/>
                <a:ext cx="571500" cy="571500"/>
              </a:xfrm>
              <a:prstGeom prst="ellipse">
                <a:avLst/>
              </a:prstGeom>
              <a:solidFill>
                <a:schemeClr val="accent1"/>
              </a:solidFill>
              <a:ln>
                <a:noFill/>
              </a:ln>
            </p:spPr>
          </p:sp>
          <p:sp>
            <p:nvSpPr>
              <p:cNvPr id="13" name="TextBox 13"/>
              <p:cNvSpPr txBox="1"/>
              <p:nvPr/>
            </p:nvSpPr>
            <p:spPr>
              <a:xfrm>
                <a:off x="2615896" y="2755582"/>
                <a:ext cx="14030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2</a:t>
                </a:r>
              </a:p>
            </p:txBody>
          </p:sp>
          <p:sp>
            <p:nvSpPr>
              <p:cNvPr id="14" name="TextBox 14"/>
              <p:cNvSpPr txBox="1"/>
              <p:nvPr/>
            </p:nvSpPr>
            <p:spPr>
              <a:xfrm>
                <a:off x="2404017" y="3365182"/>
                <a:ext cx="564067" cy="589407"/>
              </a:xfrm>
              <a:prstGeom prst="rect">
                <a:avLst/>
              </a:prstGeom>
              <a:noFill/>
              <a:ln>
                <a:noFill/>
              </a:ln>
            </p:spPr>
            <p:txBody>
              <a:bodyPr wrap="none" lIns="0" tIns="0" rIns="0" bIns="0" anchor="t" anchorCtr="0">
                <a:spAutoFit/>
              </a:bodyPr>
              <a:lstStyle/>
              <a:p>
                <a:pPr algn="ctr">
                  <a:lnSpc>
                    <a:spcPts val="2100"/>
                  </a:lnSpc>
                </a:pPr>
                <a:r>
                  <a:rPr lang="en-US" sz="1650" b="1" dirty="0">
                    <a:solidFill>
                      <a:schemeClr val="accent1"/>
                    </a:solidFill>
                    <a:latin typeface="+mn-lt"/>
                    <a:ea typeface="+mn-ea"/>
                    <a:cs typeface="+mn-cs"/>
                  </a:rPr>
                  <a:t>Book</a:t>
                </a:r>
                <a:br/>
                <a:r>
                  <a:rPr lang="en-US" sz="1650" b="1" dirty="0">
                    <a:solidFill>
                      <a:schemeClr val="accent1"/>
                    </a:solidFill>
                    <a:latin typeface="+mn-lt"/>
                    <a:ea typeface="+mn-ea"/>
                    <a:cs typeface="+mn-cs"/>
                  </a:rPr>
                  <a:t>a slot</a:t>
                </a:r>
              </a:p>
            </p:txBody>
          </p:sp>
          <p:sp>
            <p:nvSpPr>
              <p:cNvPr id="15" name="TextBox 15"/>
              <p:cNvSpPr txBox="1"/>
              <p:nvPr/>
            </p:nvSpPr>
            <p:spPr>
              <a:xfrm>
                <a:off x="2048942" y="3990975"/>
                <a:ext cx="1274215" cy="293370"/>
              </a:xfrm>
              <a:prstGeom prst="rect">
                <a:avLst/>
              </a:prstGeom>
              <a:noFill/>
              <a:ln>
                <a:noFill/>
              </a:ln>
            </p:spPr>
            <p:txBody>
              <a:bodyPr wrap="none" lIns="0" tIns="0" rIns="0" bIns="0" anchor="t" anchorCtr="0">
                <a:spAutoFit/>
              </a:bodyPr>
              <a:lstStyle/>
              <a:p>
                <a:pPr algn="ctr"/>
                <a:r>
                  <a:rPr lang="en-US" sz="1500" dirty="0">
                    <a:solidFill>
                      <a:schemeClr val="accent5"/>
                    </a:solidFill>
                    <a:latin typeface="+mn-lt"/>
                    <a:ea typeface="+mn-ea"/>
                    <a:cs typeface="+mn-cs"/>
                  </a:rPr>
                  <a:t>Group Leader</a:t>
                </a:r>
              </a:p>
            </p:txBody>
          </p:sp>
        </p:grpSp>
        <p:grpSp>
          <p:nvGrpSpPr>
            <p:cNvPr id="21" name="step-3"/>
            <p:cNvGrpSpPr/>
            <p:nvPr/>
          </p:nvGrpSpPr>
          <p:grpSpPr>
            <a:xfrm>
              <a:off x="3686728" y="2571750"/>
              <a:ext cx="1256193" cy="1712595"/>
              <a:chOff x="3686728" y="2571750"/>
              <a:chExt cx="1256193" cy="1712595"/>
            </a:xfrm>
          </p:grpSpPr>
          <p:sp>
            <p:nvSpPr>
              <p:cNvPr id="17" name="Ellipse 17"/>
              <p:cNvSpPr/>
              <p:nvPr/>
            </p:nvSpPr>
            <p:spPr>
              <a:xfrm>
                <a:off x="4029075" y="2571750"/>
                <a:ext cx="571500" cy="571500"/>
              </a:xfrm>
              <a:prstGeom prst="ellipse">
                <a:avLst/>
              </a:prstGeom>
              <a:solidFill>
                <a:schemeClr val="accent1"/>
              </a:solidFill>
              <a:ln>
                <a:noFill/>
              </a:ln>
            </p:spPr>
          </p:sp>
          <p:sp>
            <p:nvSpPr>
              <p:cNvPr id="18" name="TextBox 18"/>
              <p:cNvSpPr txBox="1"/>
              <p:nvPr/>
            </p:nvSpPr>
            <p:spPr>
              <a:xfrm>
                <a:off x="4244671" y="2755582"/>
                <a:ext cx="14030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3</a:t>
                </a:r>
              </a:p>
            </p:txBody>
          </p:sp>
          <p:sp>
            <p:nvSpPr>
              <p:cNvPr id="19" name="TextBox 19"/>
              <p:cNvSpPr txBox="1"/>
              <p:nvPr/>
            </p:nvSpPr>
            <p:spPr>
              <a:xfrm>
                <a:off x="3916240" y="3365182"/>
                <a:ext cx="797170" cy="589407"/>
              </a:xfrm>
              <a:prstGeom prst="rect">
                <a:avLst/>
              </a:prstGeom>
              <a:noFill/>
              <a:ln>
                <a:noFill/>
              </a:ln>
            </p:spPr>
            <p:txBody>
              <a:bodyPr wrap="none" lIns="0" tIns="0" rIns="0" bIns="0" anchor="t" anchorCtr="0">
                <a:spAutoFit/>
              </a:bodyPr>
              <a:lstStyle/>
              <a:p>
                <a:pPr algn="ctr">
                  <a:lnSpc>
                    <a:spcPts val="2100"/>
                  </a:lnSpc>
                </a:pPr>
                <a:r>
                  <a:rPr lang="en-US" sz="1650" b="1" dirty="0">
                    <a:solidFill>
                      <a:schemeClr val="accent1"/>
                    </a:solidFill>
                    <a:latin typeface="+mn-lt"/>
                    <a:ea typeface="+mn-ea"/>
                    <a:cs typeface="+mn-cs"/>
                  </a:rPr>
                  <a:t>Open</a:t>
                </a:r>
                <a:br/>
                <a:r>
                  <a:rPr lang="en-US" sz="1650" b="1" dirty="0">
                    <a:solidFill>
                      <a:schemeClr val="accent1"/>
                    </a:solidFill>
                    <a:latin typeface="+mn-lt"/>
                    <a:ea typeface="+mn-ea"/>
                    <a:cs typeface="+mn-cs"/>
                  </a:rPr>
                  <a:t>session</a:t>
                </a:r>
              </a:p>
            </p:txBody>
          </p:sp>
          <p:sp>
            <p:nvSpPr>
              <p:cNvPr id="20" name="TextBox 20"/>
              <p:cNvSpPr txBox="1"/>
              <p:nvPr/>
            </p:nvSpPr>
            <p:spPr>
              <a:xfrm>
                <a:off x="3686728" y="3990975"/>
                <a:ext cx="1256193" cy="293370"/>
              </a:xfrm>
              <a:prstGeom prst="rect">
                <a:avLst/>
              </a:prstGeom>
              <a:noFill/>
              <a:ln>
                <a:noFill/>
              </a:ln>
            </p:spPr>
            <p:txBody>
              <a:bodyPr wrap="none" lIns="0" tIns="0" rIns="0" bIns="0" anchor="t" anchorCtr="0">
                <a:spAutoFit/>
              </a:bodyPr>
              <a:lstStyle/>
              <a:p>
                <a:pPr algn="ctr"/>
                <a:r>
                  <a:rPr lang="en-US" sz="1500" dirty="0">
                    <a:solidFill>
                      <a:schemeClr val="accent5"/>
                    </a:solidFill>
                    <a:latin typeface="+mn-lt"/>
                    <a:ea typeface="+mn-ea"/>
                    <a:cs typeface="+mn-cs"/>
                  </a:rPr>
                  <a:t>From booking</a:t>
                </a:r>
              </a:p>
            </p:txBody>
          </p:sp>
        </p:grpSp>
        <p:grpSp>
          <p:nvGrpSpPr>
            <p:cNvPr id="26" name="step-4"/>
            <p:cNvGrpSpPr/>
            <p:nvPr/>
          </p:nvGrpSpPr>
          <p:grpSpPr>
            <a:xfrm>
              <a:off x="5280931" y="2571750"/>
              <a:ext cx="1344389" cy="1712595"/>
              <a:chOff x="5280931" y="2571750"/>
              <a:chExt cx="1344389" cy="1712595"/>
            </a:xfrm>
          </p:grpSpPr>
          <p:sp>
            <p:nvSpPr>
              <p:cNvPr id="22" name="Ellipse 22"/>
              <p:cNvSpPr/>
              <p:nvPr/>
            </p:nvSpPr>
            <p:spPr>
              <a:xfrm>
                <a:off x="5667375" y="2571750"/>
                <a:ext cx="571500" cy="571500"/>
              </a:xfrm>
              <a:prstGeom prst="ellipse">
                <a:avLst/>
              </a:prstGeom>
              <a:solidFill>
                <a:schemeClr val="accent1"/>
              </a:solidFill>
              <a:ln>
                <a:noFill/>
              </a:ln>
            </p:spPr>
          </p:sp>
          <p:sp>
            <p:nvSpPr>
              <p:cNvPr id="23" name="TextBox 23"/>
              <p:cNvSpPr txBox="1"/>
              <p:nvPr/>
            </p:nvSpPr>
            <p:spPr>
              <a:xfrm>
                <a:off x="5882971" y="2755582"/>
                <a:ext cx="14030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4</a:t>
                </a:r>
              </a:p>
            </p:txBody>
          </p:sp>
          <p:sp>
            <p:nvSpPr>
              <p:cNvPr id="24" name="TextBox 24"/>
              <p:cNvSpPr txBox="1"/>
              <p:nvPr/>
            </p:nvSpPr>
            <p:spPr>
              <a:xfrm>
                <a:off x="5280931" y="3365182"/>
                <a:ext cx="1344389" cy="589407"/>
              </a:xfrm>
              <a:prstGeom prst="rect">
                <a:avLst/>
              </a:prstGeom>
              <a:noFill/>
              <a:ln>
                <a:noFill/>
              </a:ln>
            </p:spPr>
            <p:txBody>
              <a:bodyPr wrap="none" lIns="0" tIns="0" rIns="0" bIns="0" anchor="t" anchorCtr="0">
                <a:spAutoFit/>
              </a:bodyPr>
              <a:lstStyle/>
              <a:p>
                <a:pPr algn="ctr">
                  <a:lnSpc>
                    <a:spcPts val="2100"/>
                  </a:lnSpc>
                </a:pPr>
                <a:r>
                  <a:rPr lang="en-US" sz="1650" b="1" dirty="0">
                    <a:solidFill>
                      <a:schemeClr val="accent1"/>
                    </a:solidFill>
                    <a:latin typeface="+mn-lt"/>
                    <a:ea typeface="+mn-ea"/>
                    <a:cs typeface="+mn-cs"/>
                  </a:rPr>
                  <a:t>Log</a:t>
                </a:r>
                <a:br/>
                <a:r>
                  <a:rPr lang="en-US" sz="1650" b="1" dirty="0">
                    <a:solidFill>
                      <a:schemeClr val="accent1"/>
                    </a:solidFill>
                    <a:latin typeface="+mn-lt"/>
                    <a:ea typeface="+mn-ea"/>
                    <a:cs typeface="+mn-cs"/>
                  </a:rPr>
                  <a:t>requirements</a:t>
                </a:r>
              </a:p>
            </p:txBody>
          </p:sp>
          <p:sp>
            <p:nvSpPr>
              <p:cNvPr id="25" name="TextBox 25"/>
              <p:cNvSpPr txBox="1"/>
              <p:nvPr/>
            </p:nvSpPr>
            <p:spPr>
              <a:xfrm>
                <a:off x="5410058" y="3990975"/>
                <a:ext cx="1086135" cy="293370"/>
              </a:xfrm>
              <a:prstGeom prst="rect">
                <a:avLst/>
              </a:prstGeom>
              <a:noFill/>
              <a:ln>
                <a:noFill/>
              </a:ln>
            </p:spPr>
            <p:txBody>
              <a:bodyPr wrap="none" lIns="0" tIns="0" rIns="0" bIns="0" anchor="t" anchorCtr="0">
                <a:spAutoFit/>
              </a:bodyPr>
              <a:lstStyle/>
              <a:p>
                <a:pPr algn="ctr"/>
                <a:r>
                  <a:rPr lang="en-US" sz="1500" dirty="0">
                    <a:solidFill>
                      <a:schemeClr val="accent5"/>
                    </a:solidFill>
                    <a:latin typeface="+mn-lt"/>
                    <a:ea typeface="+mn-ea"/>
                    <a:cs typeface="+mn-cs"/>
                  </a:rPr>
                  <a:t>With priority</a:t>
                </a:r>
              </a:p>
            </p:txBody>
          </p:sp>
        </p:grpSp>
        <p:grpSp>
          <p:nvGrpSpPr>
            <p:cNvPr id="31" name="step-5"/>
            <p:cNvGrpSpPr/>
            <p:nvPr/>
          </p:nvGrpSpPr>
          <p:grpSpPr>
            <a:xfrm>
              <a:off x="6685203" y="2514600"/>
              <a:ext cx="1812443" cy="1769745"/>
              <a:chOff x="6685203" y="2514600"/>
              <a:chExt cx="1812443" cy="1769745"/>
            </a:xfrm>
          </p:grpSpPr>
          <p:sp>
            <p:nvSpPr>
              <p:cNvPr id="27" name="Ellipse 27"/>
              <p:cNvSpPr/>
              <p:nvPr/>
            </p:nvSpPr>
            <p:spPr>
              <a:xfrm>
                <a:off x="7248525" y="2514600"/>
                <a:ext cx="685800" cy="685800"/>
              </a:xfrm>
              <a:prstGeom prst="ellipse">
                <a:avLst/>
              </a:prstGeom>
              <a:solidFill>
                <a:schemeClr val="accent2"/>
              </a:solidFill>
              <a:ln>
                <a:noFill/>
              </a:ln>
            </p:spPr>
          </p:sp>
          <p:sp>
            <p:nvSpPr>
              <p:cNvPr id="28" name="TextBox 28"/>
              <p:cNvSpPr txBox="1"/>
              <p:nvPr/>
            </p:nvSpPr>
            <p:spPr>
              <a:xfrm>
                <a:off x="7521271" y="2755582"/>
                <a:ext cx="14030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5</a:t>
                </a:r>
              </a:p>
            </p:txBody>
          </p:sp>
          <p:sp>
            <p:nvSpPr>
              <p:cNvPr id="29" name="TextBox 29"/>
              <p:cNvSpPr txBox="1"/>
              <p:nvPr/>
            </p:nvSpPr>
            <p:spPr>
              <a:xfrm>
                <a:off x="7181336" y="3365182"/>
                <a:ext cx="820179" cy="589407"/>
              </a:xfrm>
              <a:prstGeom prst="rect">
                <a:avLst/>
              </a:prstGeom>
              <a:noFill/>
              <a:ln>
                <a:noFill/>
              </a:ln>
            </p:spPr>
            <p:txBody>
              <a:bodyPr wrap="none" lIns="0" tIns="0" rIns="0" bIns="0" anchor="t" anchorCtr="0">
                <a:spAutoFit/>
              </a:bodyPr>
              <a:lstStyle/>
              <a:p>
                <a:pPr algn="ctr">
                  <a:lnSpc>
                    <a:spcPts val="2100"/>
                  </a:lnSpc>
                </a:pPr>
                <a:r>
                  <a:rPr lang="en-US" sz="1650" b="1" dirty="0">
                    <a:solidFill>
                      <a:schemeClr val="accent1"/>
                    </a:solidFill>
                    <a:latin typeface="+mn-lt"/>
                    <a:ea typeface="+mn-ea"/>
                    <a:cs typeface="+mn-cs"/>
                  </a:rPr>
                  <a:t>Sign</a:t>
                </a:r>
                <a:br/>
                <a:r>
                  <a:rPr lang="en-US" sz="1650" b="1" dirty="0">
                    <a:solidFill>
                      <a:schemeClr val="accent1"/>
                    </a:solidFill>
                    <a:latin typeface="+mn-lt"/>
                    <a:ea typeface="+mn-ea"/>
                    <a:cs typeface="+mn-cs"/>
                  </a:rPr>
                  <a:t>minutes</a:t>
                </a:r>
              </a:p>
            </p:txBody>
          </p:sp>
          <p:sp>
            <p:nvSpPr>
              <p:cNvPr id="30" name="TextBox 30"/>
              <p:cNvSpPr txBox="1"/>
              <p:nvPr/>
            </p:nvSpPr>
            <p:spPr>
              <a:xfrm>
                <a:off x="6685203" y="3990975"/>
                <a:ext cx="1812443" cy="293370"/>
              </a:xfrm>
              <a:prstGeom prst="rect">
                <a:avLst/>
              </a:prstGeom>
              <a:noFill/>
              <a:ln>
                <a:noFill/>
              </a:ln>
            </p:spPr>
            <p:txBody>
              <a:bodyPr wrap="none" lIns="0" tIns="0" rIns="0" bIns="0" anchor="t" anchorCtr="0">
                <a:spAutoFit/>
              </a:bodyPr>
              <a:lstStyle/>
              <a:p>
                <a:pPr algn="ctr"/>
                <a:r>
                  <a:rPr lang="en-US" sz="1500" dirty="0">
                    <a:solidFill>
                      <a:schemeClr val="accent5"/>
                    </a:solidFill>
                    <a:latin typeface="+mn-lt"/>
                    <a:ea typeface="+mn-ea"/>
                    <a:cs typeface="+mn-cs"/>
                  </a:rPr>
                  <a:t>Leader → Instructor</a:t>
                </a:r>
              </a:p>
            </p:txBody>
          </p:sp>
        </p:grpSp>
        <p:grpSp>
          <p:nvGrpSpPr>
            <p:cNvPr id="36" name="step-6"/>
            <p:cNvGrpSpPr/>
            <p:nvPr/>
          </p:nvGrpSpPr>
          <p:grpSpPr>
            <a:xfrm>
              <a:off x="8617654" y="2571750"/>
              <a:ext cx="1205092" cy="1712595"/>
              <a:chOff x="8617654" y="2571750"/>
              <a:chExt cx="1205092" cy="1712595"/>
            </a:xfrm>
          </p:grpSpPr>
          <p:sp>
            <p:nvSpPr>
              <p:cNvPr id="32" name="Ellipse 32"/>
              <p:cNvSpPr/>
              <p:nvPr/>
            </p:nvSpPr>
            <p:spPr>
              <a:xfrm>
                <a:off x="8934450" y="2571750"/>
                <a:ext cx="571500" cy="571500"/>
              </a:xfrm>
              <a:prstGeom prst="ellipse">
                <a:avLst/>
              </a:prstGeom>
              <a:solidFill>
                <a:schemeClr val="accent1"/>
              </a:solidFill>
              <a:ln>
                <a:noFill/>
              </a:ln>
            </p:spPr>
          </p:sp>
          <p:sp>
            <p:nvSpPr>
              <p:cNvPr id="33" name="TextBox 33"/>
              <p:cNvSpPr txBox="1"/>
              <p:nvPr/>
            </p:nvSpPr>
            <p:spPr>
              <a:xfrm>
                <a:off x="9150046" y="2755582"/>
                <a:ext cx="14030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6</a:t>
                </a:r>
              </a:p>
            </p:txBody>
          </p:sp>
          <p:sp>
            <p:nvSpPr>
              <p:cNvPr id="34" name="TextBox 34"/>
              <p:cNvSpPr txBox="1"/>
              <p:nvPr/>
            </p:nvSpPr>
            <p:spPr>
              <a:xfrm>
                <a:off x="8780837" y="3365182"/>
                <a:ext cx="878727" cy="589407"/>
              </a:xfrm>
              <a:prstGeom prst="rect">
                <a:avLst/>
              </a:prstGeom>
              <a:noFill/>
              <a:ln>
                <a:noFill/>
              </a:ln>
            </p:spPr>
            <p:txBody>
              <a:bodyPr wrap="none" lIns="0" tIns="0" rIns="0" bIns="0" anchor="t" anchorCtr="0">
                <a:spAutoFit/>
              </a:bodyPr>
              <a:lstStyle/>
              <a:p>
                <a:pPr algn="ctr">
                  <a:lnSpc>
                    <a:spcPts val="2100"/>
                  </a:lnSpc>
                </a:pPr>
                <a:r>
                  <a:rPr lang="en-US" sz="1650" b="1" dirty="0">
                    <a:solidFill>
                      <a:schemeClr val="accent1"/>
                    </a:solidFill>
                    <a:latin typeface="+mn-lt"/>
                    <a:ea typeface="+mn-ea"/>
                    <a:cs typeface="+mn-cs"/>
                  </a:rPr>
                  <a:t>Evaluate</a:t>
                </a:r>
                <a:br/>
                <a:r>
                  <a:rPr lang="en-US" sz="1650" b="1" dirty="0">
                    <a:solidFill>
                      <a:schemeClr val="accent1"/>
                    </a:solidFill>
                    <a:latin typeface="+mn-lt"/>
                    <a:ea typeface="+mn-ea"/>
                    <a:cs typeface="+mn-cs"/>
                  </a:rPr>
                  <a:t>group</a:t>
                </a:r>
              </a:p>
            </p:txBody>
          </p:sp>
          <p:sp>
            <p:nvSpPr>
              <p:cNvPr id="35" name="TextBox 35"/>
              <p:cNvSpPr txBox="1"/>
              <p:nvPr/>
            </p:nvSpPr>
            <p:spPr>
              <a:xfrm>
                <a:off x="8617654" y="3990975"/>
                <a:ext cx="1205092" cy="293370"/>
              </a:xfrm>
              <a:prstGeom prst="rect">
                <a:avLst/>
              </a:prstGeom>
              <a:noFill/>
              <a:ln>
                <a:noFill/>
              </a:ln>
            </p:spPr>
            <p:txBody>
              <a:bodyPr wrap="none" lIns="0" tIns="0" rIns="0" bIns="0" anchor="t" anchorCtr="0">
                <a:spAutoFit/>
              </a:bodyPr>
              <a:lstStyle/>
              <a:p>
                <a:pPr algn="ctr"/>
                <a:r>
                  <a:rPr lang="en-US" sz="1500" dirty="0">
                    <a:solidFill>
                      <a:schemeClr val="accent5"/>
                    </a:solidFill>
                    <a:latin typeface="+mn-lt"/>
                    <a:ea typeface="+mn-ea"/>
                    <a:cs typeface="+mn-cs"/>
                  </a:rPr>
                  <a:t>3 dimensions</a:t>
                </a:r>
              </a:p>
            </p:txBody>
          </p:sp>
        </p:grpSp>
        <p:grpSp>
          <p:nvGrpSpPr>
            <p:cNvPr id="41" name="step-7"/>
            <p:cNvGrpSpPr/>
            <p:nvPr/>
          </p:nvGrpSpPr>
          <p:grpSpPr>
            <a:xfrm>
              <a:off x="9989018" y="2571750"/>
              <a:ext cx="1548464" cy="1712595"/>
              <a:chOff x="9989018" y="2571750"/>
              <a:chExt cx="1548464" cy="1712595"/>
            </a:xfrm>
          </p:grpSpPr>
          <p:sp>
            <p:nvSpPr>
              <p:cNvPr id="37" name="Ellipse 37"/>
              <p:cNvSpPr/>
              <p:nvPr/>
            </p:nvSpPr>
            <p:spPr>
              <a:xfrm>
                <a:off x="10477500" y="2571750"/>
                <a:ext cx="571500" cy="571500"/>
              </a:xfrm>
              <a:prstGeom prst="ellipse">
                <a:avLst/>
              </a:prstGeom>
              <a:solidFill>
                <a:schemeClr val="accent1"/>
              </a:solidFill>
              <a:ln>
                <a:noFill/>
              </a:ln>
            </p:spPr>
          </p:sp>
          <p:sp>
            <p:nvSpPr>
              <p:cNvPr id="38" name="TextBox 38"/>
              <p:cNvSpPr txBox="1"/>
              <p:nvPr/>
            </p:nvSpPr>
            <p:spPr>
              <a:xfrm>
                <a:off x="10693096" y="2755582"/>
                <a:ext cx="14030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7</a:t>
                </a:r>
              </a:p>
            </p:txBody>
          </p:sp>
          <p:sp>
            <p:nvSpPr>
              <p:cNvPr id="39" name="TextBox 39"/>
              <p:cNvSpPr txBox="1"/>
              <p:nvPr/>
            </p:nvSpPr>
            <p:spPr>
              <a:xfrm>
                <a:off x="10306494" y="3365182"/>
                <a:ext cx="913512" cy="589407"/>
              </a:xfrm>
              <a:prstGeom prst="rect">
                <a:avLst/>
              </a:prstGeom>
              <a:noFill/>
              <a:ln>
                <a:noFill/>
              </a:ln>
            </p:spPr>
            <p:txBody>
              <a:bodyPr wrap="none" lIns="0" tIns="0" rIns="0" bIns="0" anchor="t" anchorCtr="0">
                <a:spAutoFit/>
              </a:bodyPr>
              <a:lstStyle/>
              <a:p>
                <a:pPr algn="ctr">
                  <a:lnSpc>
                    <a:spcPts val="2100"/>
                  </a:lnSpc>
                </a:pPr>
                <a:r>
                  <a:rPr lang="en-US" sz="1650" b="1" dirty="0">
                    <a:solidFill>
                      <a:schemeClr val="accent1"/>
                    </a:solidFill>
                    <a:latin typeface="+mn-lt"/>
                    <a:ea typeface="+mn-ea"/>
                    <a:cs typeface="+mn-cs"/>
                  </a:rPr>
                  <a:t>Report</a:t>
                </a:r>
                <a:br/>
                <a:r>
                  <a:rPr lang="en-US" sz="1650" b="1" dirty="0">
                    <a:solidFill>
                      <a:schemeClr val="accent1"/>
                    </a:solidFill>
                    <a:latin typeface="+mn-lt"/>
                    <a:ea typeface="+mn-ea"/>
                    <a:cs typeface="+mn-cs"/>
                  </a:rPr>
                  <a:t>progress</a:t>
                </a:r>
              </a:p>
            </p:txBody>
          </p:sp>
          <p:sp>
            <p:nvSpPr>
              <p:cNvPr id="40" name="TextBox 40"/>
              <p:cNvSpPr txBox="1"/>
              <p:nvPr/>
            </p:nvSpPr>
            <p:spPr>
              <a:xfrm>
                <a:off x="9989018" y="3990975"/>
                <a:ext cx="1548464" cy="293370"/>
              </a:xfrm>
              <a:prstGeom prst="rect">
                <a:avLst/>
              </a:prstGeom>
              <a:noFill/>
              <a:ln>
                <a:noFill/>
              </a:ln>
            </p:spPr>
            <p:txBody>
              <a:bodyPr wrap="none" lIns="0" tIns="0" rIns="0" bIns="0" anchor="t" anchorCtr="0">
                <a:spAutoFit/>
              </a:bodyPr>
              <a:lstStyle/>
              <a:p>
                <a:pPr algn="ctr"/>
                <a:r>
                  <a:rPr lang="en-US" sz="1500" dirty="0">
                    <a:solidFill>
                      <a:schemeClr val="accent5"/>
                    </a:solidFill>
                    <a:latin typeface="+mn-lt"/>
                    <a:ea typeface="+mn-ea"/>
                    <a:cs typeface="+mn-cs"/>
                  </a:rPr>
                  <a:t>Week · semester</a:t>
                </a:r>
              </a:p>
            </p:txBody>
          </p:sp>
        </p:grpSp>
      </p:grpSp>
      <p:grpSp>
        <p:nvGrpSpPr>
          <p:cNvPr id="48" name="audit-band"/>
          <p:cNvGrpSpPr/>
          <p:nvPr/>
        </p:nvGrpSpPr>
        <p:grpSpPr>
          <a:xfrm>
            <a:off x="609600" y="4876800"/>
            <a:ext cx="10972800" cy="685800"/>
            <a:chOff x="609600" y="4876800"/>
            <a:chExt cx="10972800" cy="685800"/>
          </a:xfrm>
        </p:grpSpPr>
        <p:sp>
          <p:nvSpPr>
            <p:cNvPr id="43" name="Rectangle 43"/>
            <p:cNvSpPr/>
            <p:nvPr/>
          </p:nvSpPr>
          <p:spPr>
            <a:xfrm>
              <a:off x="609600" y="4876800"/>
              <a:ext cx="10972800" cy="685800"/>
            </a:xfrm>
            <a:prstGeom prst="roundRect">
              <a:avLst>
                <a:gd name="adj" fmla="val 16667"/>
              </a:avLst>
            </a:prstGeom>
            <a:solidFill>
              <a:schemeClr val="lt1"/>
            </a:solidFill>
            <a:ln w="19050">
              <a:solidFill>
                <a:schemeClr val="accent3"/>
              </a:solidFill>
              <a:prstDash val="lgDash"/>
            </a:ln>
          </p:spPr>
        </p:sp>
        <p:grpSp>
          <p:nvGrpSpPr>
            <p:cNvPr id="46" name="Group 46"/>
            <p:cNvGrpSpPr/>
            <p:nvPr/>
          </p:nvGrpSpPr>
          <p:grpSpPr>
            <a:xfrm>
              <a:off x="919877" y="5089117"/>
              <a:ext cx="263633" cy="269686"/>
              <a:chOff x="919877" y="5089117"/>
              <a:chExt cx="263633" cy="269686"/>
            </a:xfrm>
          </p:grpSpPr>
          <p:sp>
            <p:nvSpPr>
              <p:cNvPr id="44" name="Freeform 44"/>
              <p:cNvSpPr/>
              <p:nvPr/>
            </p:nvSpPr>
            <p:spPr>
              <a:xfrm>
                <a:off x="1047750" y="5162550"/>
                <a:ext cx="28575" cy="85725"/>
              </a:xfrm>
              <a:custGeom>
                <a:avLst/>
                <a:gdLst/>
                <a:ahLst/>
                <a:cxnLst/>
                <a:rect l="l" t="t" r="r" b="b"/>
                <a:pathLst>
                  <a:path w="28575" h="85725">
                    <a:moveTo>
                      <a:pt x="0" y="0"/>
                    </a:moveTo>
                    <a:lnTo>
                      <a:pt x="0" y="57150"/>
                    </a:lnTo>
                    <a:lnTo>
                      <a:pt x="28575" y="85725"/>
                    </a:lnTo>
                  </a:path>
                </a:pathLst>
              </a:custGeom>
              <a:noFill/>
              <a:ln w="28575">
                <a:solidFill>
                  <a:schemeClr val="accent3"/>
                </a:solidFill>
              </a:ln>
            </p:spPr>
          </p:sp>
          <p:sp>
            <p:nvSpPr>
              <p:cNvPr id="45" name="Freeform 45"/>
              <p:cNvSpPr/>
              <p:nvPr/>
            </p:nvSpPr>
            <p:spPr>
              <a:xfrm>
                <a:off x="919877" y="5089117"/>
                <a:ext cx="263633" cy="269686"/>
              </a:xfrm>
              <a:custGeom>
                <a:avLst/>
                <a:gdLst/>
                <a:ahLst/>
                <a:cxnLst/>
                <a:rect l="l" t="t" r="r" b="b"/>
                <a:pathLst>
                  <a:path w="263633" h="269686">
                    <a:moveTo>
                      <a:pt x="0" y="116295"/>
                    </a:moveTo>
                    <a:cubicBezTo>
                      <a:pt x="6629" y="51222"/>
                      <a:pt x="61051" y="1494"/>
                      <a:pt x="126457" y="747"/>
                    </a:cubicBezTo>
                    <a:cubicBezTo>
                      <a:pt x="191863" y="0"/>
                      <a:pt x="247407" y="48472"/>
                      <a:pt x="255520" y="113377"/>
                    </a:cubicBezTo>
                    <a:cubicBezTo>
                      <a:pt x="263633" y="178282"/>
                      <a:pt x="221729" y="238935"/>
                      <a:pt x="158152" y="254311"/>
                    </a:cubicBezTo>
                    <a:cubicBezTo>
                      <a:pt x="94575" y="269686"/>
                      <a:pt x="29586" y="234885"/>
                      <a:pt x="7144" y="173445"/>
                    </a:cubicBezTo>
                    <a:moveTo>
                      <a:pt x="0" y="244883"/>
                    </a:moveTo>
                    <a:lnTo>
                      <a:pt x="0" y="173445"/>
                    </a:lnTo>
                    <a:lnTo>
                      <a:pt x="71438" y="173445"/>
                    </a:lnTo>
                  </a:path>
                </a:pathLst>
              </a:custGeom>
              <a:noFill/>
              <a:ln w="28575">
                <a:solidFill>
                  <a:schemeClr val="accent3"/>
                </a:solidFill>
              </a:ln>
            </p:spPr>
          </p:sp>
        </p:grpSp>
        <p:sp>
          <p:nvSpPr>
            <p:cNvPr id="47" name="TextBox 47"/>
            <p:cNvSpPr txBox="1"/>
            <p:nvPr/>
          </p:nvSpPr>
          <p:spPr>
            <a:xfrm>
              <a:off x="1380744" y="5094922"/>
              <a:ext cx="7366025"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Audit trail</a:t>
              </a:r>
              <a:r>
                <a:rPr lang="en-US" sz="1950" dirty="0">
                  <a:solidFill>
                    <a:schemeClr val="dk1"/>
                  </a:solidFill>
                  <a:latin typeface="+mn-lt"/>
                  <a:ea typeface="+mn-ea"/>
                  <a:cs typeface="+mn-cs"/>
                </a:rPr>
                <a:t xml:space="preserve"> records every step — who changed what, and when</a:t>
              </a:r>
            </a:p>
          </p:txBody>
        </p:sp>
      </p:grpSp>
      <p:grpSp>
        <p:nvGrpSpPr>
          <p:cNvPr id="51" name="footer"/>
          <p:cNvGrpSpPr/>
          <p:nvPr/>
        </p:nvGrpSpPr>
        <p:grpSpPr>
          <a:xfrm>
            <a:off x="602742" y="6445568"/>
            <a:ext cx="10986516" cy="264033"/>
            <a:chOff x="602742" y="6445568"/>
            <a:chExt cx="10986516" cy="264033"/>
          </a:xfrm>
        </p:grpSpPr>
        <p:sp>
          <p:nvSpPr>
            <p:cNvPr id="49" name="TextBox 49"/>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50" name="TextBox 50"/>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07 / 13</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9207851" cy="991743"/>
            <a:chOff x="591312" y="561975"/>
            <a:chExt cx="9207851" cy="991743"/>
          </a:xfrm>
        </p:grpSpPr>
        <p:sp>
          <p:nvSpPr>
            <p:cNvPr id="2" name="TextBox 2"/>
            <p:cNvSpPr txBox="1"/>
            <p:nvPr/>
          </p:nvSpPr>
          <p:spPr>
            <a:xfrm>
              <a:off x="601980" y="561975"/>
              <a:ext cx="1064331"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ACTORS</a:t>
              </a:r>
            </a:p>
          </p:txBody>
        </p:sp>
        <p:sp>
          <p:nvSpPr>
            <p:cNvPr id="3" name="TextBox 3"/>
            <p:cNvSpPr txBox="1"/>
            <p:nvPr/>
          </p:nvSpPr>
          <p:spPr>
            <a:xfrm>
              <a:off x="591312" y="849630"/>
              <a:ext cx="9207851"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Four roles, each with the rights it needs</a:t>
              </a:r>
            </a:p>
          </p:txBody>
        </p:sp>
      </p:grpSp>
      <p:grpSp>
        <p:nvGrpSpPr>
          <p:cNvPr id="11" name="actor-student"/>
          <p:cNvGrpSpPr/>
          <p:nvPr/>
        </p:nvGrpSpPr>
        <p:grpSpPr>
          <a:xfrm>
            <a:off x="609600" y="1676400"/>
            <a:ext cx="2571750" cy="3314700"/>
            <a:chOff x="609600" y="1676400"/>
            <a:chExt cx="2571750" cy="3314700"/>
          </a:xfrm>
        </p:grpSpPr>
        <p:sp>
          <p:nvSpPr>
            <p:cNvPr id="5" name="Rectangle 5"/>
            <p:cNvSpPr/>
            <p:nvPr/>
          </p:nvSpPr>
          <p:spPr>
            <a:xfrm>
              <a:off x="609600" y="1676400"/>
              <a:ext cx="2571750" cy="3314700"/>
            </a:xfrm>
            <a:prstGeom prst="roundRect">
              <a:avLst>
                <a:gd name="adj" fmla="val 4444"/>
              </a:avLst>
            </a:prstGeom>
            <a:solidFill>
              <a:schemeClr val="lt2"/>
            </a:solidFill>
            <a:ln>
              <a:noFill/>
            </a:ln>
          </p:spPr>
        </p:sp>
        <p:grpSp>
          <p:nvGrpSpPr>
            <p:cNvPr id="8" name="Group 8"/>
            <p:cNvGrpSpPr/>
            <p:nvPr/>
          </p:nvGrpSpPr>
          <p:grpSpPr>
            <a:xfrm>
              <a:off x="981075" y="1957387"/>
              <a:ext cx="209550" cy="314325"/>
              <a:chOff x="981075" y="1957387"/>
              <a:chExt cx="209550" cy="314325"/>
            </a:xfrm>
          </p:grpSpPr>
          <p:sp>
            <p:nvSpPr>
              <p:cNvPr id="6" name="Freeform 6"/>
              <p:cNvSpPr/>
              <p:nvPr/>
            </p:nvSpPr>
            <p:spPr>
              <a:xfrm>
                <a:off x="1016000" y="195738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34925">
                <a:solidFill>
                  <a:schemeClr val="accent3"/>
                </a:solidFill>
              </a:ln>
            </p:spPr>
          </p:sp>
          <p:sp>
            <p:nvSpPr>
              <p:cNvPr id="7" name="Freeform 7"/>
              <p:cNvSpPr/>
              <p:nvPr/>
            </p:nvSpPr>
            <p:spPr>
              <a:xfrm>
                <a:off x="981075" y="2166937"/>
                <a:ext cx="209550" cy="104775"/>
              </a:xfrm>
              <a:custGeom>
                <a:avLst/>
                <a:gdLst/>
                <a:ahLst/>
                <a:cxnLst/>
                <a:rect l="l" t="t" r="r" b="b"/>
                <a:pathLst>
                  <a:path w="209550" h="104775">
                    <a:moveTo>
                      <a:pt x="0" y="104775"/>
                    </a:moveTo>
                    <a:lnTo>
                      <a:pt x="0" y="69850"/>
                    </a:lnTo>
                    <a:cubicBezTo>
                      <a:pt x="0" y="31273"/>
                      <a:pt x="31273" y="0"/>
                      <a:pt x="69850" y="0"/>
                    </a:cubicBezTo>
                    <a:lnTo>
                      <a:pt x="139700" y="0"/>
                    </a:lnTo>
                    <a:cubicBezTo>
                      <a:pt x="178277" y="0"/>
                      <a:pt x="209550" y="31273"/>
                      <a:pt x="209550" y="69850"/>
                    </a:cubicBezTo>
                    <a:lnTo>
                      <a:pt x="209550" y="104775"/>
                    </a:lnTo>
                  </a:path>
                </a:pathLst>
              </a:custGeom>
              <a:noFill/>
              <a:ln w="34925">
                <a:solidFill>
                  <a:schemeClr val="accent3"/>
                </a:solidFill>
              </a:ln>
            </p:spPr>
          </p:sp>
        </p:grpSp>
        <p:sp>
          <p:nvSpPr>
            <p:cNvPr id="9" name="TextBox 9"/>
            <p:cNvSpPr txBox="1"/>
            <p:nvPr/>
          </p:nvSpPr>
          <p:spPr>
            <a:xfrm>
              <a:off x="865632" y="2497455"/>
              <a:ext cx="1081947"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Student</a:t>
              </a:r>
            </a:p>
          </p:txBody>
        </p:sp>
        <p:sp>
          <p:nvSpPr>
            <p:cNvPr id="10" name="TextBox 10"/>
            <p:cNvSpPr txBox="1"/>
            <p:nvPr/>
          </p:nvSpPr>
          <p:spPr>
            <a:xfrm>
              <a:off x="868680" y="3019425"/>
              <a:ext cx="1836801" cy="1264920"/>
            </a:xfrm>
            <a:prstGeom prst="rect">
              <a:avLst/>
            </a:prstGeom>
            <a:noFill/>
            <a:ln>
              <a:noFill/>
            </a:ln>
          </p:spPr>
          <p:txBody>
            <a:bodyPr wrap="none" lIns="0" tIns="0" rIns="0" bIns="0" anchor="t" anchorCtr="0">
              <a:spAutoFit/>
            </a:bodyPr>
            <a:lstStyle/>
            <a:p>
              <a:pPr algn="l">
                <a:lnSpc>
                  <a:spcPts val="2550"/>
                </a:lnSpc>
              </a:pPr>
              <a:r>
                <a:rPr lang="en-US" sz="1500" dirty="0">
                  <a:solidFill>
                    <a:schemeClr val="dk1"/>
                  </a:solidFill>
                  <a:latin typeface="+mn-lt"/>
                  <a:ea typeface="+mn-ea"/>
                  <a:cs typeface="+mn-cs"/>
                </a:rPr>
                <a:t>View own schedule</a:t>
              </a:r>
              <a:br/>
              <a:r>
                <a:rPr lang="en-US" sz="1500" dirty="0">
                  <a:solidFill>
                    <a:schemeClr val="dk1"/>
                  </a:solidFill>
                  <a:latin typeface="+mn-lt"/>
                  <a:ea typeface="+mn-ea"/>
                  <a:cs typeface="+mn-cs"/>
                </a:rPr>
                <a:t>Read requirements</a:t>
              </a:r>
              <a:br/>
              <a:r>
                <a:rPr lang="en-US" sz="1500" dirty="0">
                  <a:solidFill>
                    <a:schemeClr val="dk1"/>
                  </a:solidFill>
                  <a:latin typeface="+mn-lt"/>
                  <a:ea typeface="+mn-ea"/>
                  <a:cs typeface="+mn-cs"/>
                </a:rPr>
                <a:t>Read signed minutes</a:t>
              </a:r>
              <a:br/>
              <a:r>
                <a:rPr lang="en-US" sz="1500" dirty="0">
                  <a:solidFill>
                    <a:schemeClr val="dk1"/>
                  </a:solidFill>
                  <a:latin typeface="+mn-lt"/>
                  <a:ea typeface="+mn-ea"/>
                  <a:cs typeface="+mn-cs"/>
                </a:rPr>
                <a:t>See published scores</a:t>
              </a:r>
            </a:p>
          </p:txBody>
        </p:sp>
      </p:grpSp>
      <p:grpSp>
        <p:nvGrpSpPr>
          <p:cNvPr id="21" name="actor-leader"/>
          <p:cNvGrpSpPr/>
          <p:nvPr/>
        </p:nvGrpSpPr>
        <p:grpSpPr>
          <a:xfrm>
            <a:off x="3409950" y="1676400"/>
            <a:ext cx="2571750" cy="3314700"/>
            <a:chOff x="3409950" y="1676400"/>
            <a:chExt cx="2571750" cy="3314700"/>
          </a:xfrm>
        </p:grpSpPr>
        <p:sp>
          <p:nvSpPr>
            <p:cNvPr id="12" name="Rectangle 12"/>
            <p:cNvSpPr/>
            <p:nvPr/>
          </p:nvSpPr>
          <p:spPr>
            <a:xfrm>
              <a:off x="3409950" y="1676400"/>
              <a:ext cx="2571750" cy="3314700"/>
            </a:xfrm>
            <a:prstGeom prst="roundRect">
              <a:avLst>
                <a:gd name="adj" fmla="val 4444"/>
              </a:avLst>
            </a:prstGeom>
            <a:solidFill>
              <a:schemeClr val="lt2"/>
            </a:solidFill>
            <a:ln>
              <a:noFill/>
            </a:ln>
          </p:spPr>
        </p:sp>
        <p:grpSp>
          <p:nvGrpSpPr>
            <p:cNvPr id="16" name="Group 16"/>
            <p:cNvGrpSpPr/>
            <p:nvPr/>
          </p:nvGrpSpPr>
          <p:grpSpPr>
            <a:xfrm>
              <a:off x="3781425" y="1957387"/>
              <a:ext cx="261937" cy="314325"/>
              <a:chOff x="3781425" y="1957387"/>
              <a:chExt cx="261937" cy="314325"/>
            </a:xfrm>
          </p:grpSpPr>
          <p:sp>
            <p:nvSpPr>
              <p:cNvPr id="13" name="Freeform 13"/>
              <p:cNvSpPr/>
              <p:nvPr/>
            </p:nvSpPr>
            <p:spPr>
              <a:xfrm>
                <a:off x="3816350" y="195738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34925">
                <a:solidFill>
                  <a:schemeClr val="accent3"/>
                </a:solidFill>
              </a:ln>
            </p:spPr>
          </p:sp>
          <p:sp>
            <p:nvSpPr>
              <p:cNvPr id="14" name="Freeform 14"/>
              <p:cNvSpPr/>
              <p:nvPr/>
            </p:nvSpPr>
            <p:spPr>
              <a:xfrm>
                <a:off x="3781425" y="2166937"/>
                <a:ext cx="139700" cy="104775"/>
              </a:xfrm>
              <a:custGeom>
                <a:avLst/>
                <a:gdLst/>
                <a:ahLst/>
                <a:cxnLst/>
                <a:rect l="l" t="t" r="r" b="b"/>
                <a:pathLst>
                  <a:path w="139700" h="104775">
                    <a:moveTo>
                      <a:pt x="0" y="104775"/>
                    </a:moveTo>
                    <a:lnTo>
                      <a:pt x="0" y="69850"/>
                    </a:lnTo>
                    <a:cubicBezTo>
                      <a:pt x="0" y="31273"/>
                      <a:pt x="31273" y="0"/>
                      <a:pt x="69850" y="0"/>
                    </a:cubicBezTo>
                    <a:lnTo>
                      <a:pt x="139700" y="0"/>
                    </a:lnTo>
                  </a:path>
                </a:pathLst>
              </a:custGeom>
              <a:noFill/>
              <a:ln w="34925">
                <a:solidFill>
                  <a:schemeClr val="accent3"/>
                </a:solidFill>
              </a:ln>
            </p:spPr>
          </p:sp>
          <p:sp>
            <p:nvSpPr>
              <p:cNvPr id="15" name="Freeform 15"/>
              <p:cNvSpPr/>
              <p:nvPr/>
            </p:nvSpPr>
            <p:spPr>
              <a:xfrm>
                <a:off x="3938587" y="2201862"/>
                <a:ext cx="104775" cy="69850"/>
              </a:xfrm>
              <a:custGeom>
                <a:avLst/>
                <a:gdLst/>
                <a:ahLst/>
                <a:cxnLst/>
                <a:rect l="l" t="t" r="r" b="b"/>
                <a:pathLst>
                  <a:path w="104775" h="69850">
                    <a:moveTo>
                      <a:pt x="0" y="34925"/>
                    </a:moveTo>
                    <a:lnTo>
                      <a:pt x="34925" y="69850"/>
                    </a:lnTo>
                    <a:lnTo>
                      <a:pt x="104775" y="0"/>
                    </a:lnTo>
                  </a:path>
                </a:pathLst>
              </a:custGeom>
              <a:noFill/>
              <a:ln w="34925">
                <a:solidFill>
                  <a:schemeClr val="accent3"/>
                </a:solidFill>
              </a:ln>
            </p:spPr>
          </p:sp>
        </p:grpSp>
        <p:sp>
          <p:nvSpPr>
            <p:cNvPr id="17" name="Rectangle 17"/>
            <p:cNvSpPr/>
            <p:nvPr/>
          </p:nvSpPr>
          <p:spPr>
            <a:xfrm>
              <a:off x="4610100" y="1962150"/>
              <a:ext cx="1123950" cy="304800"/>
            </a:xfrm>
            <a:prstGeom prst="roundRect">
              <a:avLst>
                <a:gd name="adj" fmla="val 50000"/>
              </a:avLst>
            </a:prstGeom>
            <a:solidFill>
              <a:schemeClr val="lt1"/>
            </a:solidFill>
            <a:ln w="14288">
              <a:solidFill>
                <a:schemeClr val="accent3"/>
              </a:solidFill>
            </a:ln>
          </p:spPr>
        </p:sp>
        <p:sp>
          <p:nvSpPr>
            <p:cNvPr id="18" name="TextBox 18"/>
            <p:cNvSpPr txBox="1"/>
            <p:nvPr/>
          </p:nvSpPr>
          <p:spPr>
            <a:xfrm>
              <a:off x="4770480" y="2035492"/>
              <a:ext cx="803190"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mn-lt"/>
                  <a:ea typeface="+mn-ea"/>
                  <a:cs typeface="+mn-cs"/>
                </a:rPr>
                <a:t>Student +</a:t>
              </a:r>
            </a:p>
          </p:txBody>
        </p:sp>
        <p:sp>
          <p:nvSpPr>
            <p:cNvPr id="19" name="TextBox 19"/>
            <p:cNvSpPr txBox="1"/>
            <p:nvPr/>
          </p:nvSpPr>
          <p:spPr>
            <a:xfrm>
              <a:off x="3665982" y="2497455"/>
              <a:ext cx="1893976"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Group Leader</a:t>
              </a:r>
            </a:p>
          </p:txBody>
        </p:sp>
        <p:sp>
          <p:nvSpPr>
            <p:cNvPr id="20" name="TextBox 20"/>
            <p:cNvSpPr txBox="1"/>
            <p:nvPr/>
          </p:nvSpPr>
          <p:spPr>
            <a:xfrm>
              <a:off x="3669030" y="3019425"/>
              <a:ext cx="1603553" cy="1264920"/>
            </a:xfrm>
            <a:prstGeom prst="rect">
              <a:avLst/>
            </a:prstGeom>
            <a:noFill/>
            <a:ln>
              <a:noFill/>
            </a:ln>
          </p:spPr>
          <p:txBody>
            <a:bodyPr wrap="none" lIns="0" tIns="0" rIns="0" bIns="0" anchor="t" anchorCtr="0">
              <a:spAutoFit/>
            </a:bodyPr>
            <a:lstStyle/>
            <a:p>
              <a:pPr algn="l">
                <a:lnSpc>
                  <a:spcPts val="2550"/>
                </a:lnSpc>
              </a:pPr>
              <a:r>
                <a:rPr lang="en-US" sz="1500" dirty="0">
                  <a:solidFill>
                    <a:schemeClr val="dk1"/>
                  </a:solidFill>
                  <a:latin typeface="+mn-lt"/>
                  <a:ea typeface="+mn-ea"/>
                  <a:cs typeface="+mn-cs"/>
                </a:rPr>
                <a:t>Book / cancel slots</a:t>
              </a:r>
              <a:br/>
              <a:r>
                <a:rPr lang="en-US" sz="1500" dirty="0">
                  <a:solidFill>
                    <a:schemeClr val="dk1"/>
                  </a:solidFill>
                  <a:latin typeface="+mn-lt"/>
                  <a:ea typeface="+mn-ea"/>
                  <a:cs typeface="+mn-cs"/>
                </a:rPr>
                <a:t>Submit artifacts</a:t>
              </a:r>
              <a:br/>
              <a:r>
                <a:rPr lang="en-US" sz="1500" dirty="0">
                  <a:solidFill>
                    <a:schemeClr val="dk1"/>
                  </a:solidFill>
                  <a:latin typeface="+mn-lt"/>
                  <a:ea typeface="+mn-ea"/>
                  <a:cs typeface="+mn-cs"/>
                </a:rPr>
                <a:t>Submit minutes</a:t>
              </a:r>
              <a:br/>
              <a:r>
                <a:rPr lang="en-US" sz="1500" dirty="0">
                  <a:solidFill>
                    <a:schemeClr val="dk1"/>
                  </a:solidFill>
                  <a:latin typeface="+mn-lt"/>
                  <a:ea typeface="+mn-ea"/>
                  <a:cs typeface="+mn-cs"/>
                </a:rPr>
                <a:t>Log requirements</a:t>
              </a:r>
            </a:p>
          </p:txBody>
        </p:sp>
      </p:grpSp>
      <p:grpSp>
        <p:nvGrpSpPr>
          <p:cNvPr id="28" name="actor-instructor"/>
          <p:cNvGrpSpPr/>
          <p:nvPr/>
        </p:nvGrpSpPr>
        <p:grpSpPr>
          <a:xfrm>
            <a:off x="6210300" y="1676400"/>
            <a:ext cx="2571750" cy="3314700"/>
            <a:chOff x="6210300" y="1676400"/>
            <a:chExt cx="2571750" cy="3314700"/>
          </a:xfrm>
        </p:grpSpPr>
        <p:sp>
          <p:nvSpPr>
            <p:cNvPr id="22" name="Rectangle 22"/>
            <p:cNvSpPr/>
            <p:nvPr/>
          </p:nvSpPr>
          <p:spPr>
            <a:xfrm>
              <a:off x="6210300" y="1676400"/>
              <a:ext cx="2571750" cy="3314700"/>
            </a:xfrm>
            <a:prstGeom prst="roundRect">
              <a:avLst>
                <a:gd name="adj" fmla="val 4444"/>
              </a:avLst>
            </a:prstGeom>
            <a:solidFill>
              <a:schemeClr val="accent1"/>
            </a:solidFill>
            <a:ln>
              <a:noFill/>
            </a:ln>
          </p:spPr>
        </p:sp>
        <p:grpSp>
          <p:nvGrpSpPr>
            <p:cNvPr id="25" name="Group 25"/>
            <p:cNvGrpSpPr/>
            <p:nvPr/>
          </p:nvGrpSpPr>
          <p:grpSpPr>
            <a:xfrm>
              <a:off x="6511925" y="1992312"/>
              <a:ext cx="349249" cy="244475"/>
              <a:chOff x="6511925" y="1992312"/>
              <a:chExt cx="349249" cy="244475"/>
            </a:xfrm>
          </p:grpSpPr>
          <p:sp>
            <p:nvSpPr>
              <p:cNvPr id="23" name="Freeform 23"/>
              <p:cNvSpPr/>
              <p:nvPr/>
            </p:nvSpPr>
            <p:spPr>
              <a:xfrm>
                <a:off x="6511925" y="1992312"/>
                <a:ext cx="349249" cy="174625"/>
              </a:xfrm>
              <a:custGeom>
                <a:avLst/>
                <a:gdLst/>
                <a:ahLst/>
                <a:cxnLst/>
                <a:rect l="l" t="t" r="r" b="b"/>
                <a:pathLst>
                  <a:path w="349249" h="174625">
                    <a:moveTo>
                      <a:pt x="349249" y="69850"/>
                    </a:moveTo>
                    <a:lnTo>
                      <a:pt x="174625" y="0"/>
                    </a:lnTo>
                    <a:lnTo>
                      <a:pt x="0" y="69850"/>
                    </a:lnTo>
                    <a:lnTo>
                      <a:pt x="174625" y="139700"/>
                    </a:lnTo>
                    <a:lnTo>
                      <a:pt x="349249" y="69850"/>
                    </a:lnTo>
                    <a:lnTo>
                      <a:pt x="349249" y="174625"/>
                    </a:lnTo>
                  </a:path>
                </a:pathLst>
              </a:custGeom>
              <a:noFill/>
              <a:ln w="34925">
                <a:solidFill>
                  <a:schemeClr val="accent2"/>
                </a:solidFill>
              </a:ln>
            </p:spPr>
          </p:sp>
          <p:sp>
            <p:nvSpPr>
              <p:cNvPr id="24" name="Freeform 24"/>
              <p:cNvSpPr/>
              <p:nvPr/>
            </p:nvSpPr>
            <p:spPr>
              <a:xfrm>
                <a:off x="6581775" y="2090102"/>
                <a:ext cx="209550" cy="146685"/>
              </a:xfrm>
              <a:custGeom>
                <a:avLst/>
                <a:gdLst/>
                <a:ahLst/>
                <a:cxnLst/>
                <a:rect l="l" t="t" r="r" b="b"/>
                <a:pathLst>
                  <a:path w="209550" h="146685">
                    <a:moveTo>
                      <a:pt x="0" y="0"/>
                    </a:moveTo>
                    <a:lnTo>
                      <a:pt x="0" y="94297"/>
                    </a:lnTo>
                    <a:cubicBezTo>
                      <a:pt x="0" y="123230"/>
                      <a:pt x="46909" y="146685"/>
                      <a:pt x="104775" y="146685"/>
                    </a:cubicBezTo>
                    <a:cubicBezTo>
                      <a:pt x="162640" y="146685"/>
                      <a:pt x="209550" y="123230"/>
                      <a:pt x="209550" y="94297"/>
                    </a:cubicBezTo>
                    <a:lnTo>
                      <a:pt x="209550" y="0"/>
                    </a:lnTo>
                  </a:path>
                </a:pathLst>
              </a:custGeom>
              <a:noFill/>
              <a:ln w="34925">
                <a:solidFill>
                  <a:schemeClr val="accent2"/>
                </a:solidFill>
              </a:ln>
            </p:spPr>
          </p:sp>
        </p:grpSp>
        <p:sp>
          <p:nvSpPr>
            <p:cNvPr id="26" name="TextBox 26"/>
            <p:cNvSpPr txBox="1"/>
            <p:nvPr/>
          </p:nvSpPr>
          <p:spPr>
            <a:xfrm>
              <a:off x="6466332" y="2497455"/>
              <a:ext cx="1348174" cy="410718"/>
            </a:xfrm>
            <a:prstGeom prst="rect">
              <a:avLst/>
            </a:prstGeom>
            <a:noFill/>
            <a:ln>
              <a:noFill/>
            </a:ln>
          </p:spPr>
          <p:txBody>
            <a:bodyPr wrap="none" lIns="0" tIns="0" rIns="0" bIns="0" anchor="t" anchorCtr="0">
              <a:spAutoFit/>
            </a:bodyPr>
            <a:lstStyle/>
            <a:p>
              <a:pPr algn="l"/>
              <a:r>
                <a:rPr lang="en-US" sz="2100" b="1" dirty="0">
                  <a:solidFill>
                    <a:srgbClr val="FFFFFF"/>
                  </a:solidFill>
                  <a:latin typeface="+mn-lt"/>
                  <a:ea typeface="+mn-ea"/>
                  <a:cs typeface="+mn-cs"/>
                </a:rPr>
                <a:t>Instructor</a:t>
              </a:r>
            </a:p>
          </p:txBody>
        </p:sp>
        <p:sp>
          <p:nvSpPr>
            <p:cNvPr id="27" name="TextBox 27"/>
            <p:cNvSpPr txBox="1"/>
            <p:nvPr/>
          </p:nvSpPr>
          <p:spPr>
            <a:xfrm>
              <a:off x="6469380" y="3019425"/>
              <a:ext cx="1487119" cy="1264920"/>
            </a:xfrm>
            <a:prstGeom prst="rect">
              <a:avLst/>
            </a:prstGeom>
            <a:noFill/>
            <a:ln>
              <a:noFill/>
            </a:ln>
          </p:spPr>
          <p:txBody>
            <a:bodyPr wrap="none" lIns="0" tIns="0" rIns="0" bIns="0" anchor="t" anchorCtr="0">
              <a:spAutoFit/>
            </a:bodyPr>
            <a:lstStyle/>
            <a:p>
              <a:pPr algn="l">
                <a:lnSpc>
                  <a:spcPts val="2550"/>
                </a:lnSpc>
              </a:pPr>
              <a:r>
                <a:rPr lang="en-US" sz="1500" dirty="0">
                  <a:solidFill>
                    <a:srgbClr val="FFFFFF"/>
                  </a:solidFill>
                  <a:latin typeface="+mn-lt"/>
                  <a:ea typeface="+mn-ea"/>
                  <a:cs typeface="+mn-cs"/>
                </a:rPr>
                <a:t>Publish own slots</a:t>
              </a:r>
              <a:br/>
              <a:r>
                <a:rPr lang="en-US" sz="1500" dirty="0">
                  <a:solidFill>
                    <a:srgbClr val="FFFFFF"/>
                  </a:solidFill>
                  <a:latin typeface="+mn-lt"/>
                  <a:ea typeface="+mn-ea"/>
                  <a:cs typeface="+mn-cs"/>
                </a:rPr>
                <a:t>Run meetings</a:t>
              </a:r>
              <a:br/>
              <a:r>
                <a:rPr lang="en-US" sz="1500" dirty="0">
                  <a:solidFill>
                    <a:srgbClr val="FFFFFF"/>
                  </a:solidFill>
                  <a:latin typeface="+mn-lt"/>
                  <a:ea typeface="+mn-ea"/>
                  <a:cs typeface="+mn-cs"/>
                </a:rPr>
                <a:t>Approve minutes</a:t>
              </a:r>
              <a:br/>
              <a:r>
                <a:rPr lang="en-US" sz="1500" dirty="0">
                  <a:solidFill>
                    <a:srgbClr val="FFFFFF"/>
                  </a:solidFill>
                  <a:latin typeface="+mn-lt"/>
                  <a:ea typeface="+mn-ea"/>
                  <a:cs typeface="+mn-cs"/>
                </a:rPr>
                <a:t>Evaluate groups</a:t>
              </a:r>
            </a:p>
          </p:txBody>
        </p:sp>
      </p:grpSp>
      <p:grpSp>
        <p:nvGrpSpPr>
          <p:cNvPr id="36" name="actor-admin"/>
          <p:cNvGrpSpPr/>
          <p:nvPr/>
        </p:nvGrpSpPr>
        <p:grpSpPr>
          <a:xfrm>
            <a:off x="9010650" y="1676400"/>
            <a:ext cx="2591016" cy="3314700"/>
            <a:chOff x="9010650" y="1676400"/>
            <a:chExt cx="2591016" cy="3314700"/>
          </a:xfrm>
        </p:grpSpPr>
        <p:sp>
          <p:nvSpPr>
            <p:cNvPr id="29" name="Rectangle 29"/>
            <p:cNvSpPr/>
            <p:nvPr/>
          </p:nvSpPr>
          <p:spPr>
            <a:xfrm>
              <a:off x="9010650" y="1676400"/>
              <a:ext cx="2571750" cy="3314700"/>
            </a:xfrm>
            <a:prstGeom prst="roundRect">
              <a:avLst>
                <a:gd name="adj" fmla="val 4444"/>
              </a:avLst>
            </a:prstGeom>
            <a:solidFill>
              <a:schemeClr val="lt2"/>
            </a:solidFill>
            <a:ln>
              <a:noFill/>
            </a:ln>
          </p:spPr>
        </p:sp>
        <p:grpSp>
          <p:nvGrpSpPr>
            <p:cNvPr id="33" name="Group 33"/>
            <p:cNvGrpSpPr/>
            <p:nvPr/>
          </p:nvGrpSpPr>
          <p:grpSpPr>
            <a:xfrm>
              <a:off x="9382125" y="1957387"/>
              <a:ext cx="279399" cy="331788"/>
              <a:chOff x="9382125" y="1957387"/>
              <a:chExt cx="279399" cy="331788"/>
            </a:xfrm>
          </p:grpSpPr>
          <p:sp>
            <p:nvSpPr>
              <p:cNvPr id="30" name="Freeform 30"/>
              <p:cNvSpPr/>
              <p:nvPr/>
            </p:nvSpPr>
            <p:spPr>
              <a:xfrm>
                <a:off x="9382125" y="2166937"/>
                <a:ext cx="104775" cy="104775"/>
              </a:xfrm>
              <a:custGeom>
                <a:avLst/>
                <a:gdLst/>
                <a:ahLst/>
                <a:cxnLst/>
                <a:rect l="l" t="t" r="r" b="b"/>
                <a:pathLst>
                  <a:path w="104775" h="104775">
                    <a:moveTo>
                      <a:pt x="0" y="104775"/>
                    </a:moveTo>
                    <a:lnTo>
                      <a:pt x="0" y="69850"/>
                    </a:lnTo>
                    <a:cubicBezTo>
                      <a:pt x="0" y="31273"/>
                      <a:pt x="31273" y="0"/>
                      <a:pt x="69850" y="0"/>
                    </a:cubicBezTo>
                    <a:lnTo>
                      <a:pt x="104775" y="0"/>
                    </a:lnTo>
                  </a:path>
                </a:pathLst>
              </a:custGeom>
              <a:noFill/>
              <a:ln w="34925">
                <a:solidFill>
                  <a:schemeClr val="accent3"/>
                </a:solidFill>
              </a:ln>
            </p:spPr>
          </p:sp>
          <p:sp>
            <p:nvSpPr>
              <p:cNvPr id="31" name="Freeform 31"/>
              <p:cNvSpPr/>
              <p:nvPr/>
            </p:nvSpPr>
            <p:spPr>
              <a:xfrm>
                <a:off x="9539287" y="2158206"/>
                <a:ext cx="122237" cy="130969"/>
              </a:xfrm>
              <a:custGeom>
                <a:avLst/>
                <a:gdLst/>
                <a:ahLst/>
                <a:cxnLst/>
                <a:rect l="l" t="t" r="r" b="b"/>
                <a:pathLst>
                  <a:path w="122237" h="130969">
                    <a:moveTo>
                      <a:pt x="122237" y="26194"/>
                    </a:moveTo>
                    <a:cubicBezTo>
                      <a:pt x="122237" y="96044"/>
                      <a:pt x="78581" y="130969"/>
                      <a:pt x="61119" y="130969"/>
                    </a:cubicBezTo>
                    <a:cubicBezTo>
                      <a:pt x="43656" y="130969"/>
                      <a:pt x="0" y="96044"/>
                      <a:pt x="0" y="26194"/>
                    </a:cubicBezTo>
                    <a:cubicBezTo>
                      <a:pt x="17462" y="26194"/>
                      <a:pt x="43656" y="17462"/>
                      <a:pt x="61119" y="0"/>
                    </a:cubicBezTo>
                    <a:cubicBezTo>
                      <a:pt x="78581" y="17462"/>
                      <a:pt x="104775" y="26194"/>
                      <a:pt x="122237" y="26194"/>
                    </a:cubicBezTo>
                  </a:path>
                </a:pathLst>
              </a:custGeom>
              <a:noFill/>
              <a:ln w="34925">
                <a:solidFill>
                  <a:schemeClr val="accent3"/>
                </a:solidFill>
              </a:ln>
            </p:spPr>
          </p:sp>
          <p:sp>
            <p:nvSpPr>
              <p:cNvPr id="32" name="Freeform 32"/>
              <p:cNvSpPr/>
              <p:nvPr/>
            </p:nvSpPr>
            <p:spPr>
              <a:xfrm>
                <a:off x="9417050" y="195738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34925">
                <a:solidFill>
                  <a:schemeClr val="accent3"/>
                </a:solidFill>
              </a:ln>
            </p:spPr>
          </p:sp>
        </p:grpSp>
        <p:sp>
          <p:nvSpPr>
            <p:cNvPr id="34" name="TextBox 34"/>
            <p:cNvSpPr txBox="1"/>
            <p:nvPr/>
          </p:nvSpPr>
          <p:spPr>
            <a:xfrm>
              <a:off x="9266682" y="2497455"/>
              <a:ext cx="2334984"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Academic Admin</a:t>
              </a:r>
            </a:p>
          </p:txBody>
        </p:sp>
        <p:sp>
          <p:nvSpPr>
            <p:cNvPr id="35" name="TextBox 35"/>
            <p:cNvSpPr txBox="1"/>
            <p:nvPr/>
          </p:nvSpPr>
          <p:spPr>
            <a:xfrm>
              <a:off x="9269730" y="3019425"/>
              <a:ext cx="1995564" cy="1264920"/>
            </a:xfrm>
            <a:prstGeom prst="rect">
              <a:avLst/>
            </a:prstGeom>
            <a:noFill/>
            <a:ln>
              <a:noFill/>
            </a:ln>
          </p:spPr>
          <p:txBody>
            <a:bodyPr wrap="none" lIns="0" tIns="0" rIns="0" bIns="0" anchor="t" anchorCtr="0">
              <a:spAutoFit/>
            </a:bodyPr>
            <a:lstStyle/>
            <a:p>
              <a:pPr algn="l">
                <a:lnSpc>
                  <a:spcPts val="2550"/>
                </a:lnSpc>
              </a:pPr>
              <a:r>
                <a:rPr lang="en-US" sz="1500" dirty="0">
                  <a:solidFill>
                    <a:schemeClr val="dk1"/>
                  </a:solidFill>
                  <a:latin typeface="+mn-lt"/>
                  <a:ea typeface="+mn-ea"/>
                  <a:cs typeface="+mn-cs"/>
                </a:rPr>
                <a:t>Manage users</a:t>
              </a:r>
              <a:br/>
              <a:r>
                <a:rPr lang="en-US" sz="1500" dirty="0">
                  <a:solidFill>
                    <a:schemeClr val="dk1"/>
                  </a:solidFill>
                  <a:latin typeface="+mn-lt"/>
                  <a:ea typeface="+mn-ea"/>
                  <a:cs typeface="+mn-cs"/>
                </a:rPr>
                <a:t>Topics &amp; question bank</a:t>
              </a:r>
              <a:br/>
              <a:r>
                <a:rPr lang="en-US" sz="1500" dirty="0">
                  <a:solidFill>
                    <a:schemeClr val="dk1"/>
                  </a:solidFill>
                  <a:latin typeface="+mn-lt"/>
                  <a:ea typeface="+mn-ea"/>
                  <a:cs typeface="+mn-cs"/>
                </a:rPr>
                <a:t>Department slots</a:t>
              </a:r>
              <a:br/>
              <a:r>
                <a:rPr lang="en-US" sz="1500" dirty="0">
                  <a:solidFill>
                    <a:schemeClr val="dk1"/>
                  </a:solidFill>
                  <a:latin typeface="+mn-lt"/>
                  <a:ea typeface="+mn-ea"/>
                  <a:cs typeface="+mn-cs"/>
                </a:rPr>
                <a:t>View reports</a:t>
              </a:r>
            </a:p>
          </p:txBody>
        </p:sp>
      </p:grpSp>
      <p:grpSp>
        <p:nvGrpSpPr>
          <p:cNvPr id="58" name="supporting"/>
          <p:cNvGrpSpPr/>
          <p:nvPr/>
        </p:nvGrpSpPr>
        <p:grpSpPr>
          <a:xfrm>
            <a:off x="609600" y="5219700"/>
            <a:ext cx="10972800" cy="914400"/>
            <a:chOff x="609600" y="5219700"/>
            <a:chExt cx="10972800" cy="914400"/>
          </a:xfrm>
        </p:grpSpPr>
        <p:sp>
          <p:nvSpPr>
            <p:cNvPr id="37" name="Rectangle 37"/>
            <p:cNvSpPr/>
            <p:nvPr/>
          </p:nvSpPr>
          <p:spPr>
            <a:xfrm>
              <a:off x="609600" y="5219700"/>
              <a:ext cx="10972800" cy="914400"/>
            </a:xfrm>
            <a:prstGeom prst="roundRect">
              <a:avLst>
                <a:gd name="adj" fmla="val 12500"/>
              </a:avLst>
            </a:prstGeom>
            <a:solidFill>
              <a:schemeClr val="lt1"/>
            </a:solidFill>
            <a:ln w="14288">
              <a:solidFill>
                <a:schemeClr val="accent6"/>
              </a:solidFill>
            </a:ln>
          </p:spPr>
        </p:sp>
        <p:sp>
          <p:nvSpPr>
            <p:cNvPr id="38" name="TextBox 38"/>
            <p:cNvSpPr txBox="1"/>
            <p:nvPr/>
          </p:nvSpPr>
          <p:spPr>
            <a:xfrm>
              <a:off x="868680" y="5400675"/>
              <a:ext cx="1617958" cy="293370"/>
            </a:xfrm>
            <a:prstGeom prst="rect">
              <a:avLst/>
            </a:prstGeom>
            <a:noFill/>
            <a:ln>
              <a:noFill/>
            </a:ln>
          </p:spPr>
          <p:txBody>
            <a:bodyPr wrap="none" lIns="0" tIns="0" rIns="0" bIns="0" anchor="t" anchorCtr="0">
              <a:spAutoFit/>
            </a:bodyPr>
            <a:lstStyle/>
            <a:p>
              <a:pPr algn="l"/>
              <a:r>
                <a:rPr lang="en-US" sz="1500" spc="150" dirty="0">
                  <a:solidFill>
                    <a:schemeClr val="accent5"/>
                  </a:solidFill>
                  <a:latin typeface="+mn-lt"/>
                  <a:ea typeface="+mn-ea"/>
                  <a:cs typeface="+mn-cs"/>
                </a:rPr>
                <a:t>SUPPORTING</a:t>
              </a:r>
            </a:p>
          </p:txBody>
        </p:sp>
        <p:grpSp>
          <p:nvGrpSpPr>
            <p:cNvPr id="47" name="Group 47"/>
            <p:cNvGrpSpPr/>
            <p:nvPr/>
          </p:nvGrpSpPr>
          <p:grpSpPr>
            <a:xfrm>
              <a:off x="914400" y="5734050"/>
              <a:ext cx="228599" cy="238124"/>
              <a:chOff x="914400" y="5734050"/>
              <a:chExt cx="228599" cy="238124"/>
            </a:xfrm>
          </p:grpSpPr>
          <p:sp>
            <p:nvSpPr>
              <p:cNvPr id="39" name="Freeform 39"/>
              <p:cNvSpPr/>
              <p:nvPr/>
            </p:nvSpPr>
            <p:spPr>
              <a:xfrm>
                <a:off x="914400" y="5962649"/>
                <a:ext cx="228599" cy="9525"/>
              </a:xfrm>
              <a:custGeom>
                <a:avLst/>
                <a:gdLst/>
                <a:ahLst/>
                <a:cxnLst/>
                <a:rect l="l" t="t" r="r" b="b"/>
                <a:pathLst>
                  <a:path w="228599" h="9525">
                    <a:moveTo>
                      <a:pt x="0" y="0"/>
                    </a:moveTo>
                    <a:lnTo>
                      <a:pt x="228599" y="0"/>
                    </a:lnTo>
                  </a:path>
                </a:pathLst>
              </a:custGeom>
              <a:noFill/>
              <a:ln w="25400">
                <a:solidFill>
                  <a:schemeClr val="accent3"/>
                </a:solidFill>
              </a:ln>
            </p:spPr>
          </p:sp>
          <p:sp>
            <p:nvSpPr>
              <p:cNvPr id="40" name="Freeform 40"/>
              <p:cNvSpPr/>
              <p:nvPr/>
            </p:nvSpPr>
            <p:spPr>
              <a:xfrm>
                <a:off x="914400" y="5822950"/>
                <a:ext cx="228599" cy="9525"/>
              </a:xfrm>
              <a:custGeom>
                <a:avLst/>
                <a:gdLst/>
                <a:ahLst/>
                <a:cxnLst/>
                <a:rect l="l" t="t" r="r" b="b"/>
                <a:pathLst>
                  <a:path w="228599" h="9525">
                    <a:moveTo>
                      <a:pt x="0" y="0"/>
                    </a:moveTo>
                    <a:lnTo>
                      <a:pt x="228599" y="0"/>
                    </a:lnTo>
                  </a:path>
                </a:pathLst>
              </a:custGeom>
              <a:noFill/>
              <a:ln w="25400">
                <a:solidFill>
                  <a:schemeClr val="accent3"/>
                </a:solidFill>
              </a:ln>
            </p:spPr>
          </p:sp>
          <p:sp>
            <p:nvSpPr>
              <p:cNvPr id="41" name="Freeform 41"/>
              <p:cNvSpPr/>
              <p:nvPr/>
            </p:nvSpPr>
            <p:spPr>
              <a:xfrm>
                <a:off x="939800" y="5734050"/>
                <a:ext cx="177800" cy="38100"/>
              </a:xfrm>
              <a:custGeom>
                <a:avLst/>
                <a:gdLst/>
                <a:ahLst/>
                <a:cxnLst/>
                <a:rect l="l" t="t" r="r" b="b"/>
                <a:pathLst>
                  <a:path w="177800" h="38100">
                    <a:moveTo>
                      <a:pt x="0" y="38100"/>
                    </a:moveTo>
                    <a:lnTo>
                      <a:pt x="88900" y="0"/>
                    </a:lnTo>
                    <a:lnTo>
                      <a:pt x="177800" y="38100"/>
                    </a:lnTo>
                  </a:path>
                </a:pathLst>
              </a:custGeom>
              <a:noFill/>
              <a:ln w="25400">
                <a:solidFill>
                  <a:schemeClr val="accent3"/>
                </a:solidFill>
              </a:ln>
            </p:spPr>
          </p:sp>
          <p:sp>
            <p:nvSpPr>
              <p:cNvPr id="42" name="Freeform 42"/>
              <p:cNvSpPr/>
              <p:nvPr/>
            </p:nvSpPr>
            <p:spPr>
              <a:xfrm>
                <a:off x="927100" y="5822950"/>
                <a:ext cx="9525" cy="139700"/>
              </a:xfrm>
              <a:custGeom>
                <a:avLst/>
                <a:gdLst/>
                <a:ahLst/>
                <a:cxnLst/>
                <a:rect l="l" t="t" r="r" b="b"/>
                <a:pathLst>
                  <a:path w="9525" h="139700">
                    <a:moveTo>
                      <a:pt x="0" y="0"/>
                    </a:moveTo>
                    <a:lnTo>
                      <a:pt x="0" y="139700"/>
                    </a:lnTo>
                  </a:path>
                </a:pathLst>
              </a:custGeom>
              <a:noFill/>
              <a:ln w="25400">
                <a:solidFill>
                  <a:schemeClr val="accent3"/>
                </a:solidFill>
              </a:ln>
            </p:spPr>
          </p:sp>
          <p:sp>
            <p:nvSpPr>
              <p:cNvPr id="43" name="Freeform 43"/>
              <p:cNvSpPr/>
              <p:nvPr/>
            </p:nvSpPr>
            <p:spPr>
              <a:xfrm>
                <a:off x="1130299" y="5822950"/>
                <a:ext cx="9525" cy="139700"/>
              </a:xfrm>
              <a:custGeom>
                <a:avLst/>
                <a:gdLst/>
                <a:ahLst/>
                <a:cxnLst/>
                <a:rect l="l" t="t" r="r" b="b"/>
                <a:pathLst>
                  <a:path w="9525" h="139700">
                    <a:moveTo>
                      <a:pt x="0" y="0"/>
                    </a:moveTo>
                    <a:lnTo>
                      <a:pt x="0" y="139700"/>
                    </a:lnTo>
                  </a:path>
                </a:pathLst>
              </a:custGeom>
              <a:noFill/>
              <a:ln w="25400">
                <a:solidFill>
                  <a:schemeClr val="accent3"/>
                </a:solidFill>
              </a:ln>
            </p:spPr>
          </p:sp>
          <p:sp>
            <p:nvSpPr>
              <p:cNvPr id="44" name="Freeform 44"/>
              <p:cNvSpPr/>
              <p:nvPr/>
            </p:nvSpPr>
            <p:spPr>
              <a:xfrm>
                <a:off x="977900" y="5873750"/>
                <a:ext cx="9525" cy="38100"/>
              </a:xfrm>
              <a:custGeom>
                <a:avLst/>
                <a:gdLst/>
                <a:ahLst/>
                <a:cxnLst/>
                <a:rect l="l" t="t" r="r" b="b"/>
                <a:pathLst>
                  <a:path w="9525" h="38100">
                    <a:moveTo>
                      <a:pt x="0" y="0"/>
                    </a:moveTo>
                    <a:lnTo>
                      <a:pt x="0" y="38100"/>
                    </a:lnTo>
                  </a:path>
                </a:pathLst>
              </a:custGeom>
              <a:noFill/>
              <a:ln w="25400">
                <a:solidFill>
                  <a:schemeClr val="accent3"/>
                </a:solidFill>
              </a:ln>
            </p:spPr>
          </p:sp>
          <p:sp>
            <p:nvSpPr>
              <p:cNvPr id="45" name="Freeform 45"/>
              <p:cNvSpPr/>
              <p:nvPr/>
            </p:nvSpPr>
            <p:spPr>
              <a:xfrm>
                <a:off x="1028700" y="5873750"/>
                <a:ext cx="9525" cy="38100"/>
              </a:xfrm>
              <a:custGeom>
                <a:avLst/>
                <a:gdLst/>
                <a:ahLst/>
                <a:cxnLst/>
                <a:rect l="l" t="t" r="r" b="b"/>
                <a:pathLst>
                  <a:path w="9525" h="38100">
                    <a:moveTo>
                      <a:pt x="0" y="0"/>
                    </a:moveTo>
                    <a:lnTo>
                      <a:pt x="0" y="38100"/>
                    </a:lnTo>
                  </a:path>
                </a:pathLst>
              </a:custGeom>
              <a:noFill/>
              <a:ln w="25400">
                <a:solidFill>
                  <a:schemeClr val="accent3"/>
                </a:solidFill>
              </a:ln>
            </p:spPr>
          </p:sp>
          <p:sp>
            <p:nvSpPr>
              <p:cNvPr id="46" name="Freeform 46"/>
              <p:cNvSpPr/>
              <p:nvPr/>
            </p:nvSpPr>
            <p:spPr>
              <a:xfrm>
                <a:off x="1079499" y="5873750"/>
                <a:ext cx="9525" cy="38100"/>
              </a:xfrm>
              <a:custGeom>
                <a:avLst/>
                <a:gdLst/>
                <a:ahLst/>
                <a:cxnLst/>
                <a:rect l="l" t="t" r="r" b="b"/>
                <a:pathLst>
                  <a:path w="9525" h="38100">
                    <a:moveTo>
                      <a:pt x="0" y="0"/>
                    </a:moveTo>
                    <a:lnTo>
                      <a:pt x="0" y="38100"/>
                    </a:lnTo>
                  </a:path>
                </a:pathLst>
              </a:custGeom>
              <a:noFill/>
              <a:ln w="25400">
                <a:solidFill>
                  <a:schemeClr val="accent3"/>
                </a:solidFill>
              </a:ln>
            </p:spPr>
          </p:sp>
        </p:grpSp>
        <p:sp>
          <p:nvSpPr>
            <p:cNvPr id="48" name="TextBox 48"/>
            <p:cNvSpPr txBox="1"/>
            <p:nvPr/>
          </p:nvSpPr>
          <p:spPr>
            <a:xfrm>
              <a:off x="1267968" y="5746432"/>
              <a:ext cx="266149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Dept Head</a:t>
              </a:r>
              <a:r>
                <a:rPr lang="en-US" sz="1650" dirty="0">
                  <a:solidFill>
                    <a:schemeClr val="dk1"/>
                  </a:solidFill>
                  <a:latin typeface="+mn-lt"/>
                  <a:ea typeface="+mn-ea"/>
                  <a:cs typeface="+mn-cs"/>
                </a:rPr>
                <a:t xml:space="preserve"> reads statistics</a:t>
              </a:r>
            </a:p>
          </p:txBody>
        </p:sp>
        <p:grpSp>
          <p:nvGrpSpPr>
            <p:cNvPr id="51" name="Group 51"/>
            <p:cNvGrpSpPr/>
            <p:nvPr/>
          </p:nvGrpSpPr>
          <p:grpSpPr>
            <a:xfrm>
              <a:off x="4718050" y="5734050"/>
              <a:ext cx="203199" cy="228599"/>
              <a:chOff x="4718050" y="5734050"/>
              <a:chExt cx="203199" cy="228599"/>
            </a:xfrm>
          </p:grpSpPr>
          <p:sp>
            <p:nvSpPr>
              <p:cNvPr id="49" name="Freeform 49"/>
              <p:cNvSpPr/>
              <p:nvPr/>
            </p:nvSpPr>
            <p:spPr>
              <a:xfrm>
                <a:off x="4718050" y="5734050"/>
                <a:ext cx="203199" cy="177800"/>
              </a:xfrm>
              <a:custGeom>
                <a:avLst/>
                <a:gdLst/>
                <a:ahLst/>
                <a:cxnLst/>
                <a:rect l="l" t="t" r="r" b="b"/>
                <a:pathLst>
                  <a:path w="203199" h="177800">
                    <a:moveTo>
                      <a:pt x="76200" y="25400"/>
                    </a:moveTo>
                    <a:cubicBezTo>
                      <a:pt x="76200" y="11372"/>
                      <a:pt x="87572" y="0"/>
                      <a:pt x="101600" y="0"/>
                    </a:cubicBezTo>
                    <a:cubicBezTo>
                      <a:pt x="115628" y="0"/>
                      <a:pt x="127000" y="11372"/>
                      <a:pt x="127000" y="25400"/>
                    </a:cubicBezTo>
                    <a:cubicBezTo>
                      <a:pt x="156720" y="39453"/>
                      <a:pt x="176258" y="68761"/>
                      <a:pt x="177800" y="101600"/>
                    </a:cubicBezTo>
                    <a:lnTo>
                      <a:pt x="177800" y="139700"/>
                    </a:lnTo>
                    <a:cubicBezTo>
                      <a:pt x="179738" y="155712"/>
                      <a:pt x="189165" y="169852"/>
                      <a:pt x="203199" y="177800"/>
                    </a:cubicBezTo>
                    <a:lnTo>
                      <a:pt x="0" y="177800"/>
                    </a:lnTo>
                    <a:cubicBezTo>
                      <a:pt x="14035" y="169852"/>
                      <a:pt x="23462" y="155712"/>
                      <a:pt x="25400" y="139700"/>
                    </a:cubicBezTo>
                    <a:lnTo>
                      <a:pt x="25400" y="101600"/>
                    </a:lnTo>
                    <a:cubicBezTo>
                      <a:pt x="26941" y="68761"/>
                      <a:pt x="46480" y="39453"/>
                      <a:pt x="76200" y="25400"/>
                    </a:cubicBezTo>
                  </a:path>
                </a:pathLst>
              </a:custGeom>
              <a:noFill/>
              <a:ln w="25400">
                <a:solidFill>
                  <a:schemeClr val="accent3"/>
                </a:solidFill>
              </a:ln>
            </p:spPr>
          </p:sp>
          <p:sp>
            <p:nvSpPr>
              <p:cNvPr id="50" name="Freeform 50"/>
              <p:cNvSpPr/>
              <p:nvPr/>
            </p:nvSpPr>
            <p:spPr>
              <a:xfrm>
                <a:off x="4781550" y="5911849"/>
                <a:ext cx="76200" cy="50800"/>
              </a:xfrm>
              <a:custGeom>
                <a:avLst/>
                <a:gdLst/>
                <a:ahLst/>
                <a:cxnLst/>
                <a:rect l="l" t="t" r="r" b="b"/>
                <a:pathLst>
                  <a:path w="76200" h="50800">
                    <a:moveTo>
                      <a:pt x="0" y="0"/>
                    </a:moveTo>
                    <a:lnTo>
                      <a:pt x="0" y="12700"/>
                    </a:lnTo>
                    <a:cubicBezTo>
                      <a:pt x="0" y="33742"/>
                      <a:pt x="17058" y="50800"/>
                      <a:pt x="38100" y="50800"/>
                    </a:cubicBezTo>
                    <a:cubicBezTo>
                      <a:pt x="59142" y="50800"/>
                      <a:pt x="76200" y="33742"/>
                      <a:pt x="76200" y="12700"/>
                    </a:cubicBezTo>
                    <a:lnTo>
                      <a:pt x="76200" y="0"/>
                    </a:lnTo>
                  </a:path>
                </a:pathLst>
              </a:custGeom>
              <a:noFill/>
              <a:ln w="25400">
                <a:solidFill>
                  <a:schemeClr val="accent3"/>
                </a:solidFill>
              </a:ln>
            </p:spPr>
          </p:sp>
        </p:grpSp>
        <p:sp>
          <p:nvSpPr>
            <p:cNvPr id="52" name="TextBox 52"/>
            <p:cNvSpPr txBox="1"/>
            <p:nvPr/>
          </p:nvSpPr>
          <p:spPr>
            <a:xfrm>
              <a:off x="5058918" y="5746432"/>
              <a:ext cx="286366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Email service</a:t>
              </a:r>
              <a:r>
                <a:rPr lang="en-US" sz="1650" dirty="0">
                  <a:solidFill>
                    <a:schemeClr val="dk1"/>
                  </a:solidFill>
                  <a:latin typeface="+mn-lt"/>
                  <a:ea typeface="+mn-ea"/>
                  <a:cs typeface="+mn-cs"/>
                </a:rPr>
                <a:t xml:space="preserve"> sends notices</a:t>
              </a:r>
            </a:p>
          </p:txBody>
        </p:sp>
        <p:grpSp>
          <p:nvGrpSpPr>
            <p:cNvPr id="56" name="Group 56"/>
            <p:cNvGrpSpPr/>
            <p:nvPr/>
          </p:nvGrpSpPr>
          <p:grpSpPr>
            <a:xfrm>
              <a:off x="8407400" y="5734050"/>
              <a:ext cx="177800" cy="228600"/>
              <a:chOff x="8407400" y="5734050"/>
              <a:chExt cx="177800" cy="228600"/>
            </a:xfrm>
          </p:grpSpPr>
          <p:sp>
            <p:nvSpPr>
              <p:cNvPr id="53" name="Freeform 53"/>
              <p:cNvSpPr/>
              <p:nvPr/>
            </p:nvSpPr>
            <p:spPr>
              <a:xfrm>
                <a:off x="8407400" y="5835650"/>
                <a:ext cx="177800" cy="127000"/>
              </a:xfrm>
              <a:custGeom>
                <a:avLst/>
                <a:gdLst/>
                <a:ahLst/>
                <a:cxnLst/>
                <a:rect l="l" t="t" r="r" b="b"/>
                <a:pathLst>
                  <a:path w="177800" h="127000">
                    <a:moveTo>
                      <a:pt x="0" y="25400"/>
                    </a:moveTo>
                    <a:cubicBezTo>
                      <a:pt x="0" y="11372"/>
                      <a:pt x="11372" y="0"/>
                      <a:pt x="25400" y="0"/>
                    </a:cubicBezTo>
                    <a:lnTo>
                      <a:pt x="152400" y="0"/>
                    </a:lnTo>
                    <a:cubicBezTo>
                      <a:pt x="166428" y="0"/>
                      <a:pt x="177800" y="11372"/>
                      <a:pt x="177800" y="25400"/>
                    </a:cubicBezTo>
                    <a:lnTo>
                      <a:pt x="177800" y="101600"/>
                    </a:lnTo>
                    <a:cubicBezTo>
                      <a:pt x="177800" y="115628"/>
                      <a:pt x="166428" y="127000"/>
                      <a:pt x="152400" y="127000"/>
                    </a:cubicBezTo>
                    <a:lnTo>
                      <a:pt x="25400" y="127000"/>
                    </a:lnTo>
                    <a:cubicBezTo>
                      <a:pt x="11372" y="127000"/>
                      <a:pt x="0" y="115628"/>
                      <a:pt x="0" y="101600"/>
                    </a:cubicBezTo>
                    <a:lnTo>
                      <a:pt x="0" y="25400"/>
                    </a:lnTo>
                  </a:path>
                </a:pathLst>
              </a:custGeom>
              <a:noFill/>
              <a:ln w="25400">
                <a:solidFill>
                  <a:schemeClr val="accent3"/>
                </a:solidFill>
              </a:ln>
            </p:spPr>
          </p:sp>
          <p:sp>
            <p:nvSpPr>
              <p:cNvPr id="54" name="Freeform 54"/>
              <p:cNvSpPr/>
              <p:nvPr/>
            </p:nvSpPr>
            <p:spPr>
              <a:xfrm>
                <a:off x="8483600" y="588645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25400">
                <a:solidFill>
                  <a:schemeClr val="accent3"/>
                </a:solidFill>
              </a:ln>
            </p:spPr>
          </p:sp>
          <p:sp>
            <p:nvSpPr>
              <p:cNvPr id="55" name="Freeform 55"/>
              <p:cNvSpPr/>
              <p:nvPr/>
            </p:nvSpPr>
            <p:spPr>
              <a:xfrm>
                <a:off x="8445500" y="5734050"/>
                <a:ext cx="101600" cy="101600"/>
              </a:xfrm>
              <a:custGeom>
                <a:avLst/>
                <a:gdLst/>
                <a:ahLst/>
                <a:cxnLst/>
                <a:rect l="l" t="t" r="r" b="b"/>
                <a:pathLst>
                  <a:path w="101600" h="101600">
                    <a:moveTo>
                      <a:pt x="0" y="101600"/>
                    </a:moveTo>
                    <a:lnTo>
                      <a:pt x="0" y="50800"/>
                    </a:lnTo>
                    <a:cubicBezTo>
                      <a:pt x="0" y="22744"/>
                      <a:pt x="22744" y="0"/>
                      <a:pt x="50800" y="0"/>
                    </a:cubicBezTo>
                    <a:cubicBezTo>
                      <a:pt x="78856" y="0"/>
                      <a:pt x="101600" y="22744"/>
                      <a:pt x="101600" y="50800"/>
                    </a:cubicBezTo>
                    <a:lnTo>
                      <a:pt x="101600" y="101600"/>
                    </a:lnTo>
                  </a:path>
                </a:pathLst>
              </a:custGeom>
              <a:noFill/>
              <a:ln w="25400">
                <a:solidFill>
                  <a:schemeClr val="accent3"/>
                </a:solidFill>
              </a:ln>
            </p:spPr>
          </p:sp>
        </p:grpSp>
        <p:sp>
          <p:nvSpPr>
            <p:cNvPr id="57" name="TextBox 57"/>
            <p:cNvSpPr txBox="1"/>
            <p:nvPr/>
          </p:nvSpPr>
          <p:spPr>
            <a:xfrm>
              <a:off x="8735568" y="5746432"/>
              <a:ext cx="260797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Google SSO</a:t>
              </a:r>
              <a:r>
                <a:rPr lang="en-US" sz="1650" dirty="0">
                  <a:solidFill>
                    <a:schemeClr val="dk1"/>
                  </a:solidFill>
                  <a:latin typeface="+mn-lt"/>
                  <a:ea typeface="+mn-ea"/>
                  <a:cs typeface="+mn-cs"/>
                </a:rPr>
                <a:t xml:space="preserve"> @fpt.edu.vn</a:t>
              </a:r>
            </a:p>
          </p:txBody>
        </p:sp>
      </p:grpSp>
      <p:grpSp>
        <p:nvGrpSpPr>
          <p:cNvPr id="61" name="footer"/>
          <p:cNvGrpSpPr/>
          <p:nvPr/>
        </p:nvGrpSpPr>
        <p:grpSpPr>
          <a:xfrm>
            <a:off x="602742" y="6445568"/>
            <a:ext cx="10986516" cy="264033"/>
            <a:chOff x="602742" y="6445568"/>
            <a:chExt cx="10986516" cy="264033"/>
          </a:xfrm>
        </p:grpSpPr>
        <p:sp>
          <p:nvSpPr>
            <p:cNvPr id="59" name="TextBox 59"/>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60" name="TextBox 60"/>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08 / 13</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6920396" cy="991743"/>
            <a:chOff x="591312" y="561975"/>
            <a:chExt cx="6920396" cy="991743"/>
          </a:xfrm>
        </p:grpSpPr>
        <p:sp>
          <p:nvSpPr>
            <p:cNvPr id="2" name="TextBox 2"/>
            <p:cNvSpPr txBox="1"/>
            <p:nvPr/>
          </p:nvSpPr>
          <p:spPr>
            <a:xfrm>
              <a:off x="601980" y="561975"/>
              <a:ext cx="2238110"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FEATURES · 1 / 2</a:t>
              </a:r>
            </a:p>
          </p:txBody>
        </p:sp>
        <p:sp>
          <p:nvSpPr>
            <p:cNvPr id="3" name="TextBox 3"/>
            <p:cNvSpPr txBox="1"/>
            <p:nvPr/>
          </p:nvSpPr>
          <p:spPr>
            <a:xfrm>
              <a:off x="591312" y="849630"/>
              <a:ext cx="6920396"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Plan and prepare in one place</a:t>
              </a:r>
            </a:p>
          </p:txBody>
        </p:sp>
      </p:grpSp>
      <p:grpSp>
        <p:nvGrpSpPr>
          <p:cNvPr id="19" name="feat-scheduling"/>
          <p:cNvGrpSpPr/>
          <p:nvPr/>
        </p:nvGrpSpPr>
        <p:grpSpPr>
          <a:xfrm>
            <a:off x="609600" y="1676400"/>
            <a:ext cx="5372100" cy="2095500"/>
            <a:chOff x="609600" y="1676400"/>
            <a:chExt cx="5372100" cy="2095500"/>
          </a:xfrm>
        </p:grpSpPr>
        <p:sp>
          <p:nvSpPr>
            <p:cNvPr id="5" name="Rectangle 5"/>
            <p:cNvSpPr/>
            <p:nvPr/>
          </p:nvSpPr>
          <p:spPr>
            <a:xfrm>
              <a:off x="609600" y="1676400"/>
              <a:ext cx="5372100" cy="2095500"/>
            </a:xfrm>
            <a:prstGeom prst="roundRect">
              <a:avLst>
                <a:gd name="adj" fmla="val 5455"/>
              </a:avLst>
            </a:prstGeom>
            <a:solidFill>
              <a:schemeClr val="lt2"/>
            </a:solidFill>
            <a:ln>
              <a:noFill/>
            </a:ln>
          </p:spPr>
        </p:sp>
        <p:sp>
          <p:nvSpPr>
            <p:cNvPr id="6" name="Rectangle 6"/>
            <p:cNvSpPr/>
            <p:nvPr/>
          </p:nvSpPr>
          <p:spPr>
            <a:xfrm>
              <a:off x="609600" y="1676400"/>
              <a:ext cx="57150" cy="2095500"/>
            </a:xfrm>
            <a:prstGeom prst="rect">
              <a:avLst/>
            </a:prstGeom>
            <a:solidFill>
              <a:schemeClr val="accent2"/>
            </a:solidFill>
            <a:ln>
              <a:noFill/>
            </a:ln>
          </p:spPr>
        </p:sp>
        <p:grpSp>
          <p:nvGrpSpPr>
            <p:cNvPr id="12" name="Group 12"/>
            <p:cNvGrpSpPr/>
            <p:nvPr/>
          </p:nvGrpSpPr>
          <p:grpSpPr>
            <a:xfrm>
              <a:off x="939800" y="1952625"/>
              <a:ext cx="254001" cy="285751"/>
              <a:chOff x="939800" y="1952625"/>
              <a:chExt cx="254001" cy="285751"/>
            </a:xfrm>
          </p:grpSpPr>
          <p:sp>
            <p:nvSpPr>
              <p:cNvPr id="7" name="Freeform 7"/>
              <p:cNvSpPr/>
              <p:nvPr/>
            </p:nvSpPr>
            <p:spPr>
              <a:xfrm>
                <a:off x="939800" y="1984375"/>
                <a:ext cx="254001" cy="254001"/>
              </a:xfrm>
              <a:custGeom>
                <a:avLst/>
                <a:gdLst/>
                <a:ahLst/>
                <a:cxnLst/>
                <a:rect l="l" t="t" r="r" b="b"/>
                <a:pathLst>
                  <a:path w="254001" h="254001">
                    <a:moveTo>
                      <a:pt x="0" y="31750"/>
                    </a:moveTo>
                    <a:cubicBezTo>
                      <a:pt x="0" y="14215"/>
                      <a:pt x="14215" y="0"/>
                      <a:pt x="31750" y="0"/>
                    </a:cubicBezTo>
                    <a:lnTo>
                      <a:pt x="222250" y="0"/>
                    </a:lnTo>
                    <a:cubicBezTo>
                      <a:pt x="239786" y="0"/>
                      <a:pt x="254001" y="14215"/>
                      <a:pt x="254001" y="31750"/>
                    </a:cubicBezTo>
                    <a:lnTo>
                      <a:pt x="254001" y="222250"/>
                    </a:lnTo>
                    <a:cubicBezTo>
                      <a:pt x="254001" y="239786"/>
                      <a:pt x="239786" y="254001"/>
                      <a:pt x="222250" y="254001"/>
                    </a:cubicBezTo>
                    <a:lnTo>
                      <a:pt x="31750" y="254001"/>
                    </a:lnTo>
                    <a:cubicBezTo>
                      <a:pt x="14215" y="254001"/>
                      <a:pt x="0" y="239786"/>
                      <a:pt x="0" y="222250"/>
                    </a:cubicBezTo>
                    <a:lnTo>
                      <a:pt x="0" y="31750"/>
                    </a:lnTo>
                  </a:path>
                </a:pathLst>
              </a:custGeom>
              <a:noFill/>
              <a:ln w="31750">
                <a:solidFill>
                  <a:schemeClr val="accent2"/>
                </a:solidFill>
              </a:ln>
            </p:spPr>
          </p:sp>
          <p:sp>
            <p:nvSpPr>
              <p:cNvPr id="8" name="Freeform 8"/>
              <p:cNvSpPr/>
              <p:nvPr/>
            </p:nvSpPr>
            <p:spPr>
              <a:xfrm>
                <a:off x="1130301" y="1952625"/>
                <a:ext cx="9525" cy="63500"/>
              </a:xfrm>
              <a:custGeom>
                <a:avLst/>
                <a:gdLst/>
                <a:ahLst/>
                <a:cxnLst/>
                <a:rect l="l" t="t" r="r" b="b"/>
                <a:pathLst>
                  <a:path w="9525" h="63500">
                    <a:moveTo>
                      <a:pt x="0" y="0"/>
                    </a:moveTo>
                    <a:lnTo>
                      <a:pt x="0" y="63500"/>
                    </a:lnTo>
                  </a:path>
                </a:pathLst>
              </a:custGeom>
              <a:noFill/>
              <a:ln w="31750">
                <a:solidFill>
                  <a:schemeClr val="accent2"/>
                </a:solidFill>
              </a:ln>
            </p:spPr>
          </p:sp>
          <p:sp>
            <p:nvSpPr>
              <p:cNvPr id="9" name="Freeform 9"/>
              <p:cNvSpPr/>
              <p:nvPr/>
            </p:nvSpPr>
            <p:spPr>
              <a:xfrm>
                <a:off x="1003300" y="1952625"/>
                <a:ext cx="9525" cy="63500"/>
              </a:xfrm>
              <a:custGeom>
                <a:avLst/>
                <a:gdLst/>
                <a:ahLst/>
                <a:cxnLst/>
                <a:rect l="l" t="t" r="r" b="b"/>
                <a:pathLst>
                  <a:path w="9525" h="63500">
                    <a:moveTo>
                      <a:pt x="0" y="0"/>
                    </a:moveTo>
                    <a:lnTo>
                      <a:pt x="0" y="63500"/>
                    </a:lnTo>
                  </a:path>
                </a:pathLst>
              </a:custGeom>
              <a:noFill/>
              <a:ln w="31750">
                <a:solidFill>
                  <a:schemeClr val="accent2"/>
                </a:solidFill>
              </a:ln>
            </p:spPr>
          </p:sp>
          <p:sp>
            <p:nvSpPr>
              <p:cNvPr id="10" name="Freeform 10"/>
              <p:cNvSpPr/>
              <p:nvPr/>
            </p:nvSpPr>
            <p:spPr>
              <a:xfrm>
                <a:off x="939800" y="2079625"/>
                <a:ext cx="254001" cy="9525"/>
              </a:xfrm>
              <a:custGeom>
                <a:avLst/>
                <a:gdLst/>
                <a:ahLst/>
                <a:cxnLst/>
                <a:rect l="l" t="t" r="r" b="b"/>
                <a:pathLst>
                  <a:path w="254001" h="9525">
                    <a:moveTo>
                      <a:pt x="0" y="0"/>
                    </a:moveTo>
                    <a:lnTo>
                      <a:pt x="254001" y="0"/>
                    </a:lnTo>
                  </a:path>
                </a:pathLst>
              </a:custGeom>
              <a:noFill/>
              <a:ln w="31750">
                <a:solidFill>
                  <a:schemeClr val="accent2"/>
                </a:solidFill>
              </a:ln>
            </p:spPr>
          </p:sp>
          <p:sp>
            <p:nvSpPr>
              <p:cNvPr id="11" name="Freeform 11"/>
              <p:cNvSpPr/>
              <p:nvPr/>
            </p:nvSpPr>
            <p:spPr>
              <a:xfrm>
                <a:off x="1003300" y="2143125"/>
                <a:ext cx="31750" cy="31750"/>
              </a:xfrm>
              <a:custGeom>
                <a:avLst/>
                <a:gdLst/>
                <a:ahLst/>
                <a:cxnLst/>
                <a:rect l="l" t="t" r="r" b="b"/>
                <a:pathLst>
                  <a:path w="31750" h="31750">
                    <a:moveTo>
                      <a:pt x="0" y="0"/>
                    </a:moveTo>
                    <a:lnTo>
                      <a:pt x="31750" y="0"/>
                    </a:lnTo>
                    <a:lnTo>
                      <a:pt x="31750" y="31750"/>
                    </a:lnTo>
                    <a:lnTo>
                      <a:pt x="0" y="31750"/>
                    </a:lnTo>
                    <a:lnTo>
                      <a:pt x="0" y="0"/>
                    </a:lnTo>
                  </a:path>
                </a:pathLst>
              </a:custGeom>
              <a:noFill/>
              <a:ln w="31750">
                <a:solidFill>
                  <a:schemeClr val="accent2"/>
                </a:solidFill>
              </a:ln>
            </p:spPr>
          </p:sp>
        </p:grpSp>
        <p:sp>
          <p:nvSpPr>
            <p:cNvPr id="13" name="TextBox 13"/>
            <p:cNvSpPr txBox="1"/>
            <p:nvPr/>
          </p:nvSpPr>
          <p:spPr>
            <a:xfrm>
              <a:off x="1399032" y="1983105"/>
              <a:ext cx="1553441"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Scheduling</a:t>
              </a:r>
            </a:p>
          </p:txBody>
        </p:sp>
        <p:sp>
          <p:nvSpPr>
            <p:cNvPr id="14" name="TextBox 14"/>
            <p:cNvSpPr txBox="1"/>
            <p:nvPr/>
          </p:nvSpPr>
          <p:spPr>
            <a:xfrm>
              <a:off x="4094848" y="2047875"/>
              <a:ext cx="1627772"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FR-001 · FR-002</a:t>
              </a:r>
            </a:p>
          </p:txBody>
        </p:sp>
        <p:grpSp>
          <p:nvGrpSpPr>
            <p:cNvPr id="18" name="Group 18"/>
            <p:cNvGrpSpPr/>
            <p:nvPr/>
          </p:nvGrpSpPr>
          <p:grpSpPr>
            <a:xfrm>
              <a:off x="867918" y="2526982"/>
              <a:ext cx="4527364" cy="1008507"/>
              <a:chOff x="867918" y="2526982"/>
              <a:chExt cx="4527364" cy="1008507"/>
            </a:xfrm>
          </p:grpSpPr>
          <p:sp>
            <p:nvSpPr>
              <p:cNvPr id="15" name="TextBox 15"/>
              <p:cNvSpPr txBox="1"/>
              <p:nvPr/>
            </p:nvSpPr>
            <p:spPr>
              <a:xfrm>
                <a:off x="867918" y="2526982"/>
                <a:ext cx="3858660"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Publish slots with capacity (in groups)</a:t>
                </a:r>
              </a:p>
            </p:txBody>
          </p:sp>
          <p:sp>
            <p:nvSpPr>
              <p:cNvPr id="16" name="TextBox 16"/>
              <p:cNvSpPr txBox="1"/>
              <p:nvPr/>
            </p:nvSpPr>
            <p:spPr>
              <a:xfrm>
                <a:off x="867918" y="2869882"/>
                <a:ext cx="4527364"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Book under a row lock — no double-booking</a:t>
                </a:r>
              </a:p>
            </p:txBody>
          </p:sp>
          <p:sp>
            <p:nvSpPr>
              <p:cNvPr id="17" name="TextBox 17"/>
              <p:cNvSpPr txBox="1"/>
              <p:nvPr/>
            </p:nvSpPr>
            <p:spPr>
              <a:xfrm>
                <a:off x="867918" y="3212782"/>
                <a:ext cx="3760967"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Cancel up to 2 hours before the start</a:t>
                </a:r>
              </a:p>
            </p:txBody>
          </p:sp>
        </p:grpSp>
      </p:grpSp>
      <p:grpSp>
        <p:nvGrpSpPr>
          <p:cNvPr id="34" name="feat-groups"/>
          <p:cNvGrpSpPr/>
          <p:nvPr/>
        </p:nvGrpSpPr>
        <p:grpSpPr>
          <a:xfrm>
            <a:off x="6210300" y="1676400"/>
            <a:ext cx="5372100" cy="2095500"/>
            <a:chOff x="6210300" y="1676400"/>
            <a:chExt cx="5372100" cy="2095500"/>
          </a:xfrm>
        </p:grpSpPr>
        <p:sp>
          <p:nvSpPr>
            <p:cNvPr id="20" name="Rectangle 20"/>
            <p:cNvSpPr/>
            <p:nvPr/>
          </p:nvSpPr>
          <p:spPr>
            <a:xfrm>
              <a:off x="6210300" y="1676400"/>
              <a:ext cx="5372100" cy="2095500"/>
            </a:xfrm>
            <a:prstGeom prst="roundRect">
              <a:avLst>
                <a:gd name="adj" fmla="val 5455"/>
              </a:avLst>
            </a:prstGeom>
            <a:solidFill>
              <a:schemeClr val="lt2"/>
            </a:solidFill>
            <a:ln>
              <a:noFill/>
            </a:ln>
          </p:spPr>
        </p:sp>
        <p:grpSp>
          <p:nvGrpSpPr>
            <p:cNvPr id="27" name="Group 27"/>
            <p:cNvGrpSpPr/>
            <p:nvPr/>
          </p:nvGrpSpPr>
          <p:grpSpPr>
            <a:xfrm>
              <a:off x="6524625" y="1952625"/>
              <a:ext cx="285751" cy="285751"/>
              <a:chOff x="6524625" y="1952625"/>
              <a:chExt cx="285751" cy="285751"/>
            </a:xfrm>
          </p:grpSpPr>
          <p:sp>
            <p:nvSpPr>
              <p:cNvPr id="21" name="Freeform 21"/>
              <p:cNvSpPr/>
              <p:nvPr/>
            </p:nvSpPr>
            <p:spPr>
              <a:xfrm>
                <a:off x="6635750" y="207962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31750">
                <a:solidFill>
                  <a:schemeClr val="accent3"/>
                </a:solidFill>
              </a:ln>
            </p:spPr>
          </p:sp>
          <p:sp>
            <p:nvSpPr>
              <p:cNvPr id="22" name="Freeform 22"/>
              <p:cNvSpPr/>
              <p:nvPr/>
            </p:nvSpPr>
            <p:spPr>
              <a:xfrm>
                <a:off x="6604000" y="2190751"/>
                <a:ext cx="127000" cy="47625"/>
              </a:xfrm>
              <a:custGeom>
                <a:avLst/>
                <a:gdLst/>
                <a:ahLst/>
                <a:cxnLst/>
                <a:rect l="l" t="t" r="r" b="b"/>
                <a:pathLst>
                  <a:path w="127000" h="47625">
                    <a:moveTo>
                      <a:pt x="0" y="47625"/>
                    </a:moveTo>
                    <a:lnTo>
                      <a:pt x="0" y="31750"/>
                    </a:lnTo>
                    <a:cubicBezTo>
                      <a:pt x="0" y="14215"/>
                      <a:pt x="14215" y="0"/>
                      <a:pt x="31750" y="0"/>
                    </a:cubicBezTo>
                    <a:lnTo>
                      <a:pt x="95250" y="0"/>
                    </a:lnTo>
                    <a:cubicBezTo>
                      <a:pt x="112785" y="0"/>
                      <a:pt x="127000" y="14215"/>
                      <a:pt x="127000" y="31750"/>
                    </a:cubicBezTo>
                    <a:lnTo>
                      <a:pt x="127000" y="47625"/>
                    </a:lnTo>
                  </a:path>
                </a:pathLst>
              </a:custGeom>
              <a:noFill/>
              <a:ln w="31750">
                <a:solidFill>
                  <a:schemeClr val="accent3"/>
                </a:solidFill>
              </a:ln>
            </p:spPr>
          </p:sp>
          <p:sp>
            <p:nvSpPr>
              <p:cNvPr id="23" name="Freeform 23"/>
              <p:cNvSpPr/>
              <p:nvPr/>
            </p:nvSpPr>
            <p:spPr>
              <a:xfrm>
                <a:off x="6715125" y="195262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31750">
                <a:solidFill>
                  <a:schemeClr val="accent3"/>
                </a:solidFill>
              </a:ln>
            </p:spPr>
          </p:sp>
          <p:sp>
            <p:nvSpPr>
              <p:cNvPr id="24" name="Freeform 24"/>
              <p:cNvSpPr/>
              <p:nvPr/>
            </p:nvSpPr>
            <p:spPr>
              <a:xfrm>
                <a:off x="6746876" y="2063750"/>
                <a:ext cx="63500" cy="47625"/>
              </a:xfrm>
              <a:custGeom>
                <a:avLst/>
                <a:gdLst/>
                <a:ahLst/>
                <a:cxnLst/>
                <a:rect l="l" t="t" r="r" b="b"/>
                <a:pathLst>
                  <a:path w="63500" h="47625">
                    <a:moveTo>
                      <a:pt x="0" y="0"/>
                    </a:moveTo>
                    <a:lnTo>
                      <a:pt x="31750" y="0"/>
                    </a:lnTo>
                    <a:cubicBezTo>
                      <a:pt x="49285" y="0"/>
                      <a:pt x="63500" y="14215"/>
                      <a:pt x="63500" y="31750"/>
                    </a:cubicBezTo>
                    <a:lnTo>
                      <a:pt x="63500" y="47625"/>
                    </a:lnTo>
                  </a:path>
                </a:pathLst>
              </a:custGeom>
              <a:noFill/>
              <a:ln w="31750">
                <a:solidFill>
                  <a:schemeClr val="accent3"/>
                </a:solidFill>
              </a:ln>
            </p:spPr>
          </p:sp>
          <p:sp>
            <p:nvSpPr>
              <p:cNvPr id="25" name="Freeform 25"/>
              <p:cNvSpPr/>
              <p:nvPr/>
            </p:nvSpPr>
            <p:spPr>
              <a:xfrm>
                <a:off x="6556375" y="1952625"/>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31750">
                <a:solidFill>
                  <a:schemeClr val="accent3"/>
                </a:solidFill>
              </a:ln>
            </p:spPr>
          </p:sp>
          <p:sp>
            <p:nvSpPr>
              <p:cNvPr id="26" name="Freeform 26"/>
              <p:cNvSpPr/>
              <p:nvPr/>
            </p:nvSpPr>
            <p:spPr>
              <a:xfrm>
                <a:off x="6524625" y="2063750"/>
                <a:ext cx="63500" cy="47625"/>
              </a:xfrm>
              <a:custGeom>
                <a:avLst/>
                <a:gdLst/>
                <a:ahLst/>
                <a:cxnLst/>
                <a:rect l="l" t="t" r="r" b="b"/>
                <a:pathLst>
                  <a:path w="63500" h="47625">
                    <a:moveTo>
                      <a:pt x="0" y="47625"/>
                    </a:moveTo>
                    <a:lnTo>
                      <a:pt x="0" y="31750"/>
                    </a:lnTo>
                    <a:cubicBezTo>
                      <a:pt x="0" y="14215"/>
                      <a:pt x="14215" y="0"/>
                      <a:pt x="31750" y="0"/>
                    </a:cubicBezTo>
                    <a:lnTo>
                      <a:pt x="63500" y="0"/>
                    </a:lnTo>
                  </a:path>
                </a:pathLst>
              </a:custGeom>
              <a:noFill/>
              <a:ln w="31750">
                <a:solidFill>
                  <a:schemeClr val="accent3"/>
                </a:solidFill>
              </a:ln>
            </p:spPr>
          </p:sp>
        </p:grpSp>
        <p:sp>
          <p:nvSpPr>
            <p:cNvPr id="28" name="TextBox 28"/>
            <p:cNvSpPr txBox="1"/>
            <p:nvPr/>
          </p:nvSpPr>
          <p:spPr>
            <a:xfrm>
              <a:off x="6999732" y="1983105"/>
              <a:ext cx="1035994"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Groups</a:t>
              </a:r>
            </a:p>
          </p:txBody>
        </p:sp>
        <p:sp>
          <p:nvSpPr>
            <p:cNvPr id="29" name="TextBox 29"/>
            <p:cNvSpPr txBox="1"/>
            <p:nvPr/>
          </p:nvSpPr>
          <p:spPr>
            <a:xfrm>
              <a:off x="10596610" y="2047875"/>
              <a:ext cx="726710"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FR-011</a:t>
              </a:r>
            </a:p>
          </p:txBody>
        </p:sp>
        <p:grpSp>
          <p:nvGrpSpPr>
            <p:cNvPr id="33" name="Group 33"/>
            <p:cNvGrpSpPr/>
            <p:nvPr/>
          </p:nvGrpSpPr>
          <p:grpSpPr>
            <a:xfrm>
              <a:off x="6468618" y="2526982"/>
              <a:ext cx="4415136" cy="1008507"/>
              <a:chOff x="6468618" y="2526982"/>
              <a:chExt cx="4415136" cy="1008507"/>
            </a:xfrm>
          </p:grpSpPr>
          <p:sp>
            <p:nvSpPr>
              <p:cNvPr id="30" name="TextBox 30"/>
              <p:cNvSpPr txBox="1"/>
              <p:nvPr/>
            </p:nvSpPr>
            <p:spPr>
              <a:xfrm>
                <a:off x="6468618" y="2526982"/>
                <a:ext cx="3192663"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Students create or join a group</a:t>
                </a:r>
              </a:p>
            </p:txBody>
          </p:sp>
          <p:sp>
            <p:nvSpPr>
              <p:cNvPr id="31" name="TextBox 31"/>
              <p:cNvSpPr txBox="1"/>
              <p:nvPr/>
            </p:nvSpPr>
            <p:spPr>
              <a:xfrm>
                <a:off x="6468618" y="2869882"/>
                <a:ext cx="4316286"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Max 5 active members, exactly one leader</a:t>
                </a:r>
              </a:p>
            </p:txBody>
          </p:sp>
          <p:sp>
            <p:nvSpPr>
              <p:cNvPr id="32" name="TextBox 32"/>
              <p:cNvSpPr txBox="1"/>
              <p:nvPr/>
            </p:nvSpPr>
            <p:spPr>
              <a:xfrm>
                <a:off x="6468618" y="3212782"/>
                <a:ext cx="4415136"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Topic and supervisor assigned to the group</a:t>
                </a:r>
              </a:p>
            </p:txBody>
          </p:sp>
        </p:grpSp>
      </p:grpSp>
      <p:grpSp>
        <p:nvGrpSpPr>
          <p:cNvPr id="50" name="feat-topics"/>
          <p:cNvGrpSpPr/>
          <p:nvPr/>
        </p:nvGrpSpPr>
        <p:grpSpPr>
          <a:xfrm>
            <a:off x="609600" y="3924300"/>
            <a:ext cx="5372100" cy="2095500"/>
            <a:chOff x="609600" y="3924300"/>
            <a:chExt cx="5372100" cy="2095500"/>
          </a:xfrm>
        </p:grpSpPr>
        <p:sp>
          <p:nvSpPr>
            <p:cNvPr id="35" name="Rectangle 35"/>
            <p:cNvSpPr/>
            <p:nvPr/>
          </p:nvSpPr>
          <p:spPr>
            <a:xfrm>
              <a:off x="609600" y="3924300"/>
              <a:ext cx="5372100" cy="2095500"/>
            </a:xfrm>
            <a:prstGeom prst="roundRect">
              <a:avLst>
                <a:gd name="adj" fmla="val 5455"/>
              </a:avLst>
            </a:prstGeom>
            <a:solidFill>
              <a:schemeClr val="lt2"/>
            </a:solidFill>
            <a:ln>
              <a:noFill/>
            </a:ln>
          </p:spPr>
        </p:sp>
        <p:grpSp>
          <p:nvGrpSpPr>
            <p:cNvPr id="43" name="Group 43"/>
            <p:cNvGrpSpPr/>
            <p:nvPr/>
          </p:nvGrpSpPr>
          <p:grpSpPr>
            <a:xfrm>
              <a:off x="955675" y="4214733"/>
              <a:ext cx="255573" cy="257334"/>
              <a:chOff x="955675" y="4214733"/>
              <a:chExt cx="255573" cy="257334"/>
            </a:xfrm>
          </p:grpSpPr>
          <p:sp>
            <p:nvSpPr>
              <p:cNvPr id="36" name="Freeform 36"/>
              <p:cNvSpPr/>
              <p:nvPr/>
            </p:nvSpPr>
            <p:spPr>
              <a:xfrm>
                <a:off x="955675" y="4216400"/>
                <a:ext cx="63500" cy="254001"/>
              </a:xfrm>
              <a:custGeom>
                <a:avLst/>
                <a:gdLst/>
                <a:ahLst/>
                <a:cxnLst/>
                <a:rect l="l" t="t" r="r" b="b"/>
                <a:pathLst>
                  <a:path w="63500" h="254001">
                    <a:moveTo>
                      <a:pt x="0" y="15875"/>
                    </a:moveTo>
                    <a:cubicBezTo>
                      <a:pt x="0" y="7107"/>
                      <a:pt x="7107" y="0"/>
                      <a:pt x="15875" y="0"/>
                    </a:cubicBezTo>
                    <a:lnTo>
                      <a:pt x="47625" y="0"/>
                    </a:lnTo>
                    <a:cubicBezTo>
                      <a:pt x="56393" y="0"/>
                      <a:pt x="63500" y="7107"/>
                      <a:pt x="63500" y="15875"/>
                    </a:cubicBezTo>
                    <a:lnTo>
                      <a:pt x="63500" y="238125"/>
                    </a:lnTo>
                    <a:cubicBezTo>
                      <a:pt x="63500" y="246893"/>
                      <a:pt x="56393" y="254001"/>
                      <a:pt x="47625" y="254001"/>
                    </a:cubicBezTo>
                    <a:lnTo>
                      <a:pt x="15875" y="254001"/>
                    </a:lnTo>
                    <a:cubicBezTo>
                      <a:pt x="7107" y="254001"/>
                      <a:pt x="0" y="246893"/>
                      <a:pt x="0" y="238125"/>
                    </a:cubicBezTo>
                    <a:lnTo>
                      <a:pt x="0" y="15875"/>
                    </a:lnTo>
                  </a:path>
                </a:pathLst>
              </a:custGeom>
              <a:noFill/>
              <a:ln w="31750">
                <a:solidFill>
                  <a:schemeClr val="accent3"/>
                </a:solidFill>
              </a:ln>
            </p:spPr>
          </p:sp>
          <p:sp>
            <p:nvSpPr>
              <p:cNvPr id="37" name="Freeform 37"/>
              <p:cNvSpPr/>
              <p:nvPr/>
            </p:nvSpPr>
            <p:spPr>
              <a:xfrm>
                <a:off x="1019175" y="4216400"/>
                <a:ext cx="63500" cy="254001"/>
              </a:xfrm>
              <a:custGeom>
                <a:avLst/>
                <a:gdLst/>
                <a:ahLst/>
                <a:cxnLst/>
                <a:rect l="l" t="t" r="r" b="b"/>
                <a:pathLst>
                  <a:path w="63500" h="254001">
                    <a:moveTo>
                      <a:pt x="0" y="15875"/>
                    </a:moveTo>
                    <a:cubicBezTo>
                      <a:pt x="0" y="7107"/>
                      <a:pt x="7107" y="0"/>
                      <a:pt x="15875" y="0"/>
                    </a:cubicBezTo>
                    <a:lnTo>
                      <a:pt x="47625" y="0"/>
                    </a:lnTo>
                    <a:cubicBezTo>
                      <a:pt x="56393" y="0"/>
                      <a:pt x="63500" y="7107"/>
                      <a:pt x="63500" y="15875"/>
                    </a:cubicBezTo>
                    <a:lnTo>
                      <a:pt x="63500" y="238125"/>
                    </a:lnTo>
                    <a:cubicBezTo>
                      <a:pt x="63500" y="246893"/>
                      <a:pt x="56393" y="254001"/>
                      <a:pt x="47625" y="254001"/>
                    </a:cubicBezTo>
                    <a:lnTo>
                      <a:pt x="15875" y="254001"/>
                    </a:lnTo>
                    <a:cubicBezTo>
                      <a:pt x="7107" y="254001"/>
                      <a:pt x="0" y="246893"/>
                      <a:pt x="0" y="238125"/>
                    </a:cubicBezTo>
                    <a:lnTo>
                      <a:pt x="0" y="15875"/>
                    </a:lnTo>
                  </a:path>
                </a:pathLst>
              </a:custGeom>
              <a:noFill/>
              <a:ln w="31750">
                <a:solidFill>
                  <a:schemeClr val="accent3"/>
                </a:solidFill>
              </a:ln>
            </p:spPr>
          </p:sp>
          <p:sp>
            <p:nvSpPr>
              <p:cNvPr id="38" name="Freeform 38"/>
              <p:cNvSpPr/>
              <p:nvPr/>
            </p:nvSpPr>
            <p:spPr>
              <a:xfrm>
                <a:off x="955675" y="4279900"/>
                <a:ext cx="63500" cy="9525"/>
              </a:xfrm>
              <a:custGeom>
                <a:avLst/>
                <a:gdLst/>
                <a:ahLst/>
                <a:cxnLst/>
                <a:rect l="l" t="t" r="r" b="b"/>
                <a:pathLst>
                  <a:path w="63500" h="9525">
                    <a:moveTo>
                      <a:pt x="0" y="0"/>
                    </a:moveTo>
                    <a:lnTo>
                      <a:pt x="63500" y="0"/>
                    </a:lnTo>
                  </a:path>
                </a:pathLst>
              </a:custGeom>
              <a:noFill/>
              <a:ln w="31750">
                <a:solidFill>
                  <a:schemeClr val="accent3"/>
                </a:solidFill>
              </a:ln>
            </p:spPr>
          </p:sp>
          <p:sp>
            <p:nvSpPr>
              <p:cNvPr id="39" name="Freeform 39"/>
              <p:cNvSpPr/>
              <p:nvPr/>
            </p:nvSpPr>
            <p:spPr>
              <a:xfrm>
                <a:off x="1019175" y="4406901"/>
                <a:ext cx="63500" cy="9525"/>
              </a:xfrm>
              <a:custGeom>
                <a:avLst/>
                <a:gdLst/>
                <a:ahLst/>
                <a:cxnLst/>
                <a:rect l="l" t="t" r="r" b="b"/>
                <a:pathLst>
                  <a:path w="63500" h="9525">
                    <a:moveTo>
                      <a:pt x="0" y="0"/>
                    </a:moveTo>
                    <a:lnTo>
                      <a:pt x="63500" y="0"/>
                    </a:lnTo>
                  </a:path>
                </a:pathLst>
              </a:custGeom>
              <a:noFill/>
              <a:ln w="31750">
                <a:solidFill>
                  <a:schemeClr val="accent3"/>
                </a:solidFill>
              </a:ln>
            </p:spPr>
          </p:sp>
          <p:sp>
            <p:nvSpPr>
              <p:cNvPr id="40" name="Freeform 40"/>
              <p:cNvSpPr/>
              <p:nvPr/>
            </p:nvSpPr>
            <p:spPr>
              <a:xfrm>
                <a:off x="1081102" y="4214733"/>
                <a:ext cx="130146" cy="257334"/>
              </a:xfrm>
              <a:custGeom>
                <a:avLst/>
                <a:gdLst/>
                <a:ahLst/>
                <a:cxnLst/>
                <a:rect l="l" t="t" r="r" b="b"/>
                <a:pathLst>
                  <a:path w="130146" h="257334">
                    <a:moveTo>
                      <a:pt x="14321" y="10557"/>
                    </a:moveTo>
                    <a:lnTo>
                      <a:pt x="48992" y="2143"/>
                    </a:lnTo>
                    <a:cubicBezTo>
                      <a:pt x="57914" y="0"/>
                      <a:pt x="66978" y="5159"/>
                      <a:pt x="69344" y="13764"/>
                    </a:cubicBezTo>
                    <a:lnTo>
                      <a:pt x="128002" y="226775"/>
                    </a:lnTo>
                    <a:cubicBezTo>
                      <a:pt x="130146" y="234856"/>
                      <a:pt x="125785" y="243242"/>
                      <a:pt x="117937" y="246126"/>
                    </a:cubicBezTo>
                    <a:lnTo>
                      <a:pt x="115826" y="246777"/>
                    </a:lnTo>
                    <a:lnTo>
                      <a:pt x="81155" y="255191"/>
                    </a:lnTo>
                    <a:cubicBezTo>
                      <a:pt x="72233" y="257334"/>
                      <a:pt x="63168" y="252175"/>
                      <a:pt x="60803" y="243571"/>
                    </a:cubicBezTo>
                    <a:lnTo>
                      <a:pt x="2145" y="30559"/>
                    </a:lnTo>
                    <a:cubicBezTo>
                      <a:pt x="0" y="22478"/>
                      <a:pt x="4361" y="14092"/>
                      <a:pt x="12209" y="11208"/>
                    </a:cubicBezTo>
                    <a:lnTo>
                      <a:pt x="14321" y="10557"/>
                    </a:lnTo>
                  </a:path>
                </a:pathLst>
              </a:custGeom>
              <a:noFill/>
              <a:ln w="31750">
                <a:solidFill>
                  <a:schemeClr val="accent3"/>
                </a:solidFill>
              </a:ln>
            </p:spPr>
          </p:sp>
          <p:sp>
            <p:nvSpPr>
              <p:cNvPr id="41" name="Freeform 41"/>
              <p:cNvSpPr/>
              <p:nvPr/>
            </p:nvSpPr>
            <p:spPr>
              <a:xfrm>
                <a:off x="1098550" y="4279900"/>
                <a:ext cx="63500" cy="15875"/>
              </a:xfrm>
              <a:custGeom>
                <a:avLst/>
                <a:gdLst/>
                <a:ahLst/>
                <a:cxnLst/>
                <a:rect l="l" t="t" r="r" b="b"/>
                <a:pathLst>
                  <a:path w="63500" h="15875">
                    <a:moveTo>
                      <a:pt x="0" y="15875"/>
                    </a:moveTo>
                    <a:lnTo>
                      <a:pt x="63500" y="0"/>
                    </a:lnTo>
                  </a:path>
                </a:pathLst>
              </a:custGeom>
              <a:noFill/>
              <a:ln w="31750">
                <a:solidFill>
                  <a:schemeClr val="accent3"/>
                </a:solidFill>
              </a:ln>
            </p:spPr>
          </p:sp>
          <p:sp>
            <p:nvSpPr>
              <p:cNvPr id="42" name="Freeform 42"/>
              <p:cNvSpPr/>
              <p:nvPr/>
            </p:nvSpPr>
            <p:spPr>
              <a:xfrm>
                <a:off x="1130301" y="4391343"/>
                <a:ext cx="62278" cy="15558"/>
              </a:xfrm>
              <a:custGeom>
                <a:avLst/>
                <a:gdLst/>
                <a:ahLst/>
                <a:cxnLst/>
                <a:rect l="l" t="t" r="r" b="b"/>
                <a:pathLst>
                  <a:path w="62278" h="15558">
                    <a:moveTo>
                      <a:pt x="0" y="15558"/>
                    </a:moveTo>
                    <a:lnTo>
                      <a:pt x="62278" y="0"/>
                    </a:lnTo>
                  </a:path>
                </a:pathLst>
              </a:custGeom>
              <a:noFill/>
              <a:ln w="31750">
                <a:solidFill>
                  <a:schemeClr val="accent3"/>
                </a:solidFill>
              </a:ln>
            </p:spPr>
          </p:sp>
        </p:grpSp>
        <p:sp>
          <p:nvSpPr>
            <p:cNvPr id="44" name="TextBox 44"/>
            <p:cNvSpPr txBox="1"/>
            <p:nvPr/>
          </p:nvSpPr>
          <p:spPr>
            <a:xfrm>
              <a:off x="1399032" y="4231005"/>
              <a:ext cx="321984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Topics &amp; question bank</a:t>
              </a:r>
            </a:p>
          </p:txBody>
        </p:sp>
        <p:sp>
          <p:nvSpPr>
            <p:cNvPr id="45" name="TextBox 45"/>
            <p:cNvSpPr txBox="1"/>
            <p:nvPr/>
          </p:nvSpPr>
          <p:spPr>
            <a:xfrm>
              <a:off x="4995910" y="4295775"/>
              <a:ext cx="726710"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FR-005</a:t>
              </a:r>
            </a:p>
          </p:txBody>
        </p:sp>
        <p:grpSp>
          <p:nvGrpSpPr>
            <p:cNvPr id="49" name="Group 49"/>
            <p:cNvGrpSpPr/>
            <p:nvPr/>
          </p:nvGrpSpPr>
          <p:grpSpPr>
            <a:xfrm>
              <a:off x="867918" y="4774882"/>
              <a:ext cx="4452155" cy="1008507"/>
              <a:chOff x="867918" y="4774882"/>
              <a:chExt cx="4452155" cy="1008507"/>
            </a:xfrm>
          </p:grpSpPr>
          <p:sp>
            <p:nvSpPr>
              <p:cNvPr id="46" name="TextBox 46"/>
              <p:cNvSpPr txBox="1"/>
              <p:nvPr/>
            </p:nvSpPr>
            <p:spPr>
              <a:xfrm>
                <a:off x="867918" y="4774882"/>
                <a:ext cx="3588013"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Topic catalogue: draft → published</a:t>
                </a:r>
              </a:p>
            </p:txBody>
          </p:sp>
          <p:sp>
            <p:nvSpPr>
              <p:cNvPr id="47" name="TextBox 47"/>
              <p:cNvSpPr txBox="1"/>
              <p:nvPr/>
            </p:nvSpPr>
            <p:spPr>
              <a:xfrm>
                <a:off x="867918" y="5117782"/>
                <a:ext cx="4452155"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Questions by category, with guidance notes</a:t>
                </a:r>
              </a:p>
            </p:txBody>
          </p:sp>
          <p:sp>
            <p:nvSpPr>
              <p:cNvPr id="48" name="TextBox 48"/>
              <p:cNvSpPr txBox="1"/>
              <p:nvPr/>
            </p:nvSpPr>
            <p:spPr>
              <a:xfrm>
                <a:off x="867918" y="5460682"/>
                <a:ext cx="4105731"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Instructors look them up before a review</a:t>
                </a:r>
              </a:p>
            </p:txBody>
          </p:sp>
        </p:grpSp>
      </p:grpSp>
      <p:grpSp>
        <p:nvGrpSpPr>
          <p:cNvPr id="64" name="feat-artifacts"/>
          <p:cNvGrpSpPr/>
          <p:nvPr/>
        </p:nvGrpSpPr>
        <p:grpSpPr>
          <a:xfrm>
            <a:off x="6210300" y="3924300"/>
            <a:ext cx="5372100" cy="2095500"/>
            <a:chOff x="6210300" y="3924300"/>
            <a:chExt cx="5372100" cy="2095500"/>
          </a:xfrm>
        </p:grpSpPr>
        <p:sp>
          <p:nvSpPr>
            <p:cNvPr id="51" name="Rectangle 51"/>
            <p:cNvSpPr/>
            <p:nvPr/>
          </p:nvSpPr>
          <p:spPr>
            <a:xfrm>
              <a:off x="6210300" y="3924300"/>
              <a:ext cx="5372100" cy="2095500"/>
            </a:xfrm>
            <a:prstGeom prst="roundRect">
              <a:avLst>
                <a:gd name="adj" fmla="val 5455"/>
              </a:avLst>
            </a:prstGeom>
            <a:solidFill>
              <a:schemeClr val="lt2"/>
            </a:solidFill>
            <a:ln>
              <a:noFill/>
            </a:ln>
          </p:spPr>
        </p:sp>
        <p:grpSp>
          <p:nvGrpSpPr>
            <p:cNvPr id="57" name="Group 57"/>
            <p:cNvGrpSpPr/>
            <p:nvPr/>
          </p:nvGrpSpPr>
          <p:grpSpPr>
            <a:xfrm>
              <a:off x="6556375" y="4200525"/>
              <a:ext cx="222250" cy="285751"/>
              <a:chOff x="6556375" y="4200525"/>
              <a:chExt cx="222250" cy="285751"/>
            </a:xfrm>
          </p:grpSpPr>
          <p:sp>
            <p:nvSpPr>
              <p:cNvPr id="52" name="Freeform 52"/>
              <p:cNvSpPr/>
              <p:nvPr/>
            </p:nvSpPr>
            <p:spPr>
              <a:xfrm>
                <a:off x="6699250" y="420052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31750">
                <a:solidFill>
                  <a:schemeClr val="accent3"/>
                </a:solidFill>
              </a:ln>
            </p:spPr>
          </p:sp>
          <p:sp>
            <p:nvSpPr>
              <p:cNvPr id="53" name="Freeform 53"/>
              <p:cNvSpPr/>
              <p:nvPr/>
            </p:nvSpPr>
            <p:spPr>
              <a:xfrm>
                <a:off x="6556375" y="4200525"/>
                <a:ext cx="222250" cy="285751"/>
              </a:xfrm>
              <a:custGeom>
                <a:avLst/>
                <a:gdLst/>
                <a:ahLst/>
                <a:cxnLst/>
                <a:rect l="l" t="t" r="r" b="b"/>
                <a:pathLst>
                  <a:path w="222250" h="285751">
                    <a:moveTo>
                      <a:pt x="190500" y="285751"/>
                    </a:moveTo>
                    <a:lnTo>
                      <a:pt x="31750" y="285751"/>
                    </a:lnTo>
                    <a:cubicBezTo>
                      <a:pt x="14215" y="285751"/>
                      <a:pt x="0" y="271536"/>
                      <a:pt x="0" y="254001"/>
                    </a:cubicBezTo>
                    <a:lnTo>
                      <a:pt x="0" y="31750"/>
                    </a:lnTo>
                    <a:cubicBezTo>
                      <a:pt x="0" y="14215"/>
                      <a:pt x="14215" y="0"/>
                      <a:pt x="31750" y="0"/>
                    </a:cubicBezTo>
                    <a:lnTo>
                      <a:pt x="142875" y="0"/>
                    </a:lnTo>
                    <a:lnTo>
                      <a:pt x="222250" y="79375"/>
                    </a:lnTo>
                    <a:lnTo>
                      <a:pt x="222250" y="254001"/>
                    </a:lnTo>
                    <a:cubicBezTo>
                      <a:pt x="222250" y="271536"/>
                      <a:pt x="208035" y="285751"/>
                      <a:pt x="190500" y="285751"/>
                    </a:cubicBezTo>
                  </a:path>
                </a:pathLst>
              </a:custGeom>
              <a:noFill/>
              <a:ln w="31750">
                <a:solidFill>
                  <a:schemeClr val="accent3"/>
                </a:solidFill>
              </a:ln>
            </p:spPr>
          </p:sp>
          <p:sp>
            <p:nvSpPr>
              <p:cNvPr id="54" name="Freeform 54"/>
              <p:cNvSpPr/>
              <p:nvPr/>
            </p:nvSpPr>
            <p:spPr>
              <a:xfrm>
                <a:off x="6619875" y="4295775"/>
                <a:ext cx="15875" cy="9525"/>
              </a:xfrm>
              <a:custGeom>
                <a:avLst/>
                <a:gdLst/>
                <a:ahLst/>
                <a:cxnLst/>
                <a:rect l="l" t="t" r="r" b="b"/>
                <a:pathLst>
                  <a:path w="15875" h="9525">
                    <a:moveTo>
                      <a:pt x="0" y="0"/>
                    </a:moveTo>
                    <a:lnTo>
                      <a:pt x="15875" y="0"/>
                    </a:lnTo>
                  </a:path>
                </a:pathLst>
              </a:custGeom>
              <a:noFill/>
              <a:ln w="31750">
                <a:solidFill>
                  <a:schemeClr val="accent3"/>
                </a:solidFill>
              </a:ln>
            </p:spPr>
          </p:sp>
          <p:sp>
            <p:nvSpPr>
              <p:cNvPr id="55" name="Freeform 55"/>
              <p:cNvSpPr/>
              <p:nvPr/>
            </p:nvSpPr>
            <p:spPr>
              <a:xfrm>
                <a:off x="6619875" y="4359275"/>
                <a:ext cx="95250" cy="9525"/>
              </a:xfrm>
              <a:custGeom>
                <a:avLst/>
                <a:gdLst/>
                <a:ahLst/>
                <a:cxnLst/>
                <a:rect l="l" t="t" r="r" b="b"/>
                <a:pathLst>
                  <a:path w="95250" h="9525">
                    <a:moveTo>
                      <a:pt x="0" y="0"/>
                    </a:moveTo>
                    <a:lnTo>
                      <a:pt x="95250" y="0"/>
                    </a:lnTo>
                  </a:path>
                </a:pathLst>
              </a:custGeom>
              <a:noFill/>
              <a:ln w="31750">
                <a:solidFill>
                  <a:schemeClr val="accent3"/>
                </a:solidFill>
              </a:ln>
            </p:spPr>
          </p:sp>
          <p:sp>
            <p:nvSpPr>
              <p:cNvPr id="56" name="Freeform 56"/>
              <p:cNvSpPr/>
              <p:nvPr/>
            </p:nvSpPr>
            <p:spPr>
              <a:xfrm>
                <a:off x="6619875" y="4422776"/>
                <a:ext cx="95250" cy="9525"/>
              </a:xfrm>
              <a:custGeom>
                <a:avLst/>
                <a:gdLst/>
                <a:ahLst/>
                <a:cxnLst/>
                <a:rect l="l" t="t" r="r" b="b"/>
                <a:pathLst>
                  <a:path w="95250" h="9525">
                    <a:moveTo>
                      <a:pt x="0" y="0"/>
                    </a:moveTo>
                    <a:lnTo>
                      <a:pt x="95250" y="0"/>
                    </a:lnTo>
                  </a:path>
                </a:pathLst>
              </a:custGeom>
              <a:noFill/>
              <a:ln w="31750">
                <a:solidFill>
                  <a:schemeClr val="accent3"/>
                </a:solidFill>
              </a:ln>
            </p:spPr>
          </p:sp>
        </p:grpSp>
        <p:sp>
          <p:nvSpPr>
            <p:cNvPr id="58" name="TextBox 58"/>
            <p:cNvSpPr txBox="1"/>
            <p:nvPr/>
          </p:nvSpPr>
          <p:spPr>
            <a:xfrm>
              <a:off x="6999732" y="4231005"/>
              <a:ext cx="1175414"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Artifacts</a:t>
              </a:r>
            </a:p>
          </p:txBody>
        </p:sp>
        <p:sp>
          <p:nvSpPr>
            <p:cNvPr id="59" name="TextBox 59"/>
            <p:cNvSpPr txBox="1"/>
            <p:nvPr/>
          </p:nvSpPr>
          <p:spPr>
            <a:xfrm>
              <a:off x="10596610" y="4295775"/>
              <a:ext cx="726710"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FR-004</a:t>
              </a:r>
            </a:p>
          </p:txBody>
        </p:sp>
        <p:grpSp>
          <p:nvGrpSpPr>
            <p:cNvPr id="63" name="Group 63"/>
            <p:cNvGrpSpPr/>
            <p:nvPr/>
          </p:nvGrpSpPr>
          <p:grpSpPr>
            <a:xfrm>
              <a:off x="6468618" y="4774882"/>
              <a:ext cx="4464763" cy="1008507"/>
              <a:chOff x="6468618" y="4774882"/>
              <a:chExt cx="4464763" cy="1008507"/>
            </a:xfrm>
          </p:grpSpPr>
          <p:sp>
            <p:nvSpPr>
              <p:cNvPr id="60" name="TextBox 60"/>
              <p:cNvSpPr txBox="1"/>
              <p:nvPr/>
            </p:nvSpPr>
            <p:spPr>
              <a:xfrm>
                <a:off x="6468618" y="4774882"/>
                <a:ext cx="4352888"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Submit deliverables per assessment round</a:t>
                </a:r>
              </a:p>
            </p:txBody>
          </p:sp>
          <p:sp>
            <p:nvSpPr>
              <p:cNvPr id="61" name="TextBox 61"/>
              <p:cNvSpPr txBox="1"/>
              <p:nvPr/>
            </p:nvSpPr>
            <p:spPr>
              <a:xfrm>
                <a:off x="6468618" y="5117782"/>
                <a:ext cx="4464763"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A new version supersedes the previous one</a:t>
                </a:r>
              </a:p>
            </p:txBody>
          </p:sp>
          <p:sp>
            <p:nvSpPr>
              <p:cNvPr id="62" name="TextBox 62"/>
              <p:cNvSpPr txBox="1"/>
              <p:nvPr/>
            </p:nvSpPr>
            <p:spPr>
              <a:xfrm>
                <a:off x="6468618" y="5460682"/>
                <a:ext cx="4080582"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Instructor accepts the submitted version</a:t>
                </a:r>
              </a:p>
            </p:txBody>
          </p:sp>
        </p:grpSp>
      </p:grpSp>
      <p:grpSp>
        <p:nvGrpSpPr>
          <p:cNvPr id="67" name="footer"/>
          <p:cNvGrpSpPr/>
          <p:nvPr/>
        </p:nvGrpSpPr>
        <p:grpSpPr>
          <a:xfrm>
            <a:off x="602742" y="6445568"/>
            <a:ext cx="10986516" cy="264033"/>
            <a:chOff x="602742" y="6445568"/>
            <a:chExt cx="10986516" cy="264033"/>
          </a:xfrm>
        </p:grpSpPr>
        <p:sp>
          <p:nvSpPr>
            <p:cNvPr id="65" name="TextBox 65"/>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66" name="TextBox 66"/>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09 / 13</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9047548" cy="991743"/>
            <a:chOff x="591312" y="561975"/>
            <a:chExt cx="9047548" cy="991743"/>
          </a:xfrm>
        </p:grpSpPr>
        <p:sp>
          <p:nvSpPr>
            <p:cNvPr id="2" name="TextBox 2"/>
            <p:cNvSpPr txBox="1"/>
            <p:nvPr/>
          </p:nvSpPr>
          <p:spPr>
            <a:xfrm>
              <a:off x="601980" y="561975"/>
              <a:ext cx="2238110"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FEATURES · 2 / 2</a:t>
              </a:r>
            </a:p>
          </p:txBody>
        </p:sp>
        <p:sp>
          <p:nvSpPr>
            <p:cNvPr id="3" name="TextBox 3"/>
            <p:cNvSpPr txBox="1"/>
            <p:nvPr/>
          </p:nvSpPr>
          <p:spPr>
            <a:xfrm>
              <a:off x="591312" y="849630"/>
              <a:ext cx="9047548"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Meet, evaluate and report with a record</a:t>
              </a:r>
            </a:p>
          </p:txBody>
        </p:sp>
      </p:grpSp>
      <p:grpSp>
        <p:nvGrpSpPr>
          <p:cNvPr id="18" name="feat-meetings"/>
          <p:cNvGrpSpPr/>
          <p:nvPr/>
        </p:nvGrpSpPr>
        <p:grpSpPr>
          <a:xfrm>
            <a:off x="609600" y="1676400"/>
            <a:ext cx="5372100" cy="2095500"/>
            <a:chOff x="609600" y="1676400"/>
            <a:chExt cx="5372100" cy="2095500"/>
          </a:xfrm>
        </p:grpSpPr>
        <p:sp>
          <p:nvSpPr>
            <p:cNvPr id="5" name="Rectangle 5"/>
            <p:cNvSpPr/>
            <p:nvPr/>
          </p:nvSpPr>
          <p:spPr>
            <a:xfrm>
              <a:off x="609600" y="1676400"/>
              <a:ext cx="5372100" cy="2095500"/>
            </a:xfrm>
            <a:prstGeom prst="roundRect">
              <a:avLst>
                <a:gd name="adj" fmla="val 5455"/>
              </a:avLst>
            </a:prstGeom>
            <a:solidFill>
              <a:schemeClr val="lt2"/>
            </a:solidFill>
            <a:ln>
              <a:noFill/>
            </a:ln>
          </p:spPr>
        </p:sp>
        <p:sp>
          <p:nvSpPr>
            <p:cNvPr id="6" name="Rectangle 6"/>
            <p:cNvSpPr/>
            <p:nvPr/>
          </p:nvSpPr>
          <p:spPr>
            <a:xfrm>
              <a:off x="609600" y="1676400"/>
              <a:ext cx="57150" cy="2095500"/>
            </a:xfrm>
            <a:prstGeom prst="rect">
              <a:avLst/>
            </a:prstGeom>
            <a:solidFill>
              <a:schemeClr val="accent2"/>
            </a:solidFill>
            <a:ln>
              <a:noFill/>
            </a:ln>
          </p:spPr>
        </p:sp>
        <p:grpSp>
          <p:nvGrpSpPr>
            <p:cNvPr id="11" name="Group 11"/>
            <p:cNvGrpSpPr/>
            <p:nvPr/>
          </p:nvGrpSpPr>
          <p:grpSpPr>
            <a:xfrm>
              <a:off x="955675" y="1952625"/>
              <a:ext cx="222250" cy="285751"/>
              <a:chOff x="955675" y="1952625"/>
              <a:chExt cx="222250" cy="285751"/>
            </a:xfrm>
          </p:grpSpPr>
          <p:sp>
            <p:nvSpPr>
              <p:cNvPr id="7" name="Freeform 7"/>
              <p:cNvSpPr/>
              <p:nvPr/>
            </p:nvSpPr>
            <p:spPr>
              <a:xfrm>
                <a:off x="955675" y="1952625"/>
                <a:ext cx="222250" cy="285751"/>
              </a:xfrm>
              <a:custGeom>
                <a:avLst/>
                <a:gdLst/>
                <a:ahLst/>
                <a:cxnLst/>
                <a:rect l="l" t="t" r="r" b="b"/>
                <a:pathLst>
                  <a:path w="222250" h="285751">
                    <a:moveTo>
                      <a:pt x="0" y="31750"/>
                    </a:moveTo>
                    <a:cubicBezTo>
                      <a:pt x="0" y="14215"/>
                      <a:pt x="14215" y="0"/>
                      <a:pt x="31750" y="0"/>
                    </a:cubicBezTo>
                    <a:lnTo>
                      <a:pt x="190500" y="0"/>
                    </a:lnTo>
                    <a:cubicBezTo>
                      <a:pt x="208035" y="0"/>
                      <a:pt x="222250" y="14215"/>
                      <a:pt x="222250" y="31750"/>
                    </a:cubicBezTo>
                    <a:lnTo>
                      <a:pt x="222250" y="254001"/>
                    </a:lnTo>
                    <a:cubicBezTo>
                      <a:pt x="222250" y="271536"/>
                      <a:pt x="208035" y="285751"/>
                      <a:pt x="190500" y="285751"/>
                    </a:cubicBezTo>
                    <a:lnTo>
                      <a:pt x="31750" y="285751"/>
                    </a:lnTo>
                    <a:cubicBezTo>
                      <a:pt x="14215" y="285751"/>
                      <a:pt x="0" y="271536"/>
                      <a:pt x="0" y="254001"/>
                    </a:cubicBezTo>
                    <a:lnTo>
                      <a:pt x="0" y="31750"/>
                    </a:lnTo>
                  </a:path>
                </a:pathLst>
              </a:custGeom>
              <a:noFill/>
              <a:ln w="31750">
                <a:solidFill>
                  <a:schemeClr val="accent2"/>
                </a:solidFill>
              </a:ln>
            </p:spPr>
          </p:sp>
          <p:sp>
            <p:nvSpPr>
              <p:cNvPr id="8" name="Freeform 8"/>
              <p:cNvSpPr/>
              <p:nvPr/>
            </p:nvSpPr>
            <p:spPr>
              <a:xfrm>
                <a:off x="1019175" y="2016125"/>
                <a:ext cx="95250" cy="9525"/>
              </a:xfrm>
              <a:custGeom>
                <a:avLst/>
                <a:gdLst/>
                <a:ahLst/>
                <a:cxnLst/>
                <a:rect l="l" t="t" r="r" b="b"/>
                <a:pathLst>
                  <a:path w="95250" h="9525">
                    <a:moveTo>
                      <a:pt x="0" y="0"/>
                    </a:moveTo>
                    <a:lnTo>
                      <a:pt x="95250" y="0"/>
                    </a:lnTo>
                  </a:path>
                </a:pathLst>
              </a:custGeom>
              <a:noFill/>
              <a:ln w="31750">
                <a:solidFill>
                  <a:schemeClr val="accent2"/>
                </a:solidFill>
              </a:ln>
            </p:spPr>
          </p:sp>
          <p:sp>
            <p:nvSpPr>
              <p:cNvPr id="9" name="Freeform 9"/>
              <p:cNvSpPr/>
              <p:nvPr/>
            </p:nvSpPr>
            <p:spPr>
              <a:xfrm>
                <a:off x="1019175" y="2079625"/>
                <a:ext cx="95250" cy="9525"/>
              </a:xfrm>
              <a:custGeom>
                <a:avLst/>
                <a:gdLst/>
                <a:ahLst/>
                <a:cxnLst/>
                <a:rect l="l" t="t" r="r" b="b"/>
                <a:pathLst>
                  <a:path w="95250" h="9525">
                    <a:moveTo>
                      <a:pt x="0" y="0"/>
                    </a:moveTo>
                    <a:lnTo>
                      <a:pt x="95250" y="0"/>
                    </a:lnTo>
                  </a:path>
                </a:pathLst>
              </a:custGeom>
              <a:noFill/>
              <a:ln w="31750">
                <a:solidFill>
                  <a:schemeClr val="accent2"/>
                </a:solidFill>
              </a:ln>
            </p:spPr>
          </p:sp>
          <p:sp>
            <p:nvSpPr>
              <p:cNvPr id="10" name="Freeform 10"/>
              <p:cNvSpPr/>
              <p:nvPr/>
            </p:nvSpPr>
            <p:spPr>
              <a:xfrm>
                <a:off x="1019175" y="2143125"/>
                <a:ext cx="63500" cy="9525"/>
              </a:xfrm>
              <a:custGeom>
                <a:avLst/>
                <a:gdLst/>
                <a:ahLst/>
                <a:cxnLst/>
                <a:rect l="l" t="t" r="r" b="b"/>
                <a:pathLst>
                  <a:path w="63500" h="9525">
                    <a:moveTo>
                      <a:pt x="0" y="0"/>
                    </a:moveTo>
                    <a:lnTo>
                      <a:pt x="63500" y="0"/>
                    </a:lnTo>
                  </a:path>
                </a:pathLst>
              </a:custGeom>
              <a:noFill/>
              <a:ln w="31750">
                <a:solidFill>
                  <a:schemeClr val="accent2"/>
                </a:solidFill>
              </a:ln>
            </p:spPr>
          </p:sp>
        </p:grpSp>
        <p:sp>
          <p:nvSpPr>
            <p:cNvPr id="12" name="TextBox 12"/>
            <p:cNvSpPr txBox="1"/>
            <p:nvPr/>
          </p:nvSpPr>
          <p:spPr>
            <a:xfrm>
              <a:off x="1399032" y="1983105"/>
              <a:ext cx="270175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Meetings &amp; minutes</a:t>
              </a:r>
            </a:p>
          </p:txBody>
        </p:sp>
        <p:sp>
          <p:nvSpPr>
            <p:cNvPr id="13" name="TextBox 13"/>
            <p:cNvSpPr txBox="1"/>
            <p:nvPr/>
          </p:nvSpPr>
          <p:spPr>
            <a:xfrm>
              <a:off x="4094848" y="2047875"/>
              <a:ext cx="1627772"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FR-006 · FR-007</a:t>
              </a:r>
            </a:p>
          </p:txBody>
        </p:sp>
        <p:grpSp>
          <p:nvGrpSpPr>
            <p:cNvPr id="17" name="Group 17"/>
            <p:cNvGrpSpPr/>
            <p:nvPr/>
          </p:nvGrpSpPr>
          <p:grpSpPr>
            <a:xfrm>
              <a:off x="867918" y="2526982"/>
              <a:ext cx="4266978" cy="1008507"/>
              <a:chOff x="867918" y="2526982"/>
              <a:chExt cx="4266978" cy="1008507"/>
            </a:xfrm>
          </p:grpSpPr>
          <p:sp>
            <p:nvSpPr>
              <p:cNvPr id="14" name="TextBox 14"/>
              <p:cNvSpPr txBox="1"/>
              <p:nvPr/>
            </p:nvSpPr>
            <p:spPr>
              <a:xfrm>
                <a:off x="867918" y="2526982"/>
                <a:ext cx="4266978"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Open a session from a confirmed booking</a:t>
                </a:r>
              </a:p>
            </p:txBody>
          </p:sp>
          <p:sp>
            <p:nvSpPr>
              <p:cNvPr id="15" name="TextBox 15"/>
              <p:cNvSpPr txBox="1"/>
              <p:nvPr/>
            </p:nvSpPr>
            <p:spPr>
              <a:xfrm>
                <a:off x="867918" y="2869882"/>
                <a:ext cx="4167526"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Log requirements with priority and owner</a:t>
                </a:r>
              </a:p>
            </p:txBody>
          </p:sp>
          <p:sp>
            <p:nvSpPr>
              <p:cNvPr id="16" name="TextBox 16"/>
              <p:cNvSpPr txBox="1"/>
              <p:nvPr/>
            </p:nvSpPr>
            <p:spPr>
              <a:xfrm>
                <a:off x="867918" y="3212782"/>
                <a:ext cx="4192191"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Draft minutes from notes; both sides sign</a:t>
                </a:r>
              </a:p>
            </p:txBody>
          </p:sp>
        </p:grpSp>
      </p:grpSp>
      <p:grpSp>
        <p:nvGrpSpPr>
          <p:cNvPr id="32" name="feat-evaluation"/>
          <p:cNvGrpSpPr/>
          <p:nvPr/>
        </p:nvGrpSpPr>
        <p:grpSpPr>
          <a:xfrm>
            <a:off x="6210300" y="1676400"/>
            <a:ext cx="5372100" cy="2095500"/>
            <a:chOff x="6210300" y="1676400"/>
            <a:chExt cx="5372100" cy="2095500"/>
          </a:xfrm>
        </p:grpSpPr>
        <p:sp>
          <p:nvSpPr>
            <p:cNvPr id="19" name="Rectangle 19"/>
            <p:cNvSpPr/>
            <p:nvPr/>
          </p:nvSpPr>
          <p:spPr>
            <a:xfrm>
              <a:off x="6210300" y="1676400"/>
              <a:ext cx="5372100" cy="2095500"/>
            </a:xfrm>
            <a:prstGeom prst="roundRect">
              <a:avLst>
                <a:gd name="adj" fmla="val 5455"/>
              </a:avLst>
            </a:prstGeom>
            <a:solidFill>
              <a:schemeClr val="lt2"/>
            </a:solidFill>
            <a:ln>
              <a:noFill/>
            </a:ln>
          </p:spPr>
        </p:sp>
        <p:grpSp>
          <p:nvGrpSpPr>
            <p:cNvPr id="25" name="Group 25"/>
            <p:cNvGrpSpPr/>
            <p:nvPr/>
          </p:nvGrpSpPr>
          <p:grpSpPr>
            <a:xfrm>
              <a:off x="6524625" y="1952625"/>
              <a:ext cx="285750" cy="279401"/>
              <a:chOff x="6524625" y="1952625"/>
              <a:chExt cx="285750" cy="279401"/>
            </a:xfrm>
          </p:grpSpPr>
          <p:sp>
            <p:nvSpPr>
              <p:cNvPr id="20" name="Freeform 20"/>
              <p:cNvSpPr/>
              <p:nvPr/>
            </p:nvSpPr>
            <p:spPr>
              <a:xfrm>
                <a:off x="6588125" y="2222501"/>
                <a:ext cx="158750" cy="9525"/>
              </a:xfrm>
              <a:custGeom>
                <a:avLst/>
                <a:gdLst/>
                <a:ahLst/>
                <a:cxnLst/>
                <a:rect l="l" t="t" r="r" b="b"/>
                <a:pathLst>
                  <a:path w="158750" h="9525">
                    <a:moveTo>
                      <a:pt x="0" y="0"/>
                    </a:moveTo>
                    <a:lnTo>
                      <a:pt x="158750" y="0"/>
                    </a:lnTo>
                  </a:path>
                </a:pathLst>
              </a:custGeom>
              <a:noFill/>
              <a:ln w="31750">
                <a:solidFill>
                  <a:schemeClr val="accent3"/>
                </a:solidFill>
              </a:ln>
            </p:spPr>
          </p:sp>
          <p:sp>
            <p:nvSpPr>
              <p:cNvPr id="21" name="Freeform 21"/>
              <p:cNvSpPr/>
              <p:nvPr/>
            </p:nvSpPr>
            <p:spPr>
              <a:xfrm>
                <a:off x="6572250" y="1984375"/>
                <a:ext cx="190500" cy="15875"/>
              </a:xfrm>
              <a:custGeom>
                <a:avLst/>
                <a:gdLst/>
                <a:ahLst/>
                <a:cxnLst/>
                <a:rect l="l" t="t" r="r" b="b"/>
                <a:pathLst>
                  <a:path w="190500" h="15875">
                    <a:moveTo>
                      <a:pt x="0" y="15875"/>
                    </a:moveTo>
                    <a:lnTo>
                      <a:pt x="95250" y="0"/>
                    </a:lnTo>
                    <a:lnTo>
                      <a:pt x="190500" y="15875"/>
                    </a:lnTo>
                  </a:path>
                </a:pathLst>
              </a:custGeom>
              <a:noFill/>
              <a:ln w="31750">
                <a:solidFill>
                  <a:schemeClr val="accent3"/>
                </a:solidFill>
              </a:ln>
            </p:spPr>
          </p:sp>
          <p:sp>
            <p:nvSpPr>
              <p:cNvPr id="22" name="Freeform 22"/>
              <p:cNvSpPr/>
              <p:nvPr/>
            </p:nvSpPr>
            <p:spPr>
              <a:xfrm>
                <a:off x="6667500" y="1952625"/>
                <a:ext cx="9525" cy="269876"/>
              </a:xfrm>
              <a:custGeom>
                <a:avLst/>
                <a:gdLst/>
                <a:ahLst/>
                <a:cxnLst/>
                <a:rect l="l" t="t" r="r" b="b"/>
                <a:pathLst>
                  <a:path w="9525" h="269876">
                    <a:moveTo>
                      <a:pt x="0" y="0"/>
                    </a:moveTo>
                    <a:lnTo>
                      <a:pt x="0" y="269876"/>
                    </a:lnTo>
                  </a:path>
                </a:pathLst>
              </a:custGeom>
              <a:noFill/>
              <a:ln w="31750">
                <a:solidFill>
                  <a:schemeClr val="accent3"/>
                </a:solidFill>
              </a:ln>
            </p:spPr>
          </p:sp>
          <p:sp>
            <p:nvSpPr>
              <p:cNvPr id="23" name="Freeform 23"/>
              <p:cNvSpPr/>
              <p:nvPr/>
            </p:nvSpPr>
            <p:spPr>
              <a:xfrm>
                <a:off x="6524625" y="200025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3"/>
                </a:solidFill>
              </a:ln>
            </p:spPr>
          </p:sp>
          <p:sp>
            <p:nvSpPr>
              <p:cNvPr id="24" name="Freeform 24"/>
              <p:cNvSpPr/>
              <p:nvPr/>
            </p:nvSpPr>
            <p:spPr>
              <a:xfrm>
                <a:off x="6715125" y="2000250"/>
                <a:ext cx="95250" cy="142875"/>
              </a:xfrm>
              <a:custGeom>
                <a:avLst/>
                <a:gdLst/>
                <a:ahLst/>
                <a:cxnLst/>
                <a:rect l="l" t="t" r="r" b="b"/>
                <a:pathLst>
                  <a:path w="95250" h="142875">
                    <a:moveTo>
                      <a:pt x="95250" y="95250"/>
                    </a:moveTo>
                    <a:lnTo>
                      <a:pt x="47625" y="0"/>
                    </a:lnTo>
                    <a:lnTo>
                      <a:pt x="0" y="95250"/>
                    </a:lnTo>
                    <a:cubicBezTo>
                      <a:pt x="0" y="121553"/>
                      <a:pt x="21322" y="142875"/>
                      <a:pt x="47625" y="142875"/>
                    </a:cubicBezTo>
                    <a:cubicBezTo>
                      <a:pt x="73928" y="142875"/>
                      <a:pt x="95250" y="121553"/>
                      <a:pt x="95250" y="95250"/>
                    </a:cubicBezTo>
                  </a:path>
                </a:pathLst>
              </a:custGeom>
              <a:noFill/>
              <a:ln w="31750">
                <a:solidFill>
                  <a:schemeClr val="accent3"/>
                </a:solidFill>
              </a:ln>
            </p:spPr>
          </p:sp>
        </p:grpSp>
        <p:sp>
          <p:nvSpPr>
            <p:cNvPr id="26" name="TextBox 26"/>
            <p:cNvSpPr txBox="1"/>
            <p:nvPr/>
          </p:nvSpPr>
          <p:spPr>
            <a:xfrm>
              <a:off x="6999732" y="1983105"/>
              <a:ext cx="145893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Evaluation</a:t>
              </a:r>
            </a:p>
          </p:txBody>
        </p:sp>
        <p:sp>
          <p:nvSpPr>
            <p:cNvPr id="27" name="TextBox 27"/>
            <p:cNvSpPr txBox="1"/>
            <p:nvPr/>
          </p:nvSpPr>
          <p:spPr>
            <a:xfrm>
              <a:off x="10596610" y="2047875"/>
              <a:ext cx="726710"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FR-008</a:t>
              </a:r>
            </a:p>
          </p:txBody>
        </p:sp>
        <p:grpSp>
          <p:nvGrpSpPr>
            <p:cNvPr id="31" name="Group 31"/>
            <p:cNvGrpSpPr/>
            <p:nvPr/>
          </p:nvGrpSpPr>
          <p:grpSpPr>
            <a:xfrm>
              <a:off x="6468618" y="2526982"/>
              <a:ext cx="4491342" cy="1008507"/>
              <a:chOff x="6468618" y="2526982"/>
              <a:chExt cx="4491342" cy="1008507"/>
            </a:xfrm>
          </p:grpSpPr>
          <p:sp>
            <p:nvSpPr>
              <p:cNvPr id="28" name="TextBox 28"/>
              <p:cNvSpPr txBox="1"/>
              <p:nvPr/>
            </p:nvSpPr>
            <p:spPr>
              <a:xfrm>
                <a:off x="6468618" y="2526982"/>
                <a:ext cx="4491342"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Topic Fit · Product Quality · Communication</a:t>
                </a:r>
              </a:p>
            </p:txBody>
          </p:sp>
          <p:sp>
            <p:nvSpPr>
              <p:cNvPr id="29" name="TextBox 29"/>
              <p:cNvSpPr txBox="1"/>
              <p:nvPr/>
            </p:nvSpPr>
            <p:spPr>
              <a:xfrm>
                <a:off x="6468618" y="2869882"/>
                <a:ext cx="3676801"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Scores 0–100 → one weighted total</a:t>
                </a:r>
              </a:p>
            </p:txBody>
          </p:sp>
          <p:sp>
            <p:nvSpPr>
              <p:cNvPr id="30" name="TextBox 30"/>
              <p:cNvSpPr txBox="1"/>
              <p:nvPr/>
            </p:nvSpPr>
            <p:spPr>
              <a:xfrm>
                <a:off x="6468618" y="3212782"/>
                <a:ext cx="3699400"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Published to the group in one action</a:t>
                </a:r>
              </a:p>
            </p:txBody>
          </p:sp>
        </p:grpSp>
      </p:grpSp>
      <p:grpSp>
        <p:nvGrpSpPr>
          <p:cNvPr id="45" name="feat-reports"/>
          <p:cNvGrpSpPr/>
          <p:nvPr/>
        </p:nvGrpSpPr>
        <p:grpSpPr>
          <a:xfrm>
            <a:off x="609600" y="3924300"/>
            <a:ext cx="5372100" cy="2095500"/>
            <a:chOff x="609600" y="3924300"/>
            <a:chExt cx="5372100" cy="2095500"/>
          </a:xfrm>
        </p:grpSpPr>
        <p:sp>
          <p:nvSpPr>
            <p:cNvPr id="33" name="Rectangle 33"/>
            <p:cNvSpPr/>
            <p:nvPr/>
          </p:nvSpPr>
          <p:spPr>
            <a:xfrm>
              <a:off x="609600" y="3924300"/>
              <a:ext cx="5372100" cy="2095500"/>
            </a:xfrm>
            <a:prstGeom prst="roundRect">
              <a:avLst>
                <a:gd name="adj" fmla="val 5455"/>
              </a:avLst>
            </a:prstGeom>
            <a:solidFill>
              <a:schemeClr val="lt2"/>
            </a:solidFill>
            <a:ln>
              <a:noFill/>
            </a:ln>
          </p:spPr>
        </p:sp>
        <p:grpSp>
          <p:nvGrpSpPr>
            <p:cNvPr id="38" name="Group 38"/>
            <p:cNvGrpSpPr/>
            <p:nvPr/>
          </p:nvGrpSpPr>
          <p:grpSpPr>
            <a:xfrm>
              <a:off x="923925" y="4216400"/>
              <a:ext cx="285750" cy="263526"/>
              <a:chOff x="923925" y="4216400"/>
              <a:chExt cx="285750" cy="263526"/>
            </a:xfrm>
          </p:grpSpPr>
          <p:sp>
            <p:nvSpPr>
              <p:cNvPr id="34" name="Freeform 34"/>
              <p:cNvSpPr/>
              <p:nvPr/>
            </p:nvSpPr>
            <p:spPr>
              <a:xfrm>
                <a:off x="923925" y="43434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31750">
                <a:solidFill>
                  <a:schemeClr val="accent3"/>
                </a:solidFill>
              </a:ln>
            </p:spPr>
          </p:sp>
          <p:sp>
            <p:nvSpPr>
              <p:cNvPr id="35" name="Freeform 35"/>
              <p:cNvSpPr/>
              <p:nvPr/>
            </p:nvSpPr>
            <p:spPr>
              <a:xfrm>
                <a:off x="1114425" y="42799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31750">
                <a:solidFill>
                  <a:schemeClr val="accent3"/>
                </a:solidFill>
              </a:ln>
            </p:spPr>
          </p:sp>
          <p:sp>
            <p:nvSpPr>
              <p:cNvPr id="36" name="Freeform 36"/>
              <p:cNvSpPr/>
              <p:nvPr/>
            </p:nvSpPr>
            <p:spPr>
              <a:xfrm>
                <a:off x="1019175" y="4216400"/>
                <a:ext cx="95250" cy="254001"/>
              </a:xfrm>
              <a:custGeom>
                <a:avLst/>
                <a:gdLst/>
                <a:ahLst/>
                <a:cxnLst/>
                <a:rect l="l" t="t" r="r" b="b"/>
                <a:pathLst>
                  <a:path w="95250" h="254001">
                    <a:moveTo>
                      <a:pt x="0" y="15875"/>
                    </a:moveTo>
                    <a:cubicBezTo>
                      <a:pt x="0" y="7107"/>
                      <a:pt x="7107" y="0"/>
                      <a:pt x="15875" y="0"/>
                    </a:cubicBezTo>
                    <a:lnTo>
                      <a:pt x="79375" y="0"/>
                    </a:lnTo>
                    <a:cubicBezTo>
                      <a:pt x="88143" y="0"/>
                      <a:pt x="95250" y="7107"/>
                      <a:pt x="95250" y="15875"/>
                    </a:cubicBezTo>
                    <a:lnTo>
                      <a:pt x="95250" y="238125"/>
                    </a:lnTo>
                    <a:cubicBezTo>
                      <a:pt x="95250" y="246893"/>
                      <a:pt x="88143" y="254001"/>
                      <a:pt x="79375" y="254001"/>
                    </a:cubicBezTo>
                    <a:lnTo>
                      <a:pt x="15875" y="254001"/>
                    </a:lnTo>
                    <a:cubicBezTo>
                      <a:pt x="7107" y="254001"/>
                      <a:pt x="0" y="246893"/>
                      <a:pt x="0" y="238125"/>
                    </a:cubicBezTo>
                    <a:lnTo>
                      <a:pt x="0" y="15875"/>
                    </a:lnTo>
                  </a:path>
                </a:pathLst>
              </a:custGeom>
              <a:noFill/>
              <a:ln w="31750">
                <a:solidFill>
                  <a:schemeClr val="accent3"/>
                </a:solidFill>
              </a:ln>
            </p:spPr>
          </p:sp>
          <p:sp>
            <p:nvSpPr>
              <p:cNvPr id="37" name="Freeform 37"/>
              <p:cNvSpPr/>
              <p:nvPr/>
            </p:nvSpPr>
            <p:spPr>
              <a:xfrm>
                <a:off x="939800" y="4470401"/>
                <a:ext cx="222250" cy="9525"/>
              </a:xfrm>
              <a:custGeom>
                <a:avLst/>
                <a:gdLst/>
                <a:ahLst/>
                <a:cxnLst/>
                <a:rect l="l" t="t" r="r" b="b"/>
                <a:pathLst>
                  <a:path w="222250" h="9525">
                    <a:moveTo>
                      <a:pt x="0" y="0"/>
                    </a:moveTo>
                    <a:lnTo>
                      <a:pt x="222250" y="0"/>
                    </a:lnTo>
                  </a:path>
                </a:pathLst>
              </a:custGeom>
              <a:noFill/>
              <a:ln w="31750">
                <a:solidFill>
                  <a:schemeClr val="accent3"/>
                </a:solidFill>
              </a:ln>
            </p:spPr>
          </p:sp>
        </p:grpSp>
        <p:sp>
          <p:nvSpPr>
            <p:cNvPr id="39" name="TextBox 39"/>
            <p:cNvSpPr txBox="1"/>
            <p:nvPr/>
          </p:nvSpPr>
          <p:spPr>
            <a:xfrm>
              <a:off x="1399032" y="4231005"/>
              <a:ext cx="109813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Reports</a:t>
              </a:r>
            </a:p>
          </p:txBody>
        </p:sp>
        <p:sp>
          <p:nvSpPr>
            <p:cNvPr id="40" name="TextBox 40"/>
            <p:cNvSpPr txBox="1"/>
            <p:nvPr/>
          </p:nvSpPr>
          <p:spPr>
            <a:xfrm>
              <a:off x="4995910" y="4295775"/>
              <a:ext cx="726710"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FR-009</a:t>
              </a:r>
            </a:p>
          </p:txBody>
        </p:sp>
        <p:grpSp>
          <p:nvGrpSpPr>
            <p:cNvPr id="44" name="Group 44"/>
            <p:cNvGrpSpPr/>
            <p:nvPr/>
          </p:nvGrpSpPr>
          <p:grpSpPr>
            <a:xfrm>
              <a:off x="867918" y="4774882"/>
              <a:ext cx="3575845" cy="1008507"/>
              <a:chOff x="867918" y="4774882"/>
              <a:chExt cx="3575845" cy="1008507"/>
            </a:xfrm>
          </p:grpSpPr>
          <p:sp>
            <p:nvSpPr>
              <p:cNvPr id="41" name="TextBox 41"/>
              <p:cNvSpPr txBox="1"/>
              <p:nvPr/>
            </p:nvSpPr>
            <p:spPr>
              <a:xfrm>
                <a:off x="867918" y="4774882"/>
                <a:ext cx="3575845"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Sessions held and attendance rate</a:t>
                </a:r>
              </a:p>
            </p:txBody>
          </p:sp>
          <p:sp>
            <p:nvSpPr>
              <p:cNvPr id="42" name="TextBox 42"/>
              <p:cNvSpPr txBox="1"/>
              <p:nvPr/>
            </p:nvSpPr>
            <p:spPr>
              <a:xfrm>
                <a:off x="867918" y="5117782"/>
                <a:ext cx="3106115"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Open vs. closed requirements</a:t>
                </a:r>
              </a:p>
            </p:txBody>
          </p:sp>
          <p:sp>
            <p:nvSpPr>
              <p:cNvPr id="43" name="TextBox 43"/>
              <p:cNvSpPr txBox="1"/>
              <p:nvPr/>
            </p:nvSpPr>
            <p:spPr>
              <a:xfrm>
                <a:off x="867918" y="5460682"/>
                <a:ext cx="2698624"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Per week or per semester</a:t>
                </a:r>
              </a:p>
            </p:txBody>
          </p:sp>
        </p:grpSp>
      </p:grpSp>
      <p:grpSp>
        <p:nvGrpSpPr>
          <p:cNvPr id="56" name="feat-notify-audit"/>
          <p:cNvGrpSpPr/>
          <p:nvPr/>
        </p:nvGrpSpPr>
        <p:grpSpPr>
          <a:xfrm>
            <a:off x="6210300" y="3924300"/>
            <a:ext cx="5372100" cy="2095500"/>
            <a:chOff x="6210300" y="3924300"/>
            <a:chExt cx="5372100" cy="2095500"/>
          </a:xfrm>
        </p:grpSpPr>
        <p:sp>
          <p:nvSpPr>
            <p:cNvPr id="46" name="Rectangle 46"/>
            <p:cNvSpPr/>
            <p:nvPr/>
          </p:nvSpPr>
          <p:spPr>
            <a:xfrm>
              <a:off x="6210300" y="3924300"/>
              <a:ext cx="5372100" cy="2095500"/>
            </a:xfrm>
            <a:prstGeom prst="roundRect">
              <a:avLst>
                <a:gd name="adj" fmla="val 5455"/>
              </a:avLst>
            </a:prstGeom>
            <a:solidFill>
              <a:schemeClr val="lt2"/>
            </a:solidFill>
            <a:ln>
              <a:noFill/>
            </a:ln>
          </p:spPr>
        </p:sp>
        <p:grpSp>
          <p:nvGrpSpPr>
            <p:cNvPr id="49" name="Group 49"/>
            <p:cNvGrpSpPr/>
            <p:nvPr/>
          </p:nvGrpSpPr>
          <p:grpSpPr>
            <a:xfrm>
              <a:off x="6540500" y="4200525"/>
              <a:ext cx="254001" cy="285751"/>
              <a:chOff x="6540500" y="4200525"/>
              <a:chExt cx="254001" cy="285751"/>
            </a:xfrm>
          </p:grpSpPr>
          <p:sp>
            <p:nvSpPr>
              <p:cNvPr id="47" name="Freeform 47"/>
              <p:cNvSpPr/>
              <p:nvPr/>
            </p:nvSpPr>
            <p:spPr>
              <a:xfrm>
                <a:off x="6540500" y="4200525"/>
                <a:ext cx="254001" cy="222250"/>
              </a:xfrm>
              <a:custGeom>
                <a:avLst/>
                <a:gdLst/>
                <a:ahLst/>
                <a:cxnLst/>
                <a:rect l="l" t="t" r="r" b="b"/>
                <a:pathLst>
                  <a:path w="254001" h="222250">
                    <a:moveTo>
                      <a:pt x="95250" y="31750"/>
                    </a:moveTo>
                    <a:cubicBezTo>
                      <a:pt x="95250" y="14215"/>
                      <a:pt x="109465" y="0"/>
                      <a:pt x="127000" y="0"/>
                    </a:cubicBezTo>
                    <a:cubicBezTo>
                      <a:pt x="144535" y="0"/>
                      <a:pt x="158750" y="14215"/>
                      <a:pt x="158750" y="31750"/>
                    </a:cubicBezTo>
                    <a:cubicBezTo>
                      <a:pt x="195901" y="49317"/>
                      <a:pt x="220324" y="85951"/>
                      <a:pt x="222250" y="127000"/>
                    </a:cubicBezTo>
                    <a:lnTo>
                      <a:pt x="222250" y="174625"/>
                    </a:lnTo>
                    <a:cubicBezTo>
                      <a:pt x="224673" y="194641"/>
                      <a:pt x="236457" y="212316"/>
                      <a:pt x="254001" y="222250"/>
                    </a:cubicBezTo>
                    <a:lnTo>
                      <a:pt x="0" y="222250"/>
                    </a:lnTo>
                    <a:cubicBezTo>
                      <a:pt x="17544" y="212316"/>
                      <a:pt x="29327" y="194641"/>
                      <a:pt x="31750" y="174625"/>
                    </a:cubicBezTo>
                    <a:lnTo>
                      <a:pt x="31750" y="127000"/>
                    </a:lnTo>
                    <a:cubicBezTo>
                      <a:pt x="33677" y="85951"/>
                      <a:pt x="58100" y="49317"/>
                      <a:pt x="95250" y="31750"/>
                    </a:cubicBezTo>
                  </a:path>
                </a:pathLst>
              </a:custGeom>
              <a:noFill/>
              <a:ln w="31750">
                <a:solidFill>
                  <a:schemeClr val="accent3"/>
                </a:solidFill>
              </a:ln>
            </p:spPr>
          </p:sp>
          <p:sp>
            <p:nvSpPr>
              <p:cNvPr id="48" name="Freeform 48"/>
              <p:cNvSpPr/>
              <p:nvPr/>
            </p:nvSpPr>
            <p:spPr>
              <a:xfrm>
                <a:off x="6619875" y="4422776"/>
                <a:ext cx="95250" cy="63500"/>
              </a:xfrm>
              <a:custGeom>
                <a:avLst/>
                <a:gdLst/>
                <a:ahLst/>
                <a:cxnLst/>
                <a:rect l="l" t="t" r="r" b="b"/>
                <a:pathLst>
                  <a:path w="95250" h="63500">
                    <a:moveTo>
                      <a:pt x="0" y="0"/>
                    </a:moveTo>
                    <a:lnTo>
                      <a:pt x="0" y="15875"/>
                    </a:lnTo>
                    <a:cubicBezTo>
                      <a:pt x="0" y="42178"/>
                      <a:pt x="21322" y="63500"/>
                      <a:pt x="47625" y="63500"/>
                    </a:cubicBezTo>
                    <a:cubicBezTo>
                      <a:pt x="73928" y="63500"/>
                      <a:pt x="95250" y="42178"/>
                      <a:pt x="95250" y="15875"/>
                    </a:cubicBezTo>
                    <a:lnTo>
                      <a:pt x="95250" y="0"/>
                    </a:lnTo>
                  </a:path>
                </a:pathLst>
              </a:custGeom>
              <a:noFill/>
              <a:ln w="31750">
                <a:solidFill>
                  <a:schemeClr val="accent3"/>
                </a:solidFill>
              </a:ln>
            </p:spPr>
          </p:sp>
        </p:grpSp>
        <p:sp>
          <p:nvSpPr>
            <p:cNvPr id="50" name="TextBox 50"/>
            <p:cNvSpPr txBox="1"/>
            <p:nvPr/>
          </p:nvSpPr>
          <p:spPr>
            <a:xfrm>
              <a:off x="6999732" y="4231005"/>
              <a:ext cx="277840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Notifications &amp; audit</a:t>
              </a:r>
            </a:p>
          </p:txBody>
        </p:sp>
        <p:sp>
          <p:nvSpPr>
            <p:cNvPr id="51" name="TextBox 51"/>
            <p:cNvSpPr txBox="1"/>
            <p:nvPr/>
          </p:nvSpPr>
          <p:spPr>
            <a:xfrm>
              <a:off x="9695548" y="4295775"/>
              <a:ext cx="1627772" cy="293370"/>
            </a:xfrm>
            <a:prstGeom prst="rect">
              <a:avLst/>
            </a:prstGeom>
            <a:noFill/>
            <a:ln>
              <a:noFill/>
            </a:ln>
          </p:spPr>
          <p:txBody>
            <a:bodyPr wrap="none" lIns="0" tIns="0" rIns="0" bIns="0" anchor="t" anchorCtr="0">
              <a:spAutoFit/>
            </a:bodyPr>
            <a:lstStyle/>
            <a:p>
              <a:pPr algn="r"/>
              <a:r>
                <a:rPr lang="en-US" sz="1500" dirty="0">
                  <a:solidFill>
                    <a:schemeClr val="accent3"/>
                  </a:solidFill>
                  <a:latin typeface="+mn-lt"/>
                  <a:ea typeface="+mn-ea"/>
                  <a:cs typeface="+mn-cs"/>
                </a:rPr>
                <a:t>FR-003 · FR-012</a:t>
              </a:r>
            </a:p>
          </p:txBody>
        </p:sp>
        <p:grpSp>
          <p:nvGrpSpPr>
            <p:cNvPr id="55" name="Group 55"/>
            <p:cNvGrpSpPr/>
            <p:nvPr/>
          </p:nvGrpSpPr>
          <p:grpSpPr>
            <a:xfrm>
              <a:off x="6468618" y="4774882"/>
              <a:ext cx="4082969" cy="1008507"/>
              <a:chOff x="6468618" y="4774882"/>
              <a:chExt cx="4082969" cy="1008507"/>
            </a:xfrm>
          </p:grpSpPr>
          <p:sp>
            <p:nvSpPr>
              <p:cNvPr id="52" name="TextBox 52"/>
              <p:cNvSpPr txBox="1"/>
              <p:nvPr/>
            </p:nvSpPr>
            <p:spPr>
              <a:xfrm>
                <a:off x="6468618" y="4774882"/>
                <a:ext cx="3364772"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Confirmation after every booking</a:t>
                </a:r>
              </a:p>
            </p:txBody>
          </p:sp>
          <p:sp>
            <p:nvSpPr>
              <p:cNvPr id="53" name="TextBox 53"/>
              <p:cNvSpPr txBox="1"/>
              <p:nvPr/>
            </p:nvSpPr>
            <p:spPr>
              <a:xfrm>
                <a:off x="6468618" y="5117782"/>
                <a:ext cx="4082969"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Reminders 24 hours and 2 hours before</a:t>
                </a:r>
              </a:p>
            </p:txBody>
          </p:sp>
          <p:sp>
            <p:nvSpPr>
              <p:cNvPr id="54" name="TextBox 54"/>
              <p:cNvSpPr txBox="1"/>
              <p:nvPr/>
            </p:nvSpPr>
            <p:spPr>
              <a:xfrm>
                <a:off x="6468618" y="5460682"/>
                <a:ext cx="3797156" cy="322707"/>
              </a:xfrm>
              <a:prstGeom prst="rect">
                <a:avLst/>
              </a:prstGeom>
              <a:noFill/>
              <a:ln>
                <a:noFill/>
              </a:ln>
            </p:spPr>
            <p:txBody>
              <a:bodyPr wrap="none" lIns="0" tIns="0" rIns="0" bIns="0" anchor="t" anchorCtr="0">
                <a:spAutoFit/>
              </a:bodyPr>
              <a:lstStyle/>
              <a:p>
                <a:pPr algn="l" marL="131576" indent="-131576">
                  <a:buClr>
                    <a:schemeClr val="dk1"/>
                  </a:buClr>
                  <a:buSzTx/>
                  <a:buFontTx/>
                  <a:buChar char="•"/>
                </a:pPr>
                <a:r>
                  <a:rPr lang="en-US" sz="1650" dirty="0">
                    <a:solidFill>
                      <a:schemeClr val="dk1"/>
                    </a:solidFill>
                    <a:latin typeface="+mn-lt"/>
                    <a:ea typeface="+mn-ea"/>
                    <a:cs typeface="+mn-cs"/>
                  </a:rPr>
                  <a:t>Immutable audit trail of every change</a:t>
                </a:r>
              </a:p>
            </p:txBody>
          </p:sp>
        </p:grpSp>
      </p:grpSp>
      <p:grpSp>
        <p:nvGrpSpPr>
          <p:cNvPr id="59" name="footer"/>
          <p:cNvGrpSpPr/>
          <p:nvPr/>
        </p:nvGrpSpPr>
        <p:grpSpPr>
          <a:xfrm>
            <a:off x="602742" y="6445568"/>
            <a:ext cx="10986516" cy="264033"/>
            <a:chOff x="602742" y="6445568"/>
            <a:chExt cx="10986516" cy="264033"/>
          </a:xfrm>
        </p:grpSpPr>
        <p:sp>
          <p:nvSpPr>
            <p:cNvPr id="57" name="TextBox 57"/>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58" name="TextBox 58"/>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10 / 13</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10204124" cy="991743"/>
            <a:chOff x="591312" y="561975"/>
            <a:chExt cx="10204124" cy="991743"/>
          </a:xfrm>
        </p:grpSpPr>
        <p:sp>
          <p:nvSpPr>
            <p:cNvPr id="2" name="TextBox 2"/>
            <p:cNvSpPr txBox="1"/>
            <p:nvPr/>
          </p:nvSpPr>
          <p:spPr>
            <a:xfrm>
              <a:off x="601980" y="561975"/>
              <a:ext cx="3141817"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BUSINESS RULES · 1 / 2</a:t>
              </a:r>
            </a:p>
          </p:txBody>
        </p:sp>
        <p:sp>
          <p:nvSpPr>
            <p:cNvPr id="3" name="TextBox 3"/>
            <p:cNvSpPr txBox="1"/>
            <p:nvPr/>
          </p:nvSpPr>
          <p:spPr>
            <a:xfrm>
              <a:off x="591312" y="849630"/>
              <a:ext cx="10204124"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Rules that make double-booking impossible</a:t>
              </a:r>
            </a:p>
          </p:txBody>
        </p:sp>
      </p:grpSp>
      <p:grpSp>
        <p:nvGrpSpPr>
          <p:cNvPr id="42" name="rules-scheduling"/>
          <p:cNvGrpSpPr/>
          <p:nvPr/>
        </p:nvGrpSpPr>
        <p:grpSpPr>
          <a:xfrm>
            <a:off x="609600" y="1678305"/>
            <a:ext cx="6629400" cy="4314634"/>
            <a:chOff x="609600" y="1678305"/>
            <a:chExt cx="6629400" cy="4314634"/>
          </a:xfrm>
        </p:grpSpPr>
        <p:grpSp>
          <p:nvGrpSpPr>
            <p:cNvPr id="11" name="Group 11"/>
            <p:cNvGrpSpPr/>
            <p:nvPr/>
          </p:nvGrpSpPr>
          <p:grpSpPr>
            <a:xfrm>
              <a:off x="652462" y="1681162"/>
              <a:ext cx="271463" cy="271463"/>
              <a:chOff x="652462" y="1681162"/>
              <a:chExt cx="271463" cy="271463"/>
            </a:xfrm>
          </p:grpSpPr>
          <p:sp>
            <p:nvSpPr>
              <p:cNvPr id="5" name="Freeform 5"/>
              <p:cNvSpPr/>
              <p:nvPr/>
            </p:nvSpPr>
            <p:spPr>
              <a:xfrm>
                <a:off x="652462" y="1709738"/>
                <a:ext cx="228600" cy="228600"/>
              </a:xfrm>
              <a:custGeom>
                <a:avLst/>
                <a:gdLst/>
                <a:ahLst/>
                <a:cxnLst/>
                <a:rect l="l" t="t" r="r" b="b"/>
                <a:pathLst>
                  <a:path w="228600" h="228600">
                    <a:moveTo>
                      <a:pt x="125659" y="228600"/>
                    </a:moveTo>
                    <a:lnTo>
                      <a:pt x="28575" y="228600"/>
                    </a:lnTo>
                    <a:cubicBezTo>
                      <a:pt x="12793" y="228600"/>
                      <a:pt x="0" y="215807"/>
                      <a:pt x="0" y="200025"/>
                    </a:cubicBezTo>
                    <a:lnTo>
                      <a:pt x="0" y="28575"/>
                    </a:lnTo>
                    <a:cubicBezTo>
                      <a:pt x="0" y="12793"/>
                      <a:pt x="12793" y="0"/>
                      <a:pt x="28575" y="0"/>
                    </a:cubicBezTo>
                    <a:lnTo>
                      <a:pt x="200025" y="0"/>
                    </a:lnTo>
                    <a:cubicBezTo>
                      <a:pt x="215807" y="0"/>
                      <a:pt x="228600" y="12793"/>
                      <a:pt x="228600" y="28575"/>
                    </a:cubicBezTo>
                    <a:lnTo>
                      <a:pt x="228600" y="85725"/>
                    </a:lnTo>
                  </a:path>
                </a:pathLst>
              </a:custGeom>
              <a:noFill/>
              <a:ln w="28575">
                <a:solidFill>
                  <a:schemeClr val="accent2"/>
                </a:solidFill>
              </a:ln>
            </p:spPr>
          </p:sp>
          <p:sp>
            <p:nvSpPr>
              <p:cNvPr id="6" name="Freeform 6"/>
              <p:cNvSpPr/>
              <p:nvPr/>
            </p:nvSpPr>
            <p:spPr>
              <a:xfrm>
                <a:off x="809625" y="1838325"/>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28575">
                <a:solidFill>
                  <a:schemeClr val="accent2"/>
                </a:solidFill>
              </a:ln>
            </p:spPr>
          </p:sp>
          <p:sp>
            <p:nvSpPr>
              <p:cNvPr id="7" name="Freeform 7"/>
              <p:cNvSpPr/>
              <p:nvPr/>
            </p:nvSpPr>
            <p:spPr>
              <a:xfrm>
                <a:off x="823912" y="1681162"/>
                <a:ext cx="9525" cy="57150"/>
              </a:xfrm>
              <a:custGeom>
                <a:avLst/>
                <a:gdLst/>
                <a:ahLst/>
                <a:cxnLst/>
                <a:rect l="l" t="t" r="r" b="b"/>
                <a:pathLst>
                  <a:path w="9525" h="57150">
                    <a:moveTo>
                      <a:pt x="0" y="0"/>
                    </a:moveTo>
                    <a:lnTo>
                      <a:pt x="0" y="57150"/>
                    </a:lnTo>
                  </a:path>
                </a:pathLst>
              </a:custGeom>
              <a:noFill/>
              <a:ln w="28575">
                <a:solidFill>
                  <a:schemeClr val="accent2"/>
                </a:solidFill>
              </a:ln>
            </p:spPr>
          </p:sp>
          <p:sp>
            <p:nvSpPr>
              <p:cNvPr id="8" name="Freeform 8"/>
              <p:cNvSpPr/>
              <p:nvPr/>
            </p:nvSpPr>
            <p:spPr>
              <a:xfrm>
                <a:off x="709612" y="1681162"/>
                <a:ext cx="9525" cy="57150"/>
              </a:xfrm>
              <a:custGeom>
                <a:avLst/>
                <a:gdLst/>
                <a:ahLst/>
                <a:cxnLst/>
                <a:rect l="l" t="t" r="r" b="b"/>
                <a:pathLst>
                  <a:path w="9525" h="57150">
                    <a:moveTo>
                      <a:pt x="0" y="0"/>
                    </a:moveTo>
                    <a:lnTo>
                      <a:pt x="0" y="57150"/>
                    </a:lnTo>
                  </a:path>
                </a:pathLst>
              </a:custGeom>
              <a:noFill/>
              <a:ln w="28575">
                <a:solidFill>
                  <a:schemeClr val="accent2"/>
                </a:solidFill>
              </a:ln>
            </p:spPr>
          </p:sp>
          <p:sp>
            <p:nvSpPr>
              <p:cNvPr id="9" name="Freeform 9"/>
              <p:cNvSpPr/>
              <p:nvPr/>
            </p:nvSpPr>
            <p:spPr>
              <a:xfrm>
                <a:off x="652462" y="1795462"/>
                <a:ext cx="228600" cy="9525"/>
              </a:xfrm>
              <a:custGeom>
                <a:avLst/>
                <a:gdLst/>
                <a:ahLst/>
                <a:cxnLst/>
                <a:rect l="l" t="t" r="r" b="b"/>
                <a:pathLst>
                  <a:path w="228600" h="9525">
                    <a:moveTo>
                      <a:pt x="0" y="0"/>
                    </a:moveTo>
                    <a:lnTo>
                      <a:pt x="228600" y="0"/>
                    </a:lnTo>
                  </a:path>
                </a:pathLst>
              </a:custGeom>
              <a:noFill/>
              <a:ln w="28575">
                <a:solidFill>
                  <a:schemeClr val="accent2"/>
                </a:solidFill>
              </a:ln>
            </p:spPr>
          </p:sp>
          <p:sp>
            <p:nvSpPr>
              <p:cNvPr id="10" name="Freeform 10"/>
              <p:cNvSpPr/>
              <p:nvPr/>
            </p:nvSpPr>
            <p:spPr>
              <a:xfrm>
                <a:off x="866775" y="1873987"/>
                <a:ext cx="14288" cy="35776"/>
              </a:xfrm>
              <a:custGeom>
                <a:avLst/>
                <a:gdLst/>
                <a:ahLst/>
                <a:cxnLst/>
                <a:rect l="l" t="t" r="r" b="b"/>
                <a:pathLst>
                  <a:path w="14288" h="35776">
                    <a:moveTo>
                      <a:pt x="0" y="0"/>
                    </a:moveTo>
                    <a:lnTo>
                      <a:pt x="0" y="21488"/>
                    </a:lnTo>
                    <a:lnTo>
                      <a:pt x="14288" y="35776"/>
                    </a:lnTo>
                  </a:path>
                </a:pathLst>
              </a:custGeom>
              <a:noFill/>
              <a:ln w="28575">
                <a:solidFill>
                  <a:schemeClr val="accent2"/>
                </a:solidFill>
              </a:ln>
            </p:spPr>
          </p:sp>
        </p:grpSp>
        <p:sp>
          <p:nvSpPr>
            <p:cNvPr id="12" name="TextBox 12"/>
            <p:cNvSpPr txBox="1"/>
            <p:nvPr/>
          </p:nvSpPr>
          <p:spPr>
            <a:xfrm>
              <a:off x="1056132" y="1678305"/>
              <a:ext cx="1553441"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Scheduling</a:t>
              </a:r>
            </a:p>
          </p:txBody>
        </p:sp>
        <p:sp>
          <p:nvSpPr>
            <p:cNvPr id="13" name="Line 13"/>
            <p:cNvSpPr/>
            <p:nvPr/>
          </p:nvSpPr>
          <p:spPr>
            <a:xfrm>
              <a:off x="609600" y="2114550"/>
              <a:ext cx="6629400" cy="9525"/>
            </a:xfrm>
            <a:custGeom>
              <a:avLst/>
              <a:gdLst/>
              <a:ahLst/>
              <a:cxnLst/>
              <a:rect l="l" t="t" r="r" b="b"/>
              <a:pathLst>
                <a:path w="6629400" h="9525">
                  <a:moveTo>
                    <a:pt x="0" y="0"/>
                  </a:moveTo>
                  <a:lnTo>
                    <a:pt x="6629400" y="0"/>
                  </a:lnTo>
                </a:path>
              </a:pathLst>
            </a:custGeom>
            <a:noFill/>
            <a:ln w="19050">
              <a:solidFill>
                <a:schemeClr val="accent1"/>
              </a:solidFill>
            </a:ln>
          </p:spPr>
        </p:sp>
        <p:grpSp>
          <p:nvGrpSpPr>
            <p:cNvPr id="17" name="r-001"/>
            <p:cNvGrpSpPr/>
            <p:nvPr/>
          </p:nvGrpSpPr>
          <p:grpSpPr>
            <a:xfrm>
              <a:off x="609600" y="2286000"/>
              <a:ext cx="5708594" cy="392239"/>
              <a:chOff x="609600" y="2286000"/>
              <a:chExt cx="5708594" cy="392239"/>
            </a:xfrm>
          </p:grpSpPr>
          <p:sp>
            <p:nvSpPr>
              <p:cNvPr id="14" name="Rectangle 14"/>
              <p:cNvSpPr/>
              <p:nvPr/>
            </p:nvSpPr>
            <p:spPr>
              <a:xfrm>
                <a:off x="609600" y="2286000"/>
                <a:ext cx="1219200" cy="342900"/>
              </a:xfrm>
              <a:prstGeom prst="roundRect">
                <a:avLst>
                  <a:gd name="adj" fmla="val 50000"/>
                </a:avLst>
              </a:prstGeom>
              <a:solidFill>
                <a:schemeClr val="accent1"/>
              </a:solidFill>
              <a:ln>
                <a:noFill/>
              </a:ln>
            </p:spPr>
          </p:sp>
          <p:sp>
            <p:nvSpPr>
              <p:cNvPr id="15" name="TextBox 15"/>
              <p:cNvSpPr txBox="1"/>
              <p:nvPr/>
            </p:nvSpPr>
            <p:spPr>
              <a:xfrm>
                <a:off x="758801" y="23783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RULE-001</a:t>
                </a:r>
              </a:p>
            </p:txBody>
          </p:sp>
          <p:sp>
            <p:nvSpPr>
              <p:cNvPr id="16" name="TextBox 16"/>
              <p:cNvSpPr txBox="1"/>
              <p:nvPr/>
            </p:nvSpPr>
            <p:spPr>
              <a:xfrm>
                <a:off x="2010918" y="2355532"/>
                <a:ext cx="4307276"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No overlapping slots for the same instructor</a:t>
                </a:r>
              </a:p>
            </p:txBody>
          </p:sp>
        </p:grpSp>
        <p:grpSp>
          <p:nvGrpSpPr>
            <p:cNvPr id="21" name="r-002"/>
            <p:cNvGrpSpPr/>
            <p:nvPr/>
          </p:nvGrpSpPr>
          <p:grpSpPr>
            <a:xfrm>
              <a:off x="609600" y="2838450"/>
              <a:ext cx="5401028" cy="392239"/>
              <a:chOff x="609600" y="2838450"/>
              <a:chExt cx="5401028" cy="392239"/>
            </a:xfrm>
          </p:grpSpPr>
          <p:sp>
            <p:nvSpPr>
              <p:cNvPr id="18" name="Rectangle 18"/>
              <p:cNvSpPr/>
              <p:nvPr/>
            </p:nvSpPr>
            <p:spPr>
              <a:xfrm>
                <a:off x="609600" y="2838450"/>
                <a:ext cx="1219200" cy="342900"/>
              </a:xfrm>
              <a:prstGeom prst="roundRect">
                <a:avLst>
                  <a:gd name="adj" fmla="val 50000"/>
                </a:avLst>
              </a:prstGeom>
              <a:solidFill>
                <a:schemeClr val="accent1"/>
              </a:solidFill>
              <a:ln>
                <a:noFill/>
              </a:ln>
            </p:spPr>
          </p:sp>
          <p:sp>
            <p:nvSpPr>
              <p:cNvPr id="19" name="TextBox 19"/>
              <p:cNvSpPr txBox="1"/>
              <p:nvPr/>
            </p:nvSpPr>
            <p:spPr>
              <a:xfrm>
                <a:off x="758801" y="293084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RULE-002</a:t>
                </a:r>
              </a:p>
            </p:txBody>
          </p:sp>
          <p:sp>
            <p:nvSpPr>
              <p:cNvPr id="20" name="TextBox 20"/>
              <p:cNvSpPr txBox="1"/>
              <p:nvPr/>
            </p:nvSpPr>
            <p:spPr>
              <a:xfrm>
                <a:off x="2010918" y="2907982"/>
                <a:ext cx="399971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Capacity is counted in groups (default 1)</a:t>
                </a:r>
              </a:p>
            </p:txBody>
          </p:sp>
        </p:grpSp>
        <p:grpSp>
          <p:nvGrpSpPr>
            <p:cNvPr id="25" name="r-004"/>
            <p:cNvGrpSpPr/>
            <p:nvPr/>
          </p:nvGrpSpPr>
          <p:grpSpPr>
            <a:xfrm>
              <a:off x="609600" y="3390900"/>
              <a:ext cx="5351941" cy="392239"/>
              <a:chOff x="609600" y="3390900"/>
              <a:chExt cx="5351941" cy="392239"/>
            </a:xfrm>
          </p:grpSpPr>
          <p:sp>
            <p:nvSpPr>
              <p:cNvPr id="22" name="Rectangle 22"/>
              <p:cNvSpPr/>
              <p:nvPr/>
            </p:nvSpPr>
            <p:spPr>
              <a:xfrm>
                <a:off x="609600" y="3390900"/>
                <a:ext cx="1219200" cy="342900"/>
              </a:xfrm>
              <a:prstGeom prst="roundRect">
                <a:avLst>
                  <a:gd name="adj" fmla="val 50000"/>
                </a:avLst>
              </a:prstGeom>
              <a:solidFill>
                <a:schemeClr val="accent1"/>
              </a:solidFill>
              <a:ln>
                <a:noFill/>
              </a:ln>
            </p:spPr>
          </p:sp>
          <p:sp>
            <p:nvSpPr>
              <p:cNvPr id="23" name="TextBox 23"/>
              <p:cNvSpPr txBox="1"/>
              <p:nvPr/>
            </p:nvSpPr>
            <p:spPr>
              <a:xfrm>
                <a:off x="758801" y="34832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RULE-004</a:t>
                </a:r>
              </a:p>
            </p:txBody>
          </p:sp>
          <p:sp>
            <p:nvSpPr>
              <p:cNvPr id="24" name="TextBox 24"/>
              <p:cNvSpPr txBox="1"/>
              <p:nvPr/>
            </p:nvSpPr>
            <p:spPr>
              <a:xfrm>
                <a:off x="2010918" y="3460432"/>
                <a:ext cx="3950623"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One active booking per group per round</a:t>
                </a:r>
              </a:p>
            </p:txBody>
          </p:sp>
        </p:grpSp>
        <p:grpSp>
          <p:nvGrpSpPr>
            <p:cNvPr id="29" name="r-005"/>
            <p:cNvGrpSpPr/>
            <p:nvPr/>
          </p:nvGrpSpPr>
          <p:grpSpPr>
            <a:xfrm>
              <a:off x="609600" y="3943350"/>
              <a:ext cx="5443291" cy="392239"/>
              <a:chOff x="609600" y="3943350"/>
              <a:chExt cx="5443291" cy="392239"/>
            </a:xfrm>
          </p:grpSpPr>
          <p:sp>
            <p:nvSpPr>
              <p:cNvPr id="26" name="Rectangle 26"/>
              <p:cNvSpPr/>
              <p:nvPr/>
            </p:nvSpPr>
            <p:spPr>
              <a:xfrm>
                <a:off x="609600" y="3943350"/>
                <a:ext cx="1219200" cy="342900"/>
              </a:xfrm>
              <a:prstGeom prst="roundRect">
                <a:avLst>
                  <a:gd name="adj" fmla="val 50000"/>
                </a:avLst>
              </a:prstGeom>
              <a:solidFill>
                <a:schemeClr val="accent1"/>
              </a:solidFill>
              <a:ln>
                <a:noFill/>
              </a:ln>
            </p:spPr>
          </p:sp>
          <p:sp>
            <p:nvSpPr>
              <p:cNvPr id="27" name="TextBox 27"/>
              <p:cNvSpPr txBox="1"/>
              <p:nvPr/>
            </p:nvSpPr>
            <p:spPr>
              <a:xfrm>
                <a:off x="758801" y="403574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RULE-005</a:t>
                </a:r>
              </a:p>
            </p:txBody>
          </p:sp>
          <p:sp>
            <p:nvSpPr>
              <p:cNvPr id="28" name="TextBox 28"/>
              <p:cNvSpPr txBox="1"/>
              <p:nvPr/>
            </p:nvSpPr>
            <p:spPr>
              <a:xfrm>
                <a:off x="2010918" y="4012882"/>
                <a:ext cx="4041973"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Only the group's leader books or cancels</a:t>
                </a:r>
              </a:p>
            </p:txBody>
          </p:sp>
        </p:grpSp>
        <p:grpSp>
          <p:nvGrpSpPr>
            <p:cNvPr id="33" name="r-006"/>
            <p:cNvGrpSpPr/>
            <p:nvPr/>
          </p:nvGrpSpPr>
          <p:grpSpPr>
            <a:xfrm>
              <a:off x="609600" y="4495800"/>
              <a:ext cx="6057881" cy="392239"/>
              <a:chOff x="609600" y="4495800"/>
              <a:chExt cx="6057881" cy="392239"/>
            </a:xfrm>
          </p:grpSpPr>
          <p:sp>
            <p:nvSpPr>
              <p:cNvPr id="30" name="Rectangle 30"/>
              <p:cNvSpPr/>
              <p:nvPr/>
            </p:nvSpPr>
            <p:spPr>
              <a:xfrm>
                <a:off x="609600" y="4495800"/>
                <a:ext cx="1219200" cy="342900"/>
              </a:xfrm>
              <a:prstGeom prst="roundRect">
                <a:avLst>
                  <a:gd name="adj" fmla="val 50000"/>
                </a:avLst>
              </a:prstGeom>
              <a:solidFill>
                <a:schemeClr val="accent1"/>
              </a:solidFill>
              <a:ln>
                <a:noFill/>
              </a:ln>
            </p:spPr>
          </p:sp>
          <p:sp>
            <p:nvSpPr>
              <p:cNvPr id="31" name="TextBox 31"/>
              <p:cNvSpPr txBox="1"/>
              <p:nvPr/>
            </p:nvSpPr>
            <p:spPr>
              <a:xfrm>
                <a:off x="758801" y="45881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RULE-006</a:t>
                </a:r>
              </a:p>
            </p:txBody>
          </p:sp>
          <p:sp>
            <p:nvSpPr>
              <p:cNvPr id="32" name="TextBox 32"/>
              <p:cNvSpPr txBox="1"/>
              <p:nvPr/>
            </p:nvSpPr>
            <p:spPr>
              <a:xfrm>
                <a:off x="2010918" y="4565332"/>
                <a:ext cx="4656563"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Slot turns FULL at capacity, reopens on cancel</a:t>
                </a:r>
              </a:p>
            </p:txBody>
          </p:sp>
        </p:grpSp>
        <p:grpSp>
          <p:nvGrpSpPr>
            <p:cNvPr id="37" name="r-007"/>
            <p:cNvGrpSpPr/>
            <p:nvPr/>
          </p:nvGrpSpPr>
          <p:grpSpPr>
            <a:xfrm>
              <a:off x="609600" y="5048250"/>
              <a:ext cx="5882197" cy="392239"/>
              <a:chOff x="609600" y="5048250"/>
              <a:chExt cx="5882197" cy="392239"/>
            </a:xfrm>
          </p:grpSpPr>
          <p:sp>
            <p:nvSpPr>
              <p:cNvPr id="34" name="Rectangle 34"/>
              <p:cNvSpPr/>
              <p:nvPr/>
            </p:nvSpPr>
            <p:spPr>
              <a:xfrm>
                <a:off x="609600" y="5048250"/>
                <a:ext cx="1219200" cy="342900"/>
              </a:xfrm>
              <a:prstGeom prst="roundRect">
                <a:avLst>
                  <a:gd name="adj" fmla="val 50000"/>
                </a:avLst>
              </a:prstGeom>
              <a:solidFill>
                <a:schemeClr val="accent2"/>
              </a:solidFill>
              <a:ln>
                <a:noFill/>
              </a:ln>
            </p:spPr>
          </p:sp>
          <p:sp>
            <p:nvSpPr>
              <p:cNvPr id="35" name="TextBox 35"/>
              <p:cNvSpPr txBox="1"/>
              <p:nvPr/>
            </p:nvSpPr>
            <p:spPr>
              <a:xfrm>
                <a:off x="758801" y="514064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RULE-007</a:t>
                </a:r>
              </a:p>
            </p:txBody>
          </p:sp>
          <p:sp>
            <p:nvSpPr>
              <p:cNvPr id="36" name="TextBox 36"/>
              <p:cNvSpPr txBox="1"/>
              <p:nvPr/>
            </p:nvSpPr>
            <p:spPr>
              <a:xfrm>
                <a:off x="2010918" y="5117782"/>
                <a:ext cx="4480879"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No cancellation less than 2 hours before start</a:t>
                </a:r>
              </a:p>
            </p:txBody>
          </p:sp>
        </p:grpSp>
        <p:grpSp>
          <p:nvGrpSpPr>
            <p:cNvPr id="41" name="r-008"/>
            <p:cNvGrpSpPr/>
            <p:nvPr/>
          </p:nvGrpSpPr>
          <p:grpSpPr>
            <a:xfrm>
              <a:off x="609600" y="5600700"/>
              <a:ext cx="5352710" cy="392239"/>
              <a:chOff x="609600" y="5600700"/>
              <a:chExt cx="5352710" cy="392239"/>
            </a:xfrm>
          </p:grpSpPr>
          <p:sp>
            <p:nvSpPr>
              <p:cNvPr id="38" name="Rectangle 38"/>
              <p:cNvSpPr/>
              <p:nvPr/>
            </p:nvSpPr>
            <p:spPr>
              <a:xfrm>
                <a:off x="609600" y="5600700"/>
                <a:ext cx="1219200" cy="342900"/>
              </a:xfrm>
              <a:prstGeom prst="roundRect">
                <a:avLst>
                  <a:gd name="adj" fmla="val 50000"/>
                </a:avLst>
              </a:prstGeom>
              <a:solidFill>
                <a:schemeClr val="accent1"/>
              </a:solidFill>
              <a:ln>
                <a:noFill/>
              </a:ln>
            </p:spPr>
          </p:sp>
          <p:sp>
            <p:nvSpPr>
              <p:cNvPr id="39" name="TextBox 39"/>
              <p:cNvSpPr txBox="1"/>
              <p:nvPr/>
            </p:nvSpPr>
            <p:spPr>
              <a:xfrm>
                <a:off x="758801" y="56930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RULE-008</a:t>
                </a:r>
              </a:p>
            </p:txBody>
          </p:sp>
          <p:sp>
            <p:nvSpPr>
              <p:cNvPr id="40" name="TextBox 40"/>
              <p:cNvSpPr txBox="1"/>
              <p:nvPr/>
            </p:nvSpPr>
            <p:spPr>
              <a:xfrm>
                <a:off x="2010918" y="5670232"/>
                <a:ext cx="395139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Reminders 24 hours and 2 hours before</a:t>
                </a:r>
              </a:p>
            </p:txBody>
          </p:sp>
        </p:grpSp>
      </p:grpSp>
      <p:grpSp>
        <p:nvGrpSpPr>
          <p:cNvPr id="60" name="rules-groups"/>
          <p:cNvGrpSpPr/>
          <p:nvPr/>
        </p:nvGrpSpPr>
        <p:grpSpPr>
          <a:xfrm>
            <a:off x="7611618" y="1678305"/>
            <a:ext cx="3970782" cy="2523934"/>
            <a:chOff x="7611618" y="1678305"/>
            <a:chExt cx="3970782" cy="2523934"/>
          </a:xfrm>
        </p:grpSpPr>
        <p:grpSp>
          <p:nvGrpSpPr>
            <p:cNvPr id="49" name="Group 49"/>
            <p:cNvGrpSpPr/>
            <p:nvPr/>
          </p:nvGrpSpPr>
          <p:grpSpPr>
            <a:xfrm>
              <a:off x="7662862" y="1681162"/>
              <a:ext cx="257176" cy="257175"/>
              <a:chOff x="7662862" y="1681162"/>
              <a:chExt cx="257176" cy="257175"/>
            </a:xfrm>
          </p:grpSpPr>
          <p:sp>
            <p:nvSpPr>
              <p:cNvPr id="43" name="Freeform 43"/>
              <p:cNvSpPr/>
              <p:nvPr/>
            </p:nvSpPr>
            <p:spPr>
              <a:xfrm>
                <a:off x="7762875" y="1795462"/>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chemeClr val="accent3"/>
                </a:solidFill>
              </a:ln>
            </p:spPr>
          </p:sp>
          <p:sp>
            <p:nvSpPr>
              <p:cNvPr id="44" name="Freeform 44"/>
              <p:cNvSpPr/>
              <p:nvPr/>
            </p:nvSpPr>
            <p:spPr>
              <a:xfrm>
                <a:off x="7734300" y="1895475"/>
                <a:ext cx="114300" cy="42862"/>
              </a:xfrm>
              <a:custGeom>
                <a:avLst/>
                <a:gdLst/>
                <a:ahLst/>
                <a:cxnLst/>
                <a:rect l="l" t="t" r="r" b="b"/>
                <a:pathLst>
                  <a:path w="114300" h="42862">
                    <a:moveTo>
                      <a:pt x="0" y="42862"/>
                    </a:moveTo>
                    <a:lnTo>
                      <a:pt x="0" y="28575"/>
                    </a:lnTo>
                    <a:cubicBezTo>
                      <a:pt x="0" y="12793"/>
                      <a:pt x="12793" y="0"/>
                      <a:pt x="28575" y="0"/>
                    </a:cubicBezTo>
                    <a:lnTo>
                      <a:pt x="85725" y="0"/>
                    </a:lnTo>
                    <a:cubicBezTo>
                      <a:pt x="101507" y="0"/>
                      <a:pt x="114300" y="12793"/>
                      <a:pt x="114300" y="28575"/>
                    </a:cubicBezTo>
                    <a:lnTo>
                      <a:pt x="114300" y="42862"/>
                    </a:lnTo>
                  </a:path>
                </a:pathLst>
              </a:custGeom>
              <a:noFill/>
              <a:ln w="28575">
                <a:solidFill>
                  <a:schemeClr val="accent3"/>
                </a:solidFill>
              </a:ln>
            </p:spPr>
          </p:sp>
          <p:sp>
            <p:nvSpPr>
              <p:cNvPr id="45" name="Freeform 45"/>
              <p:cNvSpPr/>
              <p:nvPr/>
            </p:nvSpPr>
            <p:spPr>
              <a:xfrm>
                <a:off x="7834312" y="1681162"/>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chemeClr val="accent3"/>
                </a:solidFill>
              </a:ln>
            </p:spPr>
          </p:sp>
          <p:sp>
            <p:nvSpPr>
              <p:cNvPr id="46" name="Freeform 46"/>
              <p:cNvSpPr/>
              <p:nvPr/>
            </p:nvSpPr>
            <p:spPr>
              <a:xfrm>
                <a:off x="7862888" y="1781175"/>
                <a:ext cx="57150" cy="42862"/>
              </a:xfrm>
              <a:custGeom>
                <a:avLst/>
                <a:gdLst/>
                <a:ahLst/>
                <a:cxnLst/>
                <a:rect l="l" t="t" r="r" b="b"/>
                <a:pathLst>
                  <a:path w="57150" h="42862">
                    <a:moveTo>
                      <a:pt x="0" y="0"/>
                    </a:moveTo>
                    <a:lnTo>
                      <a:pt x="28575" y="0"/>
                    </a:lnTo>
                    <a:cubicBezTo>
                      <a:pt x="44357" y="0"/>
                      <a:pt x="57150" y="12793"/>
                      <a:pt x="57150" y="28575"/>
                    </a:cubicBezTo>
                    <a:lnTo>
                      <a:pt x="57150" y="42862"/>
                    </a:lnTo>
                  </a:path>
                </a:pathLst>
              </a:custGeom>
              <a:noFill/>
              <a:ln w="28575">
                <a:solidFill>
                  <a:schemeClr val="accent3"/>
                </a:solidFill>
              </a:ln>
            </p:spPr>
          </p:sp>
          <p:sp>
            <p:nvSpPr>
              <p:cNvPr id="47" name="Freeform 47"/>
              <p:cNvSpPr/>
              <p:nvPr/>
            </p:nvSpPr>
            <p:spPr>
              <a:xfrm>
                <a:off x="7691438" y="1681162"/>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28575">
                <a:solidFill>
                  <a:schemeClr val="accent3"/>
                </a:solidFill>
              </a:ln>
            </p:spPr>
          </p:sp>
          <p:sp>
            <p:nvSpPr>
              <p:cNvPr id="48" name="Freeform 48"/>
              <p:cNvSpPr/>
              <p:nvPr/>
            </p:nvSpPr>
            <p:spPr>
              <a:xfrm>
                <a:off x="7662862" y="1781175"/>
                <a:ext cx="57150" cy="42862"/>
              </a:xfrm>
              <a:custGeom>
                <a:avLst/>
                <a:gdLst/>
                <a:ahLst/>
                <a:cxnLst/>
                <a:rect l="l" t="t" r="r" b="b"/>
                <a:pathLst>
                  <a:path w="57150" h="42862">
                    <a:moveTo>
                      <a:pt x="0" y="42862"/>
                    </a:moveTo>
                    <a:lnTo>
                      <a:pt x="0" y="28575"/>
                    </a:lnTo>
                    <a:cubicBezTo>
                      <a:pt x="0" y="12793"/>
                      <a:pt x="12793" y="0"/>
                      <a:pt x="28575" y="0"/>
                    </a:cubicBezTo>
                    <a:lnTo>
                      <a:pt x="57150" y="0"/>
                    </a:lnTo>
                  </a:path>
                </a:pathLst>
              </a:custGeom>
              <a:noFill/>
              <a:ln w="28575">
                <a:solidFill>
                  <a:schemeClr val="accent3"/>
                </a:solidFill>
              </a:ln>
            </p:spPr>
          </p:sp>
        </p:grpSp>
        <p:sp>
          <p:nvSpPr>
            <p:cNvPr id="50" name="TextBox 50"/>
            <p:cNvSpPr txBox="1"/>
            <p:nvPr/>
          </p:nvSpPr>
          <p:spPr>
            <a:xfrm>
              <a:off x="8066532" y="1678305"/>
              <a:ext cx="2639409"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Groups &amp; accounts</a:t>
              </a:r>
            </a:p>
          </p:txBody>
        </p:sp>
        <p:sp>
          <p:nvSpPr>
            <p:cNvPr id="51" name="Line 51"/>
            <p:cNvSpPr/>
            <p:nvPr/>
          </p:nvSpPr>
          <p:spPr>
            <a:xfrm>
              <a:off x="7620000" y="2114550"/>
              <a:ext cx="3962400" cy="9525"/>
            </a:xfrm>
            <a:custGeom>
              <a:avLst/>
              <a:gdLst/>
              <a:ahLst/>
              <a:cxnLst/>
              <a:rect l="l" t="t" r="r" b="b"/>
              <a:pathLst>
                <a:path w="3962400" h="9525">
                  <a:moveTo>
                    <a:pt x="0" y="0"/>
                  </a:moveTo>
                  <a:lnTo>
                    <a:pt x="3962400" y="0"/>
                  </a:lnTo>
                </a:path>
              </a:pathLst>
            </a:custGeom>
            <a:noFill/>
            <a:ln w="19050">
              <a:solidFill>
                <a:schemeClr val="accent1"/>
              </a:solidFill>
            </a:ln>
          </p:spPr>
        </p:sp>
        <p:grpSp>
          <p:nvGrpSpPr>
            <p:cNvPr id="55" name="r-011"/>
            <p:cNvGrpSpPr/>
            <p:nvPr/>
          </p:nvGrpSpPr>
          <p:grpSpPr>
            <a:xfrm>
              <a:off x="7611618" y="2286000"/>
              <a:ext cx="3639297" cy="1078039"/>
              <a:chOff x="7611618" y="2286000"/>
              <a:chExt cx="3639297" cy="1078039"/>
            </a:xfrm>
          </p:grpSpPr>
          <p:sp>
            <p:nvSpPr>
              <p:cNvPr id="52" name="Rectangle 52"/>
              <p:cNvSpPr/>
              <p:nvPr/>
            </p:nvSpPr>
            <p:spPr>
              <a:xfrm>
                <a:off x="7620000" y="2286000"/>
                <a:ext cx="1219200" cy="342900"/>
              </a:xfrm>
              <a:prstGeom prst="roundRect">
                <a:avLst>
                  <a:gd name="adj" fmla="val 50000"/>
                </a:avLst>
              </a:prstGeom>
              <a:solidFill>
                <a:schemeClr val="accent1"/>
              </a:solidFill>
              <a:ln>
                <a:noFill/>
              </a:ln>
            </p:spPr>
          </p:sp>
          <p:sp>
            <p:nvSpPr>
              <p:cNvPr id="53" name="TextBox 53"/>
              <p:cNvSpPr txBox="1"/>
              <p:nvPr/>
            </p:nvSpPr>
            <p:spPr>
              <a:xfrm>
                <a:off x="7769201" y="23783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RULE-011</a:t>
                </a:r>
              </a:p>
            </p:txBody>
          </p:sp>
          <p:sp>
            <p:nvSpPr>
              <p:cNvPr id="54" name="TextBox 54"/>
              <p:cNvSpPr txBox="1"/>
              <p:nvPr/>
            </p:nvSpPr>
            <p:spPr>
              <a:xfrm>
                <a:off x="7611618" y="2774632"/>
                <a:ext cx="3639297"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dk1"/>
                    </a:solidFill>
                    <a:latin typeface="+mn-lt"/>
                    <a:ea typeface="+mn-ea"/>
                    <a:cs typeface="+mn-cs"/>
                  </a:rPr>
                  <a:t>Max 5 active members and one leader;</a:t>
                </a:r>
                <a:br/>
                <a:r>
                  <a:rPr lang="en-US" sz="1650" dirty="0">
                    <a:solidFill>
                      <a:schemeClr val="dk1"/>
                    </a:solidFill>
                    <a:latin typeface="+mn-lt"/>
                    <a:ea typeface="+mn-ea"/>
                    <a:cs typeface="+mn-cs"/>
                  </a:rPr>
                  <a:t>a student is in at most one group</a:t>
                </a:r>
              </a:p>
            </p:txBody>
          </p:sp>
        </p:grpSp>
        <p:grpSp>
          <p:nvGrpSpPr>
            <p:cNvPr id="59" name="r-013"/>
            <p:cNvGrpSpPr/>
            <p:nvPr/>
          </p:nvGrpSpPr>
          <p:grpSpPr>
            <a:xfrm>
              <a:off x="7611618" y="3429000"/>
              <a:ext cx="3385848" cy="773239"/>
              <a:chOff x="7611618" y="3429000"/>
              <a:chExt cx="3385848" cy="773239"/>
            </a:xfrm>
          </p:grpSpPr>
          <p:sp>
            <p:nvSpPr>
              <p:cNvPr id="56" name="Rectangle 56"/>
              <p:cNvSpPr/>
              <p:nvPr/>
            </p:nvSpPr>
            <p:spPr>
              <a:xfrm>
                <a:off x="7620000" y="3429000"/>
                <a:ext cx="1219200" cy="342900"/>
              </a:xfrm>
              <a:prstGeom prst="roundRect">
                <a:avLst>
                  <a:gd name="adj" fmla="val 50000"/>
                </a:avLst>
              </a:prstGeom>
              <a:solidFill>
                <a:schemeClr val="accent1"/>
              </a:solidFill>
              <a:ln>
                <a:noFill/>
              </a:ln>
            </p:spPr>
          </p:sp>
          <p:sp>
            <p:nvSpPr>
              <p:cNvPr id="57" name="TextBox 57"/>
              <p:cNvSpPr txBox="1"/>
              <p:nvPr/>
            </p:nvSpPr>
            <p:spPr>
              <a:xfrm>
                <a:off x="7769201" y="35213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RULE-013</a:t>
                </a:r>
              </a:p>
            </p:txBody>
          </p:sp>
          <p:sp>
            <p:nvSpPr>
              <p:cNvPr id="58" name="TextBox 58"/>
              <p:cNvSpPr txBox="1"/>
              <p:nvPr/>
            </p:nvSpPr>
            <p:spPr>
              <a:xfrm>
                <a:off x="7611618" y="3879532"/>
                <a:ext cx="3385848"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Self sign-up only with @fpt.edu.vn</a:t>
                </a:r>
              </a:p>
            </p:txBody>
          </p:sp>
        </p:grpSp>
      </p:grpSp>
      <p:grpSp>
        <p:nvGrpSpPr>
          <p:cNvPr id="67" name="enforced-note"/>
          <p:cNvGrpSpPr/>
          <p:nvPr/>
        </p:nvGrpSpPr>
        <p:grpSpPr>
          <a:xfrm>
            <a:off x="7620000" y="4324350"/>
            <a:ext cx="3962400" cy="1676400"/>
            <a:chOff x="7620000" y="4324350"/>
            <a:chExt cx="3962400" cy="1676400"/>
          </a:xfrm>
        </p:grpSpPr>
        <p:sp>
          <p:nvSpPr>
            <p:cNvPr id="61" name="Rectangle 61"/>
            <p:cNvSpPr/>
            <p:nvPr/>
          </p:nvSpPr>
          <p:spPr>
            <a:xfrm>
              <a:off x="7620000" y="4324350"/>
              <a:ext cx="3962400" cy="1676400"/>
            </a:xfrm>
            <a:prstGeom prst="roundRect">
              <a:avLst>
                <a:gd name="adj" fmla="val 6818"/>
              </a:avLst>
            </a:prstGeom>
            <a:solidFill>
              <a:srgbClr val="FEF3E8"/>
            </a:solidFill>
            <a:ln>
              <a:noFill/>
            </a:ln>
          </p:spPr>
        </p:sp>
        <p:grpSp>
          <p:nvGrpSpPr>
            <p:cNvPr id="64" name="Group 64"/>
            <p:cNvGrpSpPr/>
            <p:nvPr/>
          </p:nvGrpSpPr>
          <p:grpSpPr>
            <a:xfrm>
              <a:off x="7872181" y="4557712"/>
              <a:ext cx="279010" cy="257176"/>
              <a:chOff x="7872181" y="4557712"/>
              <a:chExt cx="279010" cy="257176"/>
            </a:xfrm>
          </p:grpSpPr>
          <p:sp>
            <p:nvSpPr>
              <p:cNvPr id="62" name="Freeform 62"/>
              <p:cNvSpPr/>
              <p:nvPr/>
            </p:nvSpPr>
            <p:spPr>
              <a:xfrm>
                <a:off x="7872181" y="4557712"/>
                <a:ext cx="279010" cy="254975"/>
              </a:xfrm>
              <a:custGeom>
                <a:avLst/>
                <a:gdLst/>
                <a:ahLst/>
                <a:cxnLst/>
                <a:rect l="l" t="t" r="r" b="b"/>
                <a:pathLst>
                  <a:path w="279010" h="254975">
                    <a:moveTo>
                      <a:pt x="140154" y="254975"/>
                    </a:moveTo>
                    <a:cubicBezTo>
                      <a:pt x="50649" y="227230"/>
                      <a:pt x="0" y="132765"/>
                      <a:pt x="26425" y="42862"/>
                    </a:cubicBezTo>
                    <a:cubicBezTo>
                      <a:pt x="70939" y="44899"/>
                      <a:pt x="114496" y="29526"/>
                      <a:pt x="147869" y="0"/>
                    </a:cubicBezTo>
                    <a:cubicBezTo>
                      <a:pt x="181242" y="29526"/>
                      <a:pt x="224800" y="44899"/>
                      <a:pt x="269313" y="42862"/>
                    </a:cubicBezTo>
                    <a:cubicBezTo>
                      <a:pt x="279010" y="75854"/>
                      <a:pt x="278561" y="110999"/>
                      <a:pt x="268027" y="143732"/>
                    </a:cubicBezTo>
                  </a:path>
                </a:pathLst>
              </a:custGeom>
              <a:noFill/>
              <a:ln w="28575">
                <a:solidFill>
                  <a:schemeClr val="accent2"/>
                </a:solidFill>
              </a:ln>
            </p:spPr>
          </p:sp>
          <p:sp>
            <p:nvSpPr>
              <p:cNvPr id="63" name="Freeform 63"/>
              <p:cNvSpPr/>
              <p:nvPr/>
            </p:nvSpPr>
            <p:spPr>
              <a:xfrm>
                <a:off x="8062912" y="4757738"/>
                <a:ext cx="85725" cy="57150"/>
              </a:xfrm>
              <a:custGeom>
                <a:avLst/>
                <a:gdLst/>
                <a:ahLst/>
                <a:cxnLst/>
                <a:rect l="l" t="t" r="r" b="b"/>
                <a:pathLst>
                  <a:path w="85725" h="57150">
                    <a:moveTo>
                      <a:pt x="0" y="28575"/>
                    </a:moveTo>
                    <a:lnTo>
                      <a:pt x="28575" y="57150"/>
                    </a:lnTo>
                    <a:lnTo>
                      <a:pt x="85725" y="0"/>
                    </a:lnTo>
                  </a:path>
                </a:pathLst>
              </a:custGeom>
              <a:noFill/>
              <a:ln w="28575">
                <a:solidFill>
                  <a:schemeClr val="accent2"/>
                </a:solidFill>
              </a:ln>
            </p:spPr>
          </p:sp>
        </p:grpSp>
        <p:sp>
          <p:nvSpPr>
            <p:cNvPr id="65" name="TextBox 65"/>
            <p:cNvSpPr txBox="1"/>
            <p:nvPr/>
          </p:nvSpPr>
          <p:spPr>
            <a:xfrm>
              <a:off x="8297418" y="4584382"/>
              <a:ext cx="182595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Enforced in code</a:t>
              </a:r>
            </a:p>
          </p:txBody>
        </p:sp>
        <p:sp>
          <p:nvSpPr>
            <p:cNvPr id="66" name="TextBox 66"/>
            <p:cNvSpPr txBox="1"/>
            <p:nvPr/>
          </p:nvSpPr>
          <p:spPr>
            <a:xfrm>
              <a:off x="7840980" y="5019675"/>
              <a:ext cx="3350971"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 row lock and a database check keep</a:t>
              </a:r>
              <a:br/>
              <a:r>
                <a:rPr lang="en-US" sz="1500" dirty="0">
                  <a:solidFill>
                    <a:schemeClr val="dk1"/>
                  </a:solidFill>
                  <a:latin typeface="+mn-lt"/>
                  <a:ea typeface="+mn-ea"/>
                  <a:cs typeface="+mn-cs"/>
                </a:rPr>
                <a:t>capacity exact even when many groups</a:t>
              </a:r>
              <a:br/>
              <a:r>
                <a:rPr lang="en-US" sz="1500" dirty="0">
                  <a:solidFill>
                    <a:schemeClr val="dk1"/>
                  </a:solidFill>
                  <a:latin typeface="+mn-lt"/>
                  <a:ea typeface="+mn-ea"/>
                  <a:cs typeface="+mn-cs"/>
                </a:rPr>
                <a:t>book the last seat at once (NFR-002)</a:t>
              </a:r>
            </a:p>
          </p:txBody>
        </p:sp>
      </p:grpSp>
      <p:grpSp>
        <p:nvGrpSpPr>
          <p:cNvPr id="70" name="footer"/>
          <p:cNvGrpSpPr/>
          <p:nvPr/>
        </p:nvGrpSpPr>
        <p:grpSpPr>
          <a:xfrm>
            <a:off x="602742" y="6445568"/>
            <a:ext cx="10986516" cy="264033"/>
            <a:chOff x="602742" y="6445568"/>
            <a:chExt cx="10986516" cy="264033"/>
          </a:xfrm>
        </p:grpSpPr>
        <p:sp>
          <p:nvSpPr>
            <p:cNvPr id="68" name="TextBox 68"/>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69" name="TextBox 69"/>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11 / 13</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1312" y="561975"/>
            <a:ext cx="10073024" cy="991743"/>
            <a:chOff x="591312" y="561975"/>
            <a:chExt cx="10073024" cy="991743"/>
          </a:xfrm>
        </p:grpSpPr>
        <p:sp>
          <p:nvSpPr>
            <p:cNvPr id="2" name="TextBox 2"/>
            <p:cNvSpPr txBox="1"/>
            <p:nvPr/>
          </p:nvSpPr>
          <p:spPr>
            <a:xfrm>
              <a:off x="601980" y="561975"/>
              <a:ext cx="3141817" cy="293370"/>
            </a:xfrm>
            <a:prstGeom prst="rect">
              <a:avLst/>
            </a:prstGeom>
            <a:noFill/>
            <a:ln>
              <a:noFill/>
            </a:ln>
          </p:spPr>
          <p:txBody>
            <a:bodyPr wrap="none" lIns="0" tIns="0" rIns="0" bIns="0" anchor="t" anchorCtr="0">
              <a:spAutoFit/>
            </a:bodyPr>
            <a:lstStyle/>
            <a:p>
              <a:pPr algn="l"/>
              <a:r>
                <a:rPr lang="en-US" sz="1500" spc="225" dirty="0">
                  <a:solidFill>
                    <a:schemeClr val="accent3"/>
                  </a:solidFill>
                  <a:latin typeface="+mn-lt"/>
                  <a:ea typeface="+mn-ea"/>
                  <a:cs typeface="+mn-cs"/>
                </a:rPr>
                <a:t>BUSINESS RULES · 2 / 2</a:t>
              </a:r>
            </a:p>
          </p:txBody>
        </p:sp>
        <p:sp>
          <p:nvSpPr>
            <p:cNvPr id="3" name="TextBox 3"/>
            <p:cNvSpPr txBox="1"/>
            <p:nvPr/>
          </p:nvSpPr>
          <p:spPr>
            <a:xfrm>
              <a:off x="591312" y="849630"/>
              <a:ext cx="10073024" cy="704088"/>
            </a:xfrm>
            <a:prstGeom prst="rect">
              <a:avLst/>
            </a:prstGeom>
            <a:noFill/>
            <a:ln>
              <a:noFill/>
            </a:ln>
          </p:spPr>
          <p:txBody>
            <a:bodyPr wrap="none" lIns="0" tIns="0" rIns="0" bIns="0" anchor="t" anchorCtr="0">
              <a:spAutoFit/>
            </a:bodyPr>
            <a:lstStyle/>
            <a:p>
              <a:pPr algn="l"/>
              <a:r>
                <a:rPr lang="en-US" sz="3600" b="1" dirty="0">
                  <a:solidFill>
                    <a:schemeClr val="accent1"/>
                  </a:solidFill>
                  <a:latin typeface="+mn-lt"/>
                  <a:ea typeface="+mn-ea"/>
                  <a:cs typeface="+mn-cs"/>
                </a:rPr>
                <a:t>Signed, traceable and scored the same way</a:t>
              </a:r>
            </a:p>
          </p:txBody>
        </p:sp>
      </p:grpSp>
      <p:grpSp>
        <p:nvGrpSpPr>
          <p:cNvPr id="31" name="minutes-lifecycle"/>
          <p:cNvGrpSpPr/>
          <p:nvPr/>
        </p:nvGrpSpPr>
        <p:grpSpPr>
          <a:xfrm>
            <a:off x="601980" y="1571625"/>
            <a:ext cx="10980420" cy="1857375"/>
            <a:chOff x="601980" y="1571625"/>
            <a:chExt cx="10980420" cy="1857375"/>
          </a:xfrm>
        </p:grpSpPr>
        <p:sp>
          <p:nvSpPr>
            <p:cNvPr id="5" name="TextBox 5"/>
            <p:cNvSpPr txBox="1"/>
            <p:nvPr/>
          </p:nvSpPr>
          <p:spPr>
            <a:xfrm>
              <a:off x="601980" y="1571625"/>
              <a:ext cx="5367290" cy="293370"/>
            </a:xfrm>
            <a:prstGeom prst="rect">
              <a:avLst/>
            </a:prstGeom>
            <a:noFill/>
            <a:ln>
              <a:noFill/>
            </a:ln>
          </p:spPr>
          <p:txBody>
            <a:bodyPr wrap="none" lIns="0" tIns="0" rIns="0" bIns="0" anchor="t" anchorCtr="0">
              <a:spAutoFit/>
            </a:bodyPr>
            <a:lstStyle/>
            <a:p>
              <a:pPr algn="l"/>
              <a:r>
                <a:rPr lang="en-US" sz="1500" spc="150" dirty="0">
                  <a:solidFill>
                    <a:schemeClr val="accent3"/>
                  </a:solidFill>
                  <a:latin typeface="+mn-lt"/>
                  <a:ea typeface="+mn-ea"/>
                  <a:cs typeface="+mn-cs"/>
                </a:rPr>
                <a:t>MINUTES LIFECYCLE · RULE-018 / RULE-019</a:t>
              </a:r>
            </a:p>
          </p:txBody>
        </p:sp>
        <p:grpSp>
          <p:nvGrpSpPr>
            <p:cNvPr id="8" name="state-draft"/>
            <p:cNvGrpSpPr/>
            <p:nvPr/>
          </p:nvGrpSpPr>
          <p:grpSpPr>
            <a:xfrm>
              <a:off x="609600" y="1905000"/>
              <a:ext cx="2095500" cy="571500"/>
              <a:chOff x="609600" y="1905000"/>
              <a:chExt cx="2095500" cy="571500"/>
            </a:xfrm>
          </p:grpSpPr>
          <p:sp>
            <p:nvSpPr>
              <p:cNvPr id="6" name="Rectangle 6"/>
              <p:cNvSpPr/>
              <p:nvPr/>
            </p:nvSpPr>
            <p:spPr>
              <a:xfrm>
                <a:off x="609600" y="1905000"/>
                <a:ext cx="2095500" cy="571500"/>
              </a:xfrm>
              <a:prstGeom prst="roundRect">
                <a:avLst>
                  <a:gd name="adj" fmla="val 20000"/>
                </a:avLst>
              </a:prstGeom>
              <a:solidFill>
                <a:schemeClr val="lt2"/>
              </a:solidFill>
              <a:ln w="19050">
                <a:solidFill>
                  <a:schemeClr val="accent1"/>
                </a:solidFill>
              </a:ln>
            </p:spPr>
          </p:sp>
          <p:sp>
            <p:nvSpPr>
              <p:cNvPr id="7" name="TextBox 7"/>
              <p:cNvSpPr txBox="1"/>
              <p:nvPr/>
            </p:nvSpPr>
            <p:spPr>
              <a:xfrm>
                <a:off x="1386861" y="2098358"/>
                <a:ext cx="54097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Draft</a:t>
                </a:r>
              </a:p>
            </p:txBody>
          </p:sp>
        </p:grpSp>
        <p:sp>
          <p:nvSpPr>
            <p:cNvPr id="9" name="Line 9"/>
            <p:cNvSpPr/>
            <p:nvPr/>
          </p:nvSpPr>
          <p:spPr>
            <a:xfrm>
              <a:off x="2705100" y="2190750"/>
              <a:ext cx="1466850" cy="1"/>
            </a:xfrm>
            <a:prstGeom prst="line">
              <a:avLst/>
            </a:prstGeom>
            <a:noFill/>
            <a:ln w="23812">
              <a:solidFill>
                <a:schemeClr val="accent1"/>
              </a:solidFill>
              <a:tailEnd type="triangle" w="med" len="med"/>
            </a:ln>
          </p:spPr>
        </p:sp>
        <p:sp>
          <p:nvSpPr>
            <p:cNvPr id="10" name="TextBox 10"/>
            <p:cNvSpPr txBox="1"/>
            <p:nvPr/>
          </p:nvSpPr>
          <p:spPr>
            <a:xfrm>
              <a:off x="2807676" y="1930718"/>
              <a:ext cx="1261699"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Leader submits</a:t>
              </a:r>
            </a:p>
          </p:txBody>
        </p:sp>
        <p:grpSp>
          <p:nvGrpSpPr>
            <p:cNvPr id="13" name="state-review"/>
            <p:cNvGrpSpPr/>
            <p:nvPr/>
          </p:nvGrpSpPr>
          <p:grpSpPr>
            <a:xfrm>
              <a:off x="4191000" y="1905000"/>
              <a:ext cx="2476500" cy="571500"/>
              <a:chOff x="4191000" y="1905000"/>
              <a:chExt cx="2476500" cy="571500"/>
            </a:xfrm>
          </p:grpSpPr>
          <p:sp>
            <p:nvSpPr>
              <p:cNvPr id="11" name="Rectangle 11"/>
              <p:cNvSpPr/>
              <p:nvPr/>
            </p:nvSpPr>
            <p:spPr>
              <a:xfrm>
                <a:off x="4191000" y="1905000"/>
                <a:ext cx="2476500" cy="571500"/>
              </a:xfrm>
              <a:prstGeom prst="roundRect">
                <a:avLst>
                  <a:gd name="adj" fmla="val 20000"/>
                </a:avLst>
              </a:prstGeom>
              <a:solidFill>
                <a:schemeClr val="lt2"/>
              </a:solidFill>
              <a:ln w="19050">
                <a:solidFill>
                  <a:schemeClr val="accent1"/>
                </a:solidFill>
              </a:ln>
            </p:spPr>
          </p:sp>
          <p:sp>
            <p:nvSpPr>
              <p:cNvPr id="12" name="TextBox 12"/>
              <p:cNvSpPr txBox="1"/>
              <p:nvPr/>
            </p:nvSpPr>
            <p:spPr>
              <a:xfrm>
                <a:off x="4719768" y="2098358"/>
                <a:ext cx="1418964"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Under review</a:t>
                </a:r>
              </a:p>
            </p:txBody>
          </p:sp>
        </p:grpSp>
        <p:sp>
          <p:nvSpPr>
            <p:cNvPr id="14" name="Line 14"/>
            <p:cNvSpPr/>
            <p:nvPr/>
          </p:nvSpPr>
          <p:spPr>
            <a:xfrm>
              <a:off x="6667500" y="2190750"/>
              <a:ext cx="1695450" cy="1"/>
            </a:xfrm>
            <a:prstGeom prst="line">
              <a:avLst/>
            </a:prstGeom>
            <a:noFill/>
            <a:ln w="23812">
              <a:solidFill>
                <a:schemeClr val="accent1"/>
              </a:solidFill>
              <a:tailEnd type="triangle" w="med" len="med"/>
            </a:ln>
          </p:spPr>
        </p:sp>
        <p:sp>
          <p:nvSpPr>
            <p:cNvPr id="15" name="TextBox 15"/>
            <p:cNvSpPr txBox="1"/>
            <p:nvPr/>
          </p:nvSpPr>
          <p:spPr>
            <a:xfrm>
              <a:off x="6728105" y="1930718"/>
              <a:ext cx="157424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Instructor approves</a:t>
              </a:r>
            </a:p>
          </p:txBody>
        </p:sp>
        <p:grpSp>
          <p:nvGrpSpPr>
            <p:cNvPr id="22" name="state-approved"/>
            <p:cNvGrpSpPr/>
            <p:nvPr/>
          </p:nvGrpSpPr>
          <p:grpSpPr>
            <a:xfrm>
              <a:off x="8382000" y="1905000"/>
              <a:ext cx="3200400" cy="571500"/>
              <a:chOff x="8382000" y="1905000"/>
              <a:chExt cx="3200400" cy="571500"/>
            </a:xfrm>
          </p:grpSpPr>
          <p:sp>
            <p:nvSpPr>
              <p:cNvPr id="16" name="Rectangle 16"/>
              <p:cNvSpPr/>
              <p:nvPr/>
            </p:nvSpPr>
            <p:spPr>
              <a:xfrm>
                <a:off x="8382000" y="1905000"/>
                <a:ext cx="3200400" cy="571500"/>
              </a:xfrm>
              <a:prstGeom prst="roundRect">
                <a:avLst>
                  <a:gd name="adj" fmla="val 20000"/>
                </a:avLst>
              </a:prstGeom>
              <a:solidFill>
                <a:schemeClr val="accent1"/>
              </a:solidFill>
              <a:ln>
                <a:noFill/>
              </a:ln>
            </p:spPr>
          </p:sp>
          <p:grpSp>
            <p:nvGrpSpPr>
              <p:cNvPr id="20" name="Group 20"/>
              <p:cNvGrpSpPr/>
              <p:nvPr/>
            </p:nvGrpSpPr>
            <p:grpSpPr>
              <a:xfrm>
                <a:off x="8674100" y="2076450"/>
                <a:ext cx="177800" cy="228600"/>
                <a:chOff x="8674100" y="2076450"/>
                <a:chExt cx="177800" cy="228600"/>
              </a:xfrm>
            </p:grpSpPr>
            <p:sp>
              <p:nvSpPr>
                <p:cNvPr id="17" name="Freeform 17"/>
                <p:cNvSpPr/>
                <p:nvPr/>
              </p:nvSpPr>
              <p:spPr>
                <a:xfrm>
                  <a:off x="8674100" y="2178050"/>
                  <a:ext cx="177800" cy="127000"/>
                </a:xfrm>
                <a:custGeom>
                  <a:avLst/>
                  <a:gdLst/>
                  <a:ahLst/>
                  <a:cxnLst/>
                  <a:rect l="l" t="t" r="r" b="b"/>
                  <a:pathLst>
                    <a:path w="177800" h="127000">
                      <a:moveTo>
                        <a:pt x="0" y="25400"/>
                      </a:moveTo>
                      <a:cubicBezTo>
                        <a:pt x="0" y="11372"/>
                        <a:pt x="11372" y="0"/>
                        <a:pt x="25400" y="0"/>
                      </a:cubicBezTo>
                      <a:lnTo>
                        <a:pt x="152400" y="0"/>
                      </a:lnTo>
                      <a:cubicBezTo>
                        <a:pt x="166428" y="0"/>
                        <a:pt x="177800" y="11372"/>
                        <a:pt x="177800" y="25400"/>
                      </a:cubicBezTo>
                      <a:lnTo>
                        <a:pt x="177800" y="101600"/>
                      </a:lnTo>
                      <a:cubicBezTo>
                        <a:pt x="177800" y="115628"/>
                        <a:pt x="166428" y="127000"/>
                        <a:pt x="152400" y="127000"/>
                      </a:cubicBezTo>
                      <a:lnTo>
                        <a:pt x="25400" y="127000"/>
                      </a:lnTo>
                      <a:cubicBezTo>
                        <a:pt x="11372" y="127000"/>
                        <a:pt x="0" y="115628"/>
                        <a:pt x="0" y="101600"/>
                      </a:cubicBezTo>
                      <a:lnTo>
                        <a:pt x="0" y="25400"/>
                      </a:lnTo>
                    </a:path>
                  </a:pathLst>
                </a:custGeom>
                <a:noFill/>
                <a:ln w="25400">
                  <a:solidFill>
                    <a:schemeClr val="accent2"/>
                  </a:solidFill>
                </a:ln>
              </p:spPr>
            </p:sp>
            <p:sp>
              <p:nvSpPr>
                <p:cNvPr id="18" name="Freeform 18"/>
                <p:cNvSpPr/>
                <p:nvPr/>
              </p:nvSpPr>
              <p:spPr>
                <a:xfrm>
                  <a:off x="8750300" y="222885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25400">
                  <a:solidFill>
                    <a:schemeClr val="accent2"/>
                  </a:solidFill>
                </a:ln>
              </p:spPr>
            </p:sp>
            <p:sp>
              <p:nvSpPr>
                <p:cNvPr id="19" name="Freeform 19"/>
                <p:cNvSpPr/>
                <p:nvPr/>
              </p:nvSpPr>
              <p:spPr>
                <a:xfrm>
                  <a:off x="8712200" y="2076450"/>
                  <a:ext cx="101600" cy="101600"/>
                </a:xfrm>
                <a:custGeom>
                  <a:avLst/>
                  <a:gdLst/>
                  <a:ahLst/>
                  <a:cxnLst/>
                  <a:rect l="l" t="t" r="r" b="b"/>
                  <a:pathLst>
                    <a:path w="101600" h="101600">
                      <a:moveTo>
                        <a:pt x="0" y="101600"/>
                      </a:moveTo>
                      <a:lnTo>
                        <a:pt x="0" y="50800"/>
                      </a:lnTo>
                      <a:cubicBezTo>
                        <a:pt x="0" y="22744"/>
                        <a:pt x="22744" y="0"/>
                        <a:pt x="50800" y="0"/>
                      </a:cubicBezTo>
                      <a:cubicBezTo>
                        <a:pt x="78856" y="0"/>
                        <a:pt x="101600" y="22744"/>
                        <a:pt x="101600" y="50800"/>
                      </a:cubicBezTo>
                      <a:lnTo>
                        <a:pt x="101600" y="101600"/>
                      </a:lnTo>
                    </a:path>
                  </a:pathLst>
                </a:custGeom>
                <a:noFill/>
                <a:ln w="25400">
                  <a:solidFill>
                    <a:schemeClr val="accent2"/>
                  </a:solidFill>
                </a:ln>
              </p:spPr>
            </p:sp>
          </p:grpSp>
          <p:sp>
            <p:nvSpPr>
              <p:cNvPr id="21" name="TextBox 21"/>
              <p:cNvSpPr txBox="1"/>
              <p:nvPr/>
            </p:nvSpPr>
            <p:spPr>
              <a:xfrm>
                <a:off x="9115345" y="2098358"/>
                <a:ext cx="1962311"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Approved · locked</a:t>
                </a:r>
              </a:p>
            </p:txBody>
          </p:sp>
        </p:grpSp>
        <p:sp>
          <p:nvSpPr>
            <p:cNvPr id="23" name="Line 23"/>
            <p:cNvSpPr/>
            <p:nvPr/>
          </p:nvSpPr>
          <p:spPr>
            <a:xfrm>
              <a:off x="5143500" y="2476500"/>
              <a:ext cx="1" cy="438150"/>
            </a:xfrm>
            <a:prstGeom prst="line">
              <a:avLst/>
            </a:prstGeom>
            <a:noFill/>
            <a:ln w="23812">
              <a:solidFill>
                <a:schemeClr val="accent2"/>
              </a:solidFill>
              <a:tailEnd type="triangle" w="med" len="med"/>
            </a:ln>
          </p:spPr>
        </p:sp>
        <p:sp>
          <p:nvSpPr>
            <p:cNvPr id="24" name="Line 24"/>
            <p:cNvSpPr/>
            <p:nvPr/>
          </p:nvSpPr>
          <p:spPr>
            <a:xfrm flipV="1">
              <a:off x="5715000" y="2495550"/>
              <a:ext cx="1" cy="438150"/>
            </a:xfrm>
            <a:prstGeom prst="line">
              <a:avLst/>
            </a:prstGeom>
            <a:noFill/>
            <a:ln w="23812">
              <a:solidFill>
                <a:schemeClr val="accent2"/>
              </a:solidFill>
              <a:tailEnd type="triangle" w="med" len="med"/>
            </a:ln>
          </p:spPr>
        </p:sp>
        <p:sp>
          <p:nvSpPr>
            <p:cNvPr id="25" name="TextBox 25"/>
            <p:cNvSpPr txBox="1"/>
            <p:nvPr/>
          </p:nvSpPr>
          <p:spPr>
            <a:xfrm>
              <a:off x="3674615" y="2635568"/>
              <a:ext cx="1361443"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Instructor rejects</a:t>
              </a:r>
            </a:p>
          </p:txBody>
        </p:sp>
        <p:sp>
          <p:nvSpPr>
            <p:cNvPr id="26" name="TextBox 26"/>
            <p:cNvSpPr txBox="1"/>
            <p:nvPr/>
          </p:nvSpPr>
          <p:spPr>
            <a:xfrm>
              <a:off x="5822442" y="2635568"/>
              <a:ext cx="142318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Leader resubmits</a:t>
              </a:r>
            </a:p>
          </p:txBody>
        </p:sp>
        <p:grpSp>
          <p:nvGrpSpPr>
            <p:cNvPr id="29" name="state-rejected"/>
            <p:cNvGrpSpPr/>
            <p:nvPr/>
          </p:nvGrpSpPr>
          <p:grpSpPr>
            <a:xfrm>
              <a:off x="4191000" y="2933700"/>
              <a:ext cx="2476500" cy="495300"/>
              <a:chOff x="4191000" y="2933700"/>
              <a:chExt cx="2476500" cy="495300"/>
            </a:xfrm>
          </p:grpSpPr>
          <p:sp>
            <p:nvSpPr>
              <p:cNvPr id="27" name="Rectangle 27"/>
              <p:cNvSpPr/>
              <p:nvPr/>
            </p:nvSpPr>
            <p:spPr>
              <a:xfrm>
                <a:off x="4191000" y="2933700"/>
                <a:ext cx="2476500" cy="495300"/>
              </a:xfrm>
              <a:prstGeom prst="roundRect">
                <a:avLst>
                  <a:gd name="adj" fmla="val 23077"/>
                </a:avLst>
              </a:prstGeom>
              <a:solidFill>
                <a:schemeClr val="lt1"/>
              </a:solidFill>
              <a:ln w="19050">
                <a:solidFill>
                  <a:schemeClr val="accent2"/>
                </a:solidFill>
              </a:ln>
            </p:spPr>
          </p:sp>
          <p:sp>
            <p:nvSpPr>
              <p:cNvPr id="28" name="TextBox 28"/>
              <p:cNvSpPr txBox="1"/>
              <p:nvPr/>
            </p:nvSpPr>
            <p:spPr>
              <a:xfrm>
                <a:off x="4627292" y="3079432"/>
                <a:ext cx="1603917"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Needs revision</a:t>
                </a:r>
              </a:p>
            </p:txBody>
          </p:sp>
        </p:grpSp>
        <p:sp>
          <p:nvSpPr>
            <p:cNvPr id="30" name="TextBox 30"/>
            <p:cNvSpPr txBox="1"/>
            <p:nvPr/>
          </p:nvSpPr>
          <p:spPr>
            <a:xfrm>
              <a:off x="8579373" y="2657475"/>
              <a:ext cx="2805653" cy="293370"/>
            </a:xfrm>
            <a:prstGeom prst="rect">
              <a:avLst/>
            </a:prstGeom>
            <a:noFill/>
            <a:ln>
              <a:noFill/>
            </a:ln>
          </p:spPr>
          <p:txBody>
            <a:bodyPr wrap="none" lIns="0" tIns="0" rIns="0" bIns="0" anchor="t" anchorCtr="0">
              <a:spAutoFit/>
            </a:bodyPr>
            <a:lstStyle/>
            <a:p>
              <a:pPr algn="ctr"/>
              <a:r>
                <a:rPr lang="en-US" sz="1500" dirty="0">
                  <a:solidFill>
                    <a:schemeClr val="dk1"/>
                  </a:solidFill>
                  <a:latin typeface="+mn-lt"/>
                  <a:ea typeface="+mn-ea"/>
                  <a:cs typeface="+mn-cs"/>
                </a:rPr>
                <a:t>Both sides sign within 48 hours</a:t>
              </a:r>
            </a:p>
          </p:txBody>
        </p:sp>
      </p:grpSp>
      <p:grpSp>
        <p:nvGrpSpPr>
          <p:cNvPr id="49" name="rules-meetings"/>
          <p:cNvGrpSpPr/>
          <p:nvPr/>
        </p:nvGrpSpPr>
        <p:grpSpPr>
          <a:xfrm>
            <a:off x="609600" y="3678555"/>
            <a:ext cx="5295900" cy="2009584"/>
            <a:chOff x="609600" y="3678555"/>
            <a:chExt cx="5295900" cy="2009584"/>
          </a:xfrm>
        </p:grpSpPr>
        <p:grpSp>
          <p:nvGrpSpPr>
            <p:cNvPr id="34" name="Group 34"/>
            <p:cNvGrpSpPr/>
            <p:nvPr/>
          </p:nvGrpSpPr>
          <p:grpSpPr>
            <a:xfrm>
              <a:off x="647700" y="3714750"/>
              <a:ext cx="228600" cy="228600"/>
              <a:chOff x="647700" y="3714750"/>
              <a:chExt cx="228600" cy="228600"/>
            </a:xfrm>
          </p:grpSpPr>
          <p:sp>
            <p:nvSpPr>
              <p:cNvPr id="32" name="Freeform 32"/>
              <p:cNvSpPr/>
              <p:nvPr/>
            </p:nvSpPr>
            <p:spPr>
              <a:xfrm>
                <a:off x="736600" y="3714750"/>
                <a:ext cx="139700" cy="139700"/>
              </a:xfrm>
              <a:custGeom>
                <a:avLst/>
                <a:gdLst/>
                <a:ahLst/>
                <a:cxnLst/>
                <a:rect l="l" t="t" r="r" b="b"/>
                <a:pathLst>
                  <a:path w="139700" h="139700">
                    <a:moveTo>
                      <a:pt x="139700" y="139700"/>
                    </a:moveTo>
                    <a:lnTo>
                      <a:pt x="101600" y="101600"/>
                    </a:lnTo>
                    <a:lnTo>
                      <a:pt x="12700" y="101600"/>
                    </a:lnTo>
                    <a:cubicBezTo>
                      <a:pt x="5686" y="101600"/>
                      <a:pt x="0" y="95914"/>
                      <a:pt x="0" y="88900"/>
                    </a:cubicBezTo>
                    <a:lnTo>
                      <a:pt x="0" y="12700"/>
                    </a:lnTo>
                    <a:cubicBezTo>
                      <a:pt x="0" y="5686"/>
                      <a:pt x="5686" y="0"/>
                      <a:pt x="12700" y="0"/>
                    </a:cubicBezTo>
                    <a:lnTo>
                      <a:pt x="127000" y="0"/>
                    </a:lnTo>
                    <a:cubicBezTo>
                      <a:pt x="134014" y="0"/>
                      <a:pt x="139700" y="5686"/>
                      <a:pt x="139700" y="12700"/>
                    </a:cubicBezTo>
                    <a:lnTo>
                      <a:pt x="139700" y="139700"/>
                    </a:lnTo>
                  </a:path>
                </a:pathLst>
              </a:custGeom>
              <a:noFill/>
              <a:ln w="25400">
                <a:solidFill>
                  <a:schemeClr val="accent3"/>
                </a:solidFill>
              </a:ln>
            </p:spPr>
          </p:sp>
          <p:sp>
            <p:nvSpPr>
              <p:cNvPr id="33" name="Freeform 33"/>
              <p:cNvSpPr/>
              <p:nvPr/>
            </p:nvSpPr>
            <p:spPr>
              <a:xfrm>
                <a:off x="647700" y="3803650"/>
                <a:ext cx="139700" cy="139700"/>
              </a:xfrm>
              <a:custGeom>
                <a:avLst/>
                <a:gdLst/>
                <a:ahLst/>
                <a:cxnLst/>
                <a:rect l="l" t="t" r="r" b="b"/>
                <a:pathLst>
                  <a:path w="139700" h="139700">
                    <a:moveTo>
                      <a:pt x="139700" y="63500"/>
                    </a:moveTo>
                    <a:lnTo>
                      <a:pt x="139700" y="88900"/>
                    </a:lnTo>
                    <a:cubicBezTo>
                      <a:pt x="139700" y="95914"/>
                      <a:pt x="134014" y="101600"/>
                      <a:pt x="127000" y="101600"/>
                    </a:cubicBezTo>
                    <a:lnTo>
                      <a:pt x="38100" y="101600"/>
                    </a:lnTo>
                    <a:lnTo>
                      <a:pt x="0" y="139700"/>
                    </a:lnTo>
                    <a:lnTo>
                      <a:pt x="0" y="12700"/>
                    </a:lnTo>
                    <a:cubicBezTo>
                      <a:pt x="0" y="5686"/>
                      <a:pt x="5686" y="0"/>
                      <a:pt x="12700" y="0"/>
                    </a:cubicBezTo>
                    <a:lnTo>
                      <a:pt x="38100" y="0"/>
                    </a:lnTo>
                  </a:path>
                </a:pathLst>
              </a:custGeom>
              <a:noFill/>
              <a:ln w="25400">
                <a:solidFill>
                  <a:schemeClr val="accent3"/>
                </a:solidFill>
              </a:ln>
            </p:spPr>
          </p:sp>
        </p:grpSp>
        <p:sp>
          <p:nvSpPr>
            <p:cNvPr id="35" name="TextBox 35"/>
            <p:cNvSpPr txBox="1"/>
            <p:nvPr/>
          </p:nvSpPr>
          <p:spPr>
            <a:xfrm>
              <a:off x="1018032" y="3678555"/>
              <a:ext cx="125523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Meetings</a:t>
              </a:r>
            </a:p>
          </p:txBody>
        </p:sp>
        <p:sp>
          <p:nvSpPr>
            <p:cNvPr id="36" name="Line 36"/>
            <p:cNvSpPr/>
            <p:nvPr/>
          </p:nvSpPr>
          <p:spPr>
            <a:xfrm>
              <a:off x="609600" y="4076700"/>
              <a:ext cx="5295900" cy="9525"/>
            </a:xfrm>
            <a:custGeom>
              <a:avLst/>
              <a:gdLst/>
              <a:ahLst/>
              <a:cxnLst/>
              <a:rect l="l" t="t" r="r" b="b"/>
              <a:pathLst>
                <a:path w="5295900" h="9525">
                  <a:moveTo>
                    <a:pt x="0" y="0"/>
                  </a:moveTo>
                  <a:lnTo>
                    <a:pt x="5295900" y="0"/>
                  </a:lnTo>
                </a:path>
              </a:pathLst>
            </a:custGeom>
            <a:noFill/>
            <a:ln w="19050">
              <a:solidFill>
                <a:schemeClr val="accent1"/>
              </a:solidFill>
            </a:ln>
          </p:spPr>
        </p:sp>
        <p:grpSp>
          <p:nvGrpSpPr>
            <p:cNvPr id="40" name="r-014"/>
            <p:cNvGrpSpPr/>
            <p:nvPr/>
          </p:nvGrpSpPr>
          <p:grpSpPr>
            <a:xfrm>
              <a:off x="609600" y="4229100"/>
              <a:ext cx="4930196" cy="392239"/>
              <a:chOff x="609600" y="4229100"/>
              <a:chExt cx="4930196" cy="392239"/>
            </a:xfrm>
          </p:grpSpPr>
          <p:sp>
            <p:nvSpPr>
              <p:cNvPr id="37" name="Rectangle 37"/>
              <p:cNvSpPr/>
              <p:nvPr/>
            </p:nvSpPr>
            <p:spPr>
              <a:xfrm>
                <a:off x="609600" y="4229100"/>
                <a:ext cx="1219200" cy="342900"/>
              </a:xfrm>
              <a:prstGeom prst="roundRect">
                <a:avLst>
                  <a:gd name="adj" fmla="val 50000"/>
                </a:avLst>
              </a:prstGeom>
              <a:solidFill>
                <a:schemeClr val="accent1"/>
              </a:solidFill>
              <a:ln>
                <a:noFill/>
              </a:ln>
            </p:spPr>
          </p:sp>
          <p:sp>
            <p:nvSpPr>
              <p:cNvPr id="38" name="TextBox 38"/>
              <p:cNvSpPr txBox="1"/>
              <p:nvPr/>
            </p:nvSpPr>
            <p:spPr>
              <a:xfrm>
                <a:off x="758801" y="43214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RULE-014</a:t>
                </a:r>
              </a:p>
            </p:txBody>
          </p:sp>
          <p:sp>
            <p:nvSpPr>
              <p:cNvPr id="39" name="TextBox 39"/>
              <p:cNvSpPr txBox="1"/>
              <p:nvPr/>
            </p:nvSpPr>
            <p:spPr>
              <a:xfrm>
                <a:off x="1972818" y="4298632"/>
                <a:ext cx="3566978"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Artifacts lock 2 h before the meeting</a:t>
                </a:r>
              </a:p>
            </p:txBody>
          </p:sp>
        </p:grpSp>
        <p:grpSp>
          <p:nvGrpSpPr>
            <p:cNvPr id="44" name="r-016"/>
            <p:cNvGrpSpPr/>
            <p:nvPr/>
          </p:nvGrpSpPr>
          <p:grpSpPr>
            <a:xfrm>
              <a:off x="609600" y="4762500"/>
              <a:ext cx="4881153" cy="392239"/>
              <a:chOff x="609600" y="4762500"/>
              <a:chExt cx="4881153" cy="392239"/>
            </a:xfrm>
          </p:grpSpPr>
          <p:sp>
            <p:nvSpPr>
              <p:cNvPr id="41" name="Rectangle 41"/>
              <p:cNvSpPr/>
              <p:nvPr/>
            </p:nvSpPr>
            <p:spPr>
              <a:xfrm>
                <a:off x="609600" y="4762500"/>
                <a:ext cx="1219200" cy="342900"/>
              </a:xfrm>
              <a:prstGeom prst="roundRect">
                <a:avLst>
                  <a:gd name="adj" fmla="val 50000"/>
                </a:avLst>
              </a:prstGeom>
              <a:solidFill>
                <a:schemeClr val="accent1"/>
              </a:solidFill>
              <a:ln>
                <a:noFill/>
              </a:ln>
            </p:spPr>
          </p:sp>
          <p:sp>
            <p:nvSpPr>
              <p:cNvPr id="42" name="TextBox 42"/>
              <p:cNvSpPr txBox="1"/>
              <p:nvPr/>
            </p:nvSpPr>
            <p:spPr>
              <a:xfrm>
                <a:off x="758801" y="48548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RULE-016</a:t>
                </a:r>
              </a:p>
            </p:txBody>
          </p:sp>
          <p:sp>
            <p:nvSpPr>
              <p:cNvPr id="43" name="TextBox 43"/>
              <p:cNvSpPr txBox="1"/>
              <p:nvPr/>
            </p:nvSpPr>
            <p:spPr>
              <a:xfrm>
                <a:off x="1972818" y="4832032"/>
                <a:ext cx="351793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One session per confirmed booking</a:t>
                </a:r>
              </a:p>
            </p:txBody>
          </p:sp>
        </p:grpSp>
        <p:grpSp>
          <p:nvGrpSpPr>
            <p:cNvPr id="48" name="r-017"/>
            <p:cNvGrpSpPr/>
            <p:nvPr/>
          </p:nvGrpSpPr>
          <p:grpSpPr>
            <a:xfrm>
              <a:off x="609600" y="5295900"/>
              <a:ext cx="5250823" cy="392239"/>
              <a:chOff x="609600" y="5295900"/>
              <a:chExt cx="5250823" cy="392239"/>
            </a:xfrm>
          </p:grpSpPr>
          <p:sp>
            <p:nvSpPr>
              <p:cNvPr id="45" name="Rectangle 45"/>
              <p:cNvSpPr/>
              <p:nvPr/>
            </p:nvSpPr>
            <p:spPr>
              <a:xfrm>
                <a:off x="609600" y="5295900"/>
                <a:ext cx="1219200" cy="342900"/>
              </a:xfrm>
              <a:prstGeom prst="roundRect">
                <a:avLst>
                  <a:gd name="adj" fmla="val 50000"/>
                </a:avLst>
              </a:prstGeom>
              <a:solidFill>
                <a:schemeClr val="accent1"/>
              </a:solidFill>
              <a:ln>
                <a:noFill/>
              </a:ln>
            </p:spPr>
          </p:sp>
          <p:sp>
            <p:nvSpPr>
              <p:cNvPr id="46" name="TextBox 46"/>
              <p:cNvSpPr txBox="1"/>
              <p:nvPr/>
            </p:nvSpPr>
            <p:spPr>
              <a:xfrm>
                <a:off x="758801" y="53882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RULE-017</a:t>
                </a:r>
              </a:p>
            </p:txBody>
          </p:sp>
          <p:sp>
            <p:nvSpPr>
              <p:cNvPr id="47" name="TextBox 47"/>
              <p:cNvSpPr txBox="1"/>
              <p:nvPr/>
            </p:nvSpPr>
            <p:spPr>
              <a:xfrm>
                <a:off x="1972818" y="5365432"/>
                <a:ext cx="388760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Requirement needs title, priority, owner</a:t>
                </a:r>
              </a:p>
            </p:txBody>
          </p:sp>
        </p:grpSp>
      </p:grpSp>
      <p:grpSp>
        <p:nvGrpSpPr>
          <p:cNvPr id="74" name="rules-evaluation"/>
          <p:cNvGrpSpPr/>
          <p:nvPr/>
        </p:nvGrpSpPr>
        <p:grpSpPr>
          <a:xfrm>
            <a:off x="6286500" y="3678555"/>
            <a:ext cx="5295900" cy="2542984"/>
            <a:chOff x="6286500" y="3678555"/>
            <a:chExt cx="5295900" cy="2542984"/>
          </a:xfrm>
        </p:grpSpPr>
        <p:grpSp>
          <p:nvGrpSpPr>
            <p:cNvPr id="55" name="Group 55"/>
            <p:cNvGrpSpPr/>
            <p:nvPr/>
          </p:nvGrpSpPr>
          <p:grpSpPr>
            <a:xfrm>
              <a:off x="6324600" y="3714750"/>
              <a:ext cx="228600" cy="225424"/>
              <a:chOff x="6324600" y="3714750"/>
              <a:chExt cx="228600" cy="225424"/>
            </a:xfrm>
          </p:grpSpPr>
          <p:sp>
            <p:nvSpPr>
              <p:cNvPr id="50" name="Freeform 50"/>
              <p:cNvSpPr/>
              <p:nvPr/>
            </p:nvSpPr>
            <p:spPr>
              <a:xfrm>
                <a:off x="6375400" y="3930649"/>
                <a:ext cx="127000" cy="9525"/>
              </a:xfrm>
              <a:custGeom>
                <a:avLst/>
                <a:gdLst/>
                <a:ahLst/>
                <a:cxnLst/>
                <a:rect l="l" t="t" r="r" b="b"/>
                <a:pathLst>
                  <a:path w="127000" h="9525">
                    <a:moveTo>
                      <a:pt x="0" y="0"/>
                    </a:moveTo>
                    <a:lnTo>
                      <a:pt x="127000" y="0"/>
                    </a:lnTo>
                  </a:path>
                </a:pathLst>
              </a:custGeom>
              <a:noFill/>
              <a:ln w="25400">
                <a:solidFill>
                  <a:schemeClr val="accent3"/>
                </a:solidFill>
              </a:ln>
            </p:spPr>
          </p:sp>
          <p:sp>
            <p:nvSpPr>
              <p:cNvPr id="51" name="Freeform 51"/>
              <p:cNvSpPr/>
              <p:nvPr/>
            </p:nvSpPr>
            <p:spPr>
              <a:xfrm>
                <a:off x="6362700" y="3740150"/>
                <a:ext cx="152400" cy="12700"/>
              </a:xfrm>
              <a:custGeom>
                <a:avLst/>
                <a:gdLst/>
                <a:ahLst/>
                <a:cxnLst/>
                <a:rect l="l" t="t" r="r" b="b"/>
                <a:pathLst>
                  <a:path w="152400" h="12700">
                    <a:moveTo>
                      <a:pt x="0" y="12700"/>
                    </a:moveTo>
                    <a:lnTo>
                      <a:pt x="76200" y="0"/>
                    </a:lnTo>
                    <a:lnTo>
                      <a:pt x="152400" y="12700"/>
                    </a:lnTo>
                  </a:path>
                </a:pathLst>
              </a:custGeom>
              <a:noFill/>
              <a:ln w="25400">
                <a:solidFill>
                  <a:schemeClr val="accent3"/>
                </a:solidFill>
              </a:ln>
            </p:spPr>
          </p:sp>
          <p:sp>
            <p:nvSpPr>
              <p:cNvPr id="52" name="Freeform 52"/>
              <p:cNvSpPr/>
              <p:nvPr/>
            </p:nvSpPr>
            <p:spPr>
              <a:xfrm>
                <a:off x="6438900" y="3714750"/>
                <a:ext cx="9525" cy="215899"/>
              </a:xfrm>
              <a:custGeom>
                <a:avLst/>
                <a:gdLst/>
                <a:ahLst/>
                <a:cxnLst/>
                <a:rect l="l" t="t" r="r" b="b"/>
                <a:pathLst>
                  <a:path w="9525" h="215899">
                    <a:moveTo>
                      <a:pt x="0" y="0"/>
                    </a:moveTo>
                    <a:lnTo>
                      <a:pt x="0" y="215899"/>
                    </a:lnTo>
                  </a:path>
                </a:pathLst>
              </a:custGeom>
              <a:noFill/>
              <a:ln w="25400">
                <a:solidFill>
                  <a:schemeClr val="accent3"/>
                </a:solidFill>
              </a:ln>
            </p:spPr>
          </p:sp>
          <p:sp>
            <p:nvSpPr>
              <p:cNvPr id="53" name="Freeform 53"/>
              <p:cNvSpPr/>
              <p:nvPr/>
            </p:nvSpPr>
            <p:spPr>
              <a:xfrm>
                <a:off x="6324600" y="375285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chemeClr val="accent3"/>
                </a:solidFill>
              </a:ln>
            </p:spPr>
          </p:sp>
          <p:sp>
            <p:nvSpPr>
              <p:cNvPr id="54" name="Freeform 54"/>
              <p:cNvSpPr/>
              <p:nvPr/>
            </p:nvSpPr>
            <p:spPr>
              <a:xfrm>
                <a:off x="6477000" y="375285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chemeClr val="accent3"/>
                </a:solidFill>
              </a:ln>
            </p:spPr>
          </p:sp>
        </p:grpSp>
        <p:sp>
          <p:nvSpPr>
            <p:cNvPr id="56" name="TextBox 56"/>
            <p:cNvSpPr txBox="1"/>
            <p:nvPr/>
          </p:nvSpPr>
          <p:spPr>
            <a:xfrm>
              <a:off x="6694932" y="3678555"/>
              <a:ext cx="240296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Evaluation &amp; data</a:t>
              </a:r>
            </a:p>
          </p:txBody>
        </p:sp>
        <p:sp>
          <p:nvSpPr>
            <p:cNvPr id="57" name="Line 57"/>
            <p:cNvSpPr/>
            <p:nvPr/>
          </p:nvSpPr>
          <p:spPr>
            <a:xfrm>
              <a:off x="6286500" y="4076700"/>
              <a:ext cx="5295900" cy="9525"/>
            </a:xfrm>
            <a:custGeom>
              <a:avLst/>
              <a:gdLst/>
              <a:ahLst/>
              <a:cxnLst/>
              <a:rect l="l" t="t" r="r" b="b"/>
              <a:pathLst>
                <a:path w="5295900" h="9525">
                  <a:moveTo>
                    <a:pt x="0" y="0"/>
                  </a:moveTo>
                  <a:lnTo>
                    <a:pt x="5295900" y="0"/>
                  </a:lnTo>
                </a:path>
              </a:pathLst>
            </a:custGeom>
            <a:noFill/>
            <a:ln w="19050">
              <a:solidFill>
                <a:schemeClr val="accent1"/>
              </a:solidFill>
            </a:ln>
          </p:spPr>
        </p:sp>
        <p:grpSp>
          <p:nvGrpSpPr>
            <p:cNvPr id="61" name="r-020"/>
            <p:cNvGrpSpPr/>
            <p:nvPr/>
          </p:nvGrpSpPr>
          <p:grpSpPr>
            <a:xfrm>
              <a:off x="6286500" y="4229100"/>
              <a:ext cx="4950951" cy="392239"/>
              <a:chOff x="6286500" y="4229100"/>
              <a:chExt cx="4950951" cy="392239"/>
            </a:xfrm>
          </p:grpSpPr>
          <p:sp>
            <p:nvSpPr>
              <p:cNvPr id="58" name="Rectangle 58"/>
              <p:cNvSpPr/>
              <p:nvPr/>
            </p:nvSpPr>
            <p:spPr>
              <a:xfrm>
                <a:off x="6286500" y="4229100"/>
                <a:ext cx="1219200" cy="342900"/>
              </a:xfrm>
              <a:prstGeom prst="roundRect">
                <a:avLst>
                  <a:gd name="adj" fmla="val 50000"/>
                </a:avLst>
              </a:prstGeom>
              <a:solidFill>
                <a:schemeClr val="accent2"/>
              </a:solidFill>
              <a:ln>
                <a:noFill/>
              </a:ln>
            </p:spPr>
          </p:sp>
          <p:sp>
            <p:nvSpPr>
              <p:cNvPr id="59" name="TextBox 59"/>
              <p:cNvSpPr txBox="1"/>
              <p:nvPr/>
            </p:nvSpPr>
            <p:spPr>
              <a:xfrm>
                <a:off x="6435701" y="43214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RULE-020</a:t>
                </a:r>
              </a:p>
            </p:txBody>
          </p:sp>
          <p:sp>
            <p:nvSpPr>
              <p:cNvPr id="60" name="TextBox 60"/>
              <p:cNvSpPr txBox="1"/>
              <p:nvPr/>
            </p:nvSpPr>
            <p:spPr>
              <a:xfrm>
                <a:off x="7649718" y="4298632"/>
                <a:ext cx="3587733"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Scores 0–100, weighted 40 / 40 / 20</a:t>
                </a:r>
              </a:p>
            </p:txBody>
          </p:sp>
        </p:grpSp>
        <p:grpSp>
          <p:nvGrpSpPr>
            <p:cNvPr id="65" name="r-021"/>
            <p:cNvGrpSpPr/>
            <p:nvPr/>
          </p:nvGrpSpPr>
          <p:grpSpPr>
            <a:xfrm>
              <a:off x="6286500" y="4762500"/>
              <a:ext cx="4881148" cy="392239"/>
              <a:chOff x="6286500" y="4762500"/>
              <a:chExt cx="4881148" cy="392239"/>
            </a:xfrm>
          </p:grpSpPr>
          <p:sp>
            <p:nvSpPr>
              <p:cNvPr id="62" name="Rectangle 62"/>
              <p:cNvSpPr/>
              <p:nvPr/>
            </p:nvSpPr>
            <p:spPr>
              <a:xfrm>
                <a:off x="6286500" y="4762500"/>
                <a:ext cx="1219200" cy="342900"/>
              </a:xfrm>
              <a:prstGeom prst="roundRect">
                <a:avLst>
                  <a:gd name="adj" fmla="val 50000"/>
                </a:avLst>
              </a:prstGeom>
              <a:solidFill>
                <a:schemeClr val="accent1"/>
              </a:solidFill>
              <a:ln>
                <a:noFill/>
              </a:ln>
            </p:spPr>
          </p:sp>
          <p:sp>
            <p:nvSpPr>
              <p:cNvPr id="63" name="TextBox 63"/>
              <p:cNvSpPr txBox="1"/>
              <p:nvPr/>
            </p:nvSpPr>
            <p:spPr>
              <a:xfrm>
                <a:off x="6435701" y="48548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RULE-021</a:t>
                </a:r>
              </a:p>
            </p:txBody>
          </p:sp>
          <p:sp>
            <p:nvSpPr>
              <p:cNvPr id="64" name="TextBox 64"/>
              <p:cNvSpPr txBox="1"/>
              <p:nvPr/>
            </p:nvSpPr>
            <p:spPr>
              <a:xfrm>
                <a:off x="7649718" y="4832032"/>
                <a:ext cx="351793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Students see published scores only</a:t>
                </a:r>
              </a:p>
            </p:txBody>
          </p:sp>
        </p:grpSp>
        <p:grpSp>
          <p:nvGrpSpPr>
            <p:cNvPr id="69" name="r-023"/>
            <p:cNvGrpSpPr/>
            <p:nvPr/>
          </p:nvGrpSpPr>
          <p:grpSpPr>
            <a:xfrm>
              <a:off x="6286500" y="5295900"/>
              <a:ext cx="4868730" cy="392239"/>
              <a:chOff x="6286500" y="5295900"/>
              <a:chExt cx="4868730" cy="392239"/>
            </a:xfrm>
          </p:grpSpPr>
          <p:sp>
            <p:nvSpPr>
              <p:cNvPr id="66" name="Rectangle 66"/>
              <p:cNvSpPr/>
              <p:nvPr/>
            </p:nvSpPr>
            <p:spPr>
              <a:xfrm>
                <a:off x="6286500" y="5295900"/>
                <a:ext cx="1219200" cy="342900"/>
              </a:xfrm>
              <a:prstGeom prst="roundRect">
                <a:avLst>
                  <a:gd name="adj" fmla="val 50000"/>
                </a:avLst>
              </a:prstGeom>
              <a:solidFill>
                <a:schemeClr val="accent1"/>
              </a:solidFill>
              <a:ln>
                <a:noFill/>
              </a:ln>
            </p:spPr>
          </p:sp>
          <p:sp>
            <p:nvSpPr>
              <p:cNvPr id="67" name="TextBox 67"/>
              <p:cNvSpPr txBox="1"/>
              <p:nvPr/>
            </p:nvSpPr>
            <p:spPr>
              <a:xfrm>
                <a:off x="6435701" y="53882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RULE-023</a:t>
                </a:r>
              </a:p>
            </p:txBody>
          </p:sp>
          <p:sp>
            <p:nvSpPr>
              <p:cNvPr id="68" name="TextBox 68"/>
              <p:cNvSpPr txBox="1"/>
              <p:nvPr/>
            </p:nvSpPr>
            <p:spPr>
              <a:xfrm>
                <a:off x="7649718" y="5365432"/>
                <a:ext cx="350551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Every change goes to the audit trail</a:t>
                </a:r>
              </a:p>
            </p:txBody>
          </p:sp>
        </p:grpSp>
        <p:grpSp>
          <p:nvGrpSpPr>
            <p:cNvPr id="73" name="r-025"/>
            <p:cNvGrpSpPr/>
            <p:nvPr/>
          </p:nvGrpSpPr>
          <p:grpSpPr>
            <a:xfrm>
              <a:off x="6286500" y="5829300"/>
              <a:ext cx="4956246" cy="392239"/>
              <a:chOff x="6286500" y="5829300"/>
              <a:chExt cx="4956246" cy="392239"/>
            </a:xfrm>
          </p:grpSpPr>
          <p:sp>
            <p:nvSpPr>
              <p:cNvPr id="70" name="Rectangle 70"/>
              <p:cNvSpPr/>
              <p:nvPr/>
            </p:nvSpPr>
            <p:spPr>
              <a:xfrm>
                <a:off x="6286500" y="5829300"/>
                <a:ext cx="1219200" cy="342900"/>
              </a:xfrm>
              <a:prstGeom prst="roundRect">
                <a:avLst>
                  <a:gd name="adj" fmla="val 50000"/>
                </a:avLst>
              </a:prstGeom>
              <a:solidFill>
                <a:schemeClr val="accent1"/>
              </a:solidFill>
              <a:ln>
                <a:noFill/>
              </a:ln>
            </p:spPr>
          </p:sp>
          <p:sp>
            <p:nvSpPr>
              <p:cNvPr id="71" name="TextBox 71"/>
              <p:cNvSpPr txBox="1"/>
              <p:nvPr/>
            </p:nvSpPr>
            <p:spPr>
              <a:xfrm>
                <a:off x="6435701" y="5921692"/>
                <a:ext cx="92079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RULE-025</a:t>
                </a:r>
              </a:p>
            </p:txBody>
          </p:sp>
          <p:sp>
            <p:nvSpPr>
              <p:cNvPr id="72" name="TextBox 72"/>
              <p:cNvSpPr txBox="1"/>
              <p:nvPr/>
            </p:nvSpPr>
            <p:spPr>
              <a:xfrm>
                <a:off x="7649718" y="5898832"/>
                <a:ext cx="3593028"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Kept 6 months, then archived 1 year</a:t>
                </a:r>
              </a:p>
            </p:txBody>
          </p:sp>
        </p:grpSp>
      </p:grpSp>
      <p:grpSp>
        <p:nvGrpSpPr>
          <p:cNvPr id="77" name="footer"/>
          <p:cNvGrpSpPr/>
          <p:nvPr/>
        </p:nvGrpSpPr>
        <p:grpSpPr>
          <a:xfrm>
            <a:off x="602742" y="6445568"/>
            <a:ext cx="10986516" cy="264033"/>
            <a:chOff x="602742" y="6445568"/>
            <a:chExt cx="10986516" cy="264033"/>
          </a:xfrm>
        </p:grpSpPr>
        <p:sp>
          <p:nvSpPr>
            <p:cNvPr id="75" name="TextBox 75"/>
            <p:cNvSpPr txBox="1"/>
            <p:nvPr/>
          </p:nvSpPr>
          <p:spPr>
            <a:xfrm>
              <a:off x="602742" y="6445568"/>
              <a:ext cx="507346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Student Schedule &amp; Guidance Management System · Group 2</a:t>
              </a:r>
            </a:p>
          </p:txBody>
        </p:sp>
        <p:sp>
          <p:nvSpPr>
            <p:cNvPr id="76" name="TextBox 76"/>
            <p:cNvSpPr txBox="1"/>
            <p:nvPr/>
          </p:nvSpPr>
          <p:spPr>
            <a:xfrm>
              <a:off x="11019754" y="6445568"/>
              <a:ext cx="569504" cy="264033"/>
            </a:xfrm>
            <a:prstGeom prst="rect">
              <a:avLst/>
            </a:prstGeom>
            <a:noFill/>
            <a:ln>
              <a:noFill/>
            </a:ln>
          </p:spPr>
          <p:txBody>
            <a:bodyPr wrap="none" lIns="0" tIns="0" rIns="0" bIns="0" anchor="t" anchorCtr="0">
              <a:spAutoFit/>
            </a:bodyPr>
            <a:lstStyle/>
            <a:p>
              <a:pPr algn="r"/>
              <a:r>
                <a:rPr lang="en-US" sz="1350" dirty="0">
                  <a:solidFill>
                    <a:schemeClr val="accent5"/>
                  </a:solidFill>
                  <a:latin typeface="+mn-lt"/>
                  <a:ea typeface="+mn-ea"/>
                  <a:cs typeface="+mn-cs"/>
                </a:rPr>
                <a:t>12 / 13</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takeaway"/>
          <p:cNvGrpSpPr/>
          <p:nvPr/>
        </p:nvGrpSpPr>
        <p:grpSpPr>
          <a:xfrm>
            <a:off x="590550" y="904875"/>
            <a:ext cx="7003771" cy="1880235"/>
            <a:chOff x="590550" y="904875"/>
            <a:chExt cx="7003771" cy="1880235"/>
          </a:xfrm>
        </p:grpSpPr>
        <p:sp>
          <p:nvSpPr>
            <p:cNvPr id="2" name="TextBox 2"/>
            <p:cNvSpPr txBox="1"/>
            <p:nvPr/>
          </p:nvSpPr>
          <p:spPr>
            <a:xfrm>
              <a:off x="601980" y="904875"/>
              <a:ext cx="1424824" cy="293370"/>
            </a:xfrm>
            <a:prstGeom prst="rect">
              <a:avLst/>
            </a:prstGeom>
            <a:noFill/>
            <a:ln>
              <a:noFill/>
            </a:ln>
          </p:spPr>
          <p:txBody>
            <a:bodyPr wrap="none" lIns="0" tIns="0" rIns="0" bIns="0" anchor="t" anchorCtr="0">
              <a:spAutoFit/>
            </a:bodyPr>
            <a:lstStyle/>
            <a:p>
              <a:pPr algn="l"/>
              <a:r>
                <a:rPr lang="en-US" sz="1500" spc="225" dirty="0">
                  <a:solidFill>
                    <a:srgbClr val="9FB3D1"/>
                  </a:solidFill>
                  <a:latin typeface="+mn-lt"/>
                  <a:ea typeface="+mn-ea"/>
                  <a:cs typeface="+mn-cs"/>
                </a:rPr>
                <a:t>TAKEAWAY</a:t>
              </a:r>
            </a:p>
          </p:txBody>
        </p:sp>
        <p:sp>
          <p:nvSpPr>
            <p:cNvPr id="3" name="TextBox 3"/>
            <p:cNvSpPr txBox="1"/>
            <p:nvPr/>
          </p:nvSpPr>
          <p:spPr>
            <a:xfrm>
              <a:off x="590550" y="1318260"/>
              <a:ext cx="7003771" cy="1466850"/>
            </a:xfrm>
            <a:prstGeom prst="rect">
              <a:avLst/>
            </a:prstGeom>
            <a:noFill/>
            <a:ln>
              <a:noFill/>
            </a:ln>
          </p:spPr>
          <p:txBody>
            <a:bodyPr wrap="none" lIns="0" tIns="0" rIns="0" bIns="0" anchor="t" anchorCtr="0">
              <a:spAutoFit/>
            </a:bodyPr>
            <a:lstStyle/>
            <a:p>
              <a:pPr algn="l">
                <a:lnSpc>
                  <a:spcPts val="5100"/>
                </a:lnSpc>
              </a:pPr>
              <a:r>
                <a:rPr lang="en-US" sz="4200" b="1" dirty="0">
                  <a:solidFill>
                    <a:srgbClr val="FFFFFF"/>
                  </a:solidFill>
                  <a:latin typeface="+mn-lt"/>
                  <a:ea typeface="+mn-ea"/>
                  <a:cs typeface="+mn-cs"/>
                </a:rPr>
                <a:t>One platform, one lifecycle,</a:t>
              </a:r>
              <a:br/>
              <a:r>
                <a:rPr lang="en-US" sz="4200" b="1" dirty="0">
                  <a:solidFill>
                    <a:schemeClr val="accent2"/>
                  </a:solidFill>
                  <a:latin typeface="+mn-lt"/>
                  <a:ea typeface="+mn-ea"/>
                  <a:cs typeface="+mn-cs"/>
                </a:rPr>
                <a:t>every step traceable</a:t>
              </a:r>
            </a:p>
          </p:txBody>
        </p:sp>
      </p:grpSp>
      <p:grpSp>
        <p:nvGrpSpPr>
          <p:cNvPr id="23" name="before-after"/>
          <p:cNvGrpSpPr/>
          <p:nvPr/>
        </p:nvGrpSpPr>
        <p:grpSpPr>
          <a:xfrm>
            <a:off x="601218" y="2905125"/>
            <a:ext cx="10723745" cy="2317623"/>
            <a:chOff x="601218" y="2905125"/>
            <a:chExt cx="10723745" cy="2317623"/>
          </a:xfrm>
        </p:grpSpPr>
        <p:sp>
          <p:nvSpPr>
            <p:cNvPr id="5" name="TextBox 5"/>
            <p:cNvSpPr txBox="1"/>
            <p:nvPr/>
          </p:nvSpPr>
          <p:spPr>
            <a:xfrm>
              <a:off x="601980" y="2905125"/>
              <a:ext cx="999214" cy="293370"/>
            </a:xfrm>
            <a:prstGeom prst="rect">
              <a:avLst/>
            </a:prstGeom>
            <a:noFill/>
            <a:ln>
              <a:noFill/>
            </a:ln>
          </p:spPr>
          <p:txBody>
            <a:bodyPr wrap="none" lIns="0" tIns="0" rIns="0" bIns="0" anchor="t" anchorCtr="0">
              <a:spAutoFit/>
            </a:bodyPr>
            <a:lstStyle/>
            <a:p>
              <a:pPr algn="l"/>
              <a:r>
                <a:rPr lang="en-US" sz="1500" spc="150" dirty="0">
                  <a:solidFill>
                    <a:srgbClr val="9FB3D1"/>
                  </a:solidFill>
                  <a:latin typeface="+mn-lt"/>
                  <a:ea typeface="+mn-ea"/>
                  <a:cs typeface="+mn-cs"/>
                </a:rPr>
                <a:t>BEFORE</a:t>
              </a:r>
            </a:p>
          </p:txBody>
        </p:sp>
        <p:sp>
          <p:nvSpPr>
            <p:cNvPr id="6" name="TextBox 6"/>
            <p:cNvSpPr txBox="1"/>
            <p:nvPr/>
          </p:nvSpPr>
          <p:spPr>
            <a:xfrm>
              <a:off x="5326380" y="2905125"/>
              <a:ext cx="799935" cy="293370"/>
            </a:xfrm>
            <a:prstGeom prst="rect">
              <a:avLst/>
            </a:prstGeom>
            <a:noFill/>
            <a:ln>
              <a:noFill/>
            </a:ln>
          </p:spPr>
          <p:txBody>
            <a:bodyPr wrap="none" lIns="0" tIns="0" rIns="0" bIns="0" anchor="t" anchorCtr="0">
              <a:spAutoFit/>
            </a:bodyPr>
            <a:lstStyle/>
            <a:p>
              <a:pPr algn="l"/>
              <a:r>
                <a:rPr lang="en-US" sz="1500" spc="150" dirty="0">
                  <a:solidFill>
                    <a:srgbClr val="9FB3D1"/>
                  </a:solidFill>
                  <a:latin typeface="+mn-lt"/>
                  <a:ea typeface="+mn-ea"/>
                  <a:cs typeface="+mn-cs"/>
                </a:rPr>
                <a:t>AFTER</a:t>
              </a:r>
            </a:p>
          </p:txBody>
        </p:sp>
        <p:grpSp>
          <p:nvGrpSpPr>
            <p:cNvPr id="10" name="pair-1"/>
            <p:cNvGrpSpPr/>
            <p:nvPr/>
          </p:nvGrpSpPr>
          <p:grpSpPr>
            <a:xfrm>
              <a:off x="601218" y="3326130"/>
              <a:ext cx="9041116" cy="410718"/>
              <a:chOff x="601218" y="3326130"/>
              <a:chExt cx="9041116" cy="410718"/>
            </a:xfrm>
          </p:grpSpPr>
          <p:sp>
            <p:nvSpPr>
              <p:cNvPr id="7" name="TextBox 7"/>
              <p:cNvSpPr txBox="1"/>
              <p:nvPr/>
            </p:nvSpPr>
            <p:spPr>
              <a:xfrm>
                <a:off x="601218" y="3365182"/>
                <a:ext cx="3233883" cy="322707"/>
              </a:xfrm>
              <a:prstGeom prst="rect">
                <a:avLst/>
              </a:prstGeom>
              <a:noFill/>
              <a:ln>
                <a:noFill/>
              </a:ln>
            </p:spPr>
            <p:txBody>
              <a:bodyPr wrap="none" lIns="0" tIns="0" rIns="0" bIns="0" anchor="t" anchorCtr="0">
                <a:spAutoFit/>
              </a:bodyPr>
              <a:lstStyle/>
              <a:p>
                <a:pPr algn="l"/>
                <a:r>
                  <a:rPr lang="en-US" sz="1650" dirty="0">
                    <a:solidFill>
                      <a:srgbClr val="9FB3D1"/>
                    </a:solidFill>
                    <a:latin typeface="+mn-lt"/>
                    <a:ea typeface="+mn-ea"/>
                    <a:cs typeface="+mn-cs"/>
                  </a:rPr>
                  <a:t>Slots agreed in chats and emails</a:t>
                </a:r>
              </a:p>
            </p:txBody>
          </p:sp>
          <p:sp>
            <p:nvSpPr>
              <p:cNvPr id="8" name="Line 8"/>
              <p:cNvSpPr/>
              <p:nvPr/>
            </p:nvSpPr>
            <p:spPr>
              <a:xfrm>
                <a:off x="4191000" y="3467100"/>
                <a:ext cx="876300" cy="1"/>
              </a:xfrm>
              <a:prstGeom prst="line">
                <a:avLst/>
              </a:prstGeom>
              <a:noFill/>
              <a:ln w="23812">
                <a:solidFill>
                  <a:schemeClr val="accent2"/>
                </a:solidFill>
                <a:tailEnd type="triangle" w="med" len="med"/>
              </a:ln>
            </p:spPr>
          </p:sp>
          <p:sp>
            <p:nvSpPr>
              <p:cNvPr id="9" name="TextBox 9"/>
              <p:cNvSpPr txBox="1"/>
              <p:nvPr/>
            </p:nvSpPr>
            <p:spPr>
              <a:xfrm>
                <a:off x="5323332" y="3326130"/>
                <a:ext cx="4319002" cy="410718"/>
              </a:xfrm>
              <a:prstGeom prst="rect">
                <a:avLst/>
              </a:prstGeom>
              <a:noFill/>
              <a:ln>
                <a:noFill/>
              </a:ln>
            </p:spPr>
            <p:txBody>
              <a:bodyPr wrap="none" lIns="0" tIns="0" rIns="0" bIns="0" anchor="t" anchorCtr="0">
                <a:spAutoFit/>
              </a:bodyPr>
              <a:lstStyle/>
              <a:p>
                <a:pPr algn="l"/>
                <a:r>
                  <a:rPr lang="en-US" sz="2100" dirty="0">
                    <a:solidFill>
                      <a:srgbClr val="FFFFFF"/>
                    </a:solidFill>
                    <a:latin typeface="+mn-lt"/>
                    <a:ea typeface="+mn-ea"/>
                    <a:cs typeface="+mn-cs"/>
                  </a:rPr>
                  <a:t>Conflict-free booking with capacity</a:t>
                </a:r>
              </a:p>
            </p:txBody>
          </p:sp>
        </p:grpSp>
        <p:grpSp>
          <p:nvGrpSpPr>
            <p:cNvPr id="14" name="pair-2"/>
            <p:cNvGrpSpPr/>
            <p:nvPr/>
          </p:nvGrpSpPr>
          <p:grpSpPr>
            <a:xfrm>
              <a:off x="601218" y="3821430"/>
              <a:ext cx="10723745" cy="410718"/>
              <a:chOff x="601218" y="3821430"/>
              <a:chExt cx="10723745" cy="410718"/>
            </a:xfrm>
          </p:grpSpPr>
          <p:sp>
            <p:nvSpPr>
              <p:cNvPr id="11" name="TextBox 11"/>
              <p:cNvSpPr txBox="1"/>
              <p:nvPr/>
            </p:nvSpPr>
            <p:spPr>
              <a:xfrm>
                <a:off x="601218" y="3860482"/>
                <a:ext cx="2838902" cy="322707"/>
              </a:xfrm>
              <a:prstGeom prst="rect">
                <a:avLst/>
              </a:prstGeom>
              <a:noFill/>
              <a:ln>
                <a:noFill/>
              </a:ln>
            </p:spPr>
            <p:txBody>
              <a:bodyPr wrap="none" lIns="0" tIns="0" rIns="0" bIns="0" anchor="t" anchorCtr="0">
                <a:spAutoFit/>
              </a:bodyPr>
              <a:lstStyle/>
              <a:p>
                <a:pPr algn="l"/>
                <a:r>
                  <a:rPr lang="en-US" sz="1650" dirty="0">
                    <a:solidFill>
                      <a:srgbClr val="9FB3D1"/>
                    </a:solidFill>
                    <a:latin typeface="+mn-lt"/>
                    <a:ea typeface="+mn-ea"/>
                    <a:cs typeface="+mn-cs"/>
                  </a:rPr>
                  <a:t>Notes in personal notebooks</a:t>
                </a:r>
              </a:p>
            </p:txBody>
          </p:sp>
          <p:sp>
            <p:nvSpPr>
              <p:cNvPr id="12" name="Line 12"/>
              <p:cNvSpPr/>
              <p:nvPr/>
            </p:nvSpPr>
            <p:spPr>
              <a:xfrm>
                <a:off x="4191000" y="3962400"/>
                <a:ext cx="876300" cy="1"/>
              </a:xfrm>
              <a:prstGeom prst="line">
                <a:avLst/>
              </a:prstGeom>
              <a:noFill/>
              <a:ln w="23812">
                <a:solidFill>
                  <a:schemeClr val="accent2"/>
                </a:solidFill>
                <a:tailEnd type="triangle" w="med" len="med"/>
              </a:ln>
            </p:spPr>
          </p:sp>
          <p:sp>
            <p:nvSpPr>
              <p:cNvPr id="13" name="TextBox 13"/>
              <p:cNvSpPr txBox="1"/>
              <p:nvPr/>
            </p:nvSpPr>
            <p:spPr>
              <a:xfrm>
                <a:off x="5323332" y="3821430"/>
                <a:ext cx="6001631" cy="410718"/>
              </a:xfrm>
              <a:prstGeom prst="rect">
                <a:avLst/>
              </a:prstGeom>
              <a:noFill/>
              <a:ln>
                <a:noFill/>
              </a:ln>
            </p:spPr>
            <p:txBody>
              <a:bodyPr wrap="none" lIns="0" tIns="0" rIns="0" bIns="0" anchor="t" anchorCtr="0">
                <a:spAutoFit/>
              </a:bodyPr>
              <a:lstStyle/>
              <a:p>
                <a:pPr algn="l"/>
                <a:r>
                  <a:rPr lang="en-US" sz="2100" dirty="0">
                    <a:solidFill>
                      <a:srgbClr val="FFFFFF"/>
                    </a:solidFill>
                    <a:latin typeface="+mn-lt"/>
                    <a:ea typeface="+mn-ea"/>
                    <a:cs typeface="+mn-cs"/>
                  </a:rPr>
                  <a:t>Logged requirements, two-party signed minutes</a:t>
                </a:r>
              </a:p>
            </p:txBody>
          </p:sp>
        </p:grpSp>
        <p:grpSp>
          <p:nvGrpSpPr>
            <p:cNvPr id="18" name="pair-3"/>
            <p:cNvGrpSpPr/>
            <p:nvPr/>
          </p:nvGrpSpPr>
          <p:grpSpPr>
            <a:xfrm>
              <a:off x="601218" y="4316730"/>
              <a:ext cx="8885615" cy="410718"/>
              <a:chOff x="601218" y="4316730"/>
              <a:chExt cx="8885615" cy="410718"/>
            </a:xfrm>
          </p:grpSpPr>
          <p:sp>
            <p:nvSpPr>
              <p:cNvPr id="15" name="TextBox 15"/>
              <p:cNvSpPr txBox="1"/>
              <p:nvPr/>
            </p:nvSpPr>
            <p:spPr>
              <a:xfrm>
                <a:off x="601218" y="4355782"/>
                <a:ext cx="3110079" cy="322707"/>
              </a:xfrm>
              <a:prstGeom prst="rect">
                <a:avLst/>
              </a:prstGeom>
              <a:noFill/>
              <a:ln>
                <a:noFill/>
              </a:ln>
            </p:spPr>
            <p:txBody>
              <a:bodyPr wrap="none" lIns="0" tIns="0" rIns="0" bIns="0" anchor="t" anchorCtr="0">
                <a:spAutoFit/>
              </a:bodyPr>
              <a:lstStyle/>
              <a:p>
                <a:pPr algn="l"/>
                <a:r>
                  <a:rPr lang="en-US" sz="1650" dirty="0">
                    <a:solidFill>
                      <a:srgbClr val="9FB3D1"/>
                    </a:solidFill>
                    <a:latin typeface="+mn-lt"/>
                    <a:ea typeface="+mn-ea"/>
                    <a:cs typeface="+mn-cs"/>
                  </a:rPr>
                  <a:t>Grades in private spreadsheets</a:t>
                </a:r>
              </a:p>
            </p:txBody>
          </p:sp>
          <p:sp>
            <p:nvSpPr>
              <p:cNvPr id="16" name="Line 16"/>
              <p:cNvSpPr/>
              <p:nvPr/>
            </p:nvSpPr>
            <p:spPr>
              <a:xfrm>
                <a:off x="4191000" y="4457700"/>
                <a:ext cx="876300" cy="1"/>
              </a:xfrm>
              <a:prstGeom prst="line">
                <a:avLst/>
              </a:prstGeom>
              <a:noFill/>
              <a:ln w="23812">
                <a:solidFill>
                  <a:schemeClr val="accent2"/>
                </a:solidFill>
                <a:tailEnd type="triangle" w="med" len="med"/>
              </a:ln>
            </p:spPr>
          </p:sp>
          <p:sp>
            <p:nvSpPr>
              <p:cNvPr id="17" name="TextBox 17"/>
              <p:cNvSpPr txBox="1"/>
              <p:nvPr/>
            </p:nvSpPr>
            <p:spPr>
              <a:xfrm>
                <a:off x="5323332" y="4316730"/>
                <a:ext cx="4163501" cy="410718"/>
              </a:xfrm>
              <a:prstGeom prst="rect">
                <a:avLst/>
              </a:prstGeom>
              <a:noFill/>
              <a:ln>
                <a:noFill/>
              </a:ln>
            </p:spPr>
            <p:txBody>
              <a:bodyPr wrap="none" lIns="0" tIns="0" rIns="0" bIns="0" anchor="t" anchorCtr="0">
                <a:spAutoFit/>
              </a:bodyPr>
              <a:lstStyle/>
              <a:p>
                <a:pPr algn="l"/>
                <a:r>
                  <a:rPr lang="en-US" sz="2100" dirty="0">
                    <a:solidFill>
                      <a:srgbClr val="FFFFFF"/>
                    </a:solidFill>
                    <a:latin typeface="+mn-lt"/>
                    <a:ea typeface="+mn-ea"/>
                    <a:cs typeface="+mn-cs"/>
                  </a:rPr>
                  <a:t>Standard 3-dimension evaluation</a:t>
                </a:r>
              </a:p>
            </p:txBody>
          </p:sp>
        </p:grpSp>
        <p:grpSp>
          <p:nvGrpSpPr>
            <p:cNvPr id="22" name="pair-4"/>
            <p:cNvGrpSpPr/>
            <p:nvPr/>
          </p:nvGrpSpPr>
          <p:grpSpPr>
            <a:xfrm>
              <a:off x="601218" y="4812030"/>
              <a:ext cx="8632179" cy="410718"/>
              <a:chOff x="601218" y="4812030"/>
              <a:chExt cx="8632179" cy="410718"/>
            </a:xfrm>
          </p:grpSpPr>
          <p:sp>
            <p:nvSpPr>
              <p:cNvPr id="19" name="TextBox 19"/>
              <p:cNvSpPr txBox="1"/>
              <p:nvPr/>
            </p:nvSpPr>
            <p:spPr>
              <a:xfrm>
                <a:off x="601218" y="4851082"/>
                <a:ext cx="2604389" cy="322707"/>
              </a:xfrm>
              <a:prstGeom prst="rect">
                <a:avLst/>
              </a:prstGeom>
              <a:noFill/>
              <a:ln>
                <a:noFill/>
              </a:ln>
            </p:spPr>
            <p:txBody>
              <a:bodyPr wrap="none" lIns="0" tIns="0" rIns="0" bIns="0" anchor="t" anchorCtr="0">
                <a:spAutoFit/>
              </a:bodyPr>
              <a:lstStyle/>
              <a:p>
                <a:pPr algn="l"/>
                <a:r>
                  <a:rPr lang="en-US" sz="1650" dirty="0">
                    <a:solidFill>
                      <a:srgbClr val="9FB3D1"/>
                    </a:solidFill>
                    <a:latin typeface="+mn-lt"/>
                    <a:ea typeface="+mn-ea"/>
                    <a:cs typeface="+mn-cs"/>
                  </a:rPr>
                  <a:t>Reports compiled by hand</a:t>
                </a:r>
              </a:p>
            </p:txBody>
          </p:sp>
          <p:sp>
            <p:nvSpPr>
              <p:cNvPr id="20" name="Line 20"/>
              <p:cNvSpPr/>
              <p:nvPr/>
            </p:nvSpPr>
            <p:spPr>
              <a:xfrm>
                <a:off x="4191000" y="4953000"/>
                <a:ext cx="876300" cy="1"/>
              </a:xfrm>
              <a:prstGeom prst="line">
                <a:avLst/>
              </a:prstGeom>
              <a:noFill/>
              <a:ln w="23812">
                <a:solidFill>
                  <a:schemeClr val="accent2"/>
                </a:solidFill>
                <a:tailEnd type="triangle" w="med" len="med"/>
              </a:ln>
            </p:spPr>
          </p:sp>
          <p:sp>
            <p:nvSpPr>
              <p:cNvPr id="21" name="TextBox 21"/>
              <p:cNvSpPr txBox="1"/>
              <p:nvPr/>
            </p:nvSpPr>
            <p:spPr>
              <a:xfrm>
                <a:off x="5323332" y="4812030"/>
                <a:ext cx="3910065" cy="410718"/>
              </a:xfrm>
              <a:prstGeom prst="rect">
                <a:avLst/>
              </a:prstGeom>
              <a:noFill/>
              <a:ln>
                <a:noFill/>
              </a:ln>
            </p:spPr>
            <p:txBody>
              <a:bodyPr wrap="none" lIns="0" tIns="0" rIns="0" bIns="0" anchor="t" anchorCtr="0">
                <a:spAutoFit/>
              </a:bodyPr>
              <a:lstStyle/>
              <a:p>
                <a:pPr algn="l"/>
                <a:r>
                  <a:rPr lang="en-US" sz="2100" dirty="0">
                    <a:solidFill>
                      <a:srgbClr val="FFFFFF"/>
                    </a:solidFill>
                    <a:latin typeface="+mn-lt"/>
                    <a:ea typeface="+mn-ea"/>
                    <a:cs typeface="+mn-cs"/>
                  </a:rPr>
                  <a:t>Weekly and semester statistics</a:t>
                </a:r>
              </a:p>
            </p:txBody>
          </p:sp>
        </p:grpSp>
      </p:grpSp>
      <p:grpSp>
        <p:nvGrpSpPr>
          <p:cNvPr id="26" name="status"/>
          <p:cNvGrpSpPr/>
          <p:nvPr/>
        </p:nvGrpSpPr>
        <p:grpSpPr>
          <a:xfrm>
            <a:off x="601980" y="5448300"/>
            <a:ext cx="7818120" cy="950595"/>
            <a:chOff x="601980" y="5448300"/>
            <a:chExt cx="7818120" cy="950595"/>
          </a:xfrm>
        </p:grpSpPr>
        <p:sp>
          <p:nvSpPr>
            <p:cNvPr id="24" name="Line 24"/>
            <p:cNvSpPr/>
            <p:nvPr/>
          </p:nvSpPr>
          <p:spPr>
            <a:xfrm>
              <a:off x="609600" y="5448300"/>
              <a:ext cx="7810500" cy="9525"/>
            </a:xfrm>
            <a:custGeom>
              <a:avLst/>
              <a:gdLst/>
              <a:ahLst/>
              <a:cxnLst/>
              <a:rect l="l" t="t" r="r" b="b"/>
              <a:pathLst>
                <a:path w="7810500" h="9525">
                  <a:moveTo>
                    <a:pt x="0" y="0"/>
                  </a:moveTo>
                  <a:lnTo>
                    <a:pt x="7810500" y="0"/>
                  </a:lnTo>
                </a:path>
              </a:pathLst>
            </a:custGeom>
            <a:noFill/>
            <a:ln w="9525">
              <a:solidFill>
                <a:srgbClr val="FFFFFF">
                  <a:alpha val="25000"/>
                </a:srgbClr>
              </a:solidFill>
            </a:ln>
          </p:spPr>
        </p:sp>
        <p:sp>
          <p:nvSpPr>
            <p:cNvPr id="25" name="TextBox 25"/>
            <p:cNvSpPr txBox="1"/>
            <p:nvPr/>
          </p:nvSpPr>
          <p:spPr>
            <a:xfrm>
              <a:off x="601980" y="5572125"/>
              <a:ext cx="6321247" cy="826770"/>
            </a:xfrm>
            <a:prstGeom prst="rect">
              <a:avLst/>
            </a:prstGeom>
            <a:noFill/>
            <a:ln>
              <a:noFill/>
            </a:ln>
          </p:spPr>
          <p:txBody>
            <a:bodyPr wrap="none" lIns="0" tIns="0" rIns="0" bIns="0" anchor="t" anchorCtr="0">
              <a:spAutoFit/>
            </a:bodyPr>
            <a:lstStyle/>
            <a:p>
              <a:pPr algn="l">
                <a:lnSpc>
                  <a:spcPts val="2100"/>
                </a:lnSpc>
              </a:pPr>
              <a:r>
                <a:rPr lang="en-US" sz="1500" b="1" dirty="0">
                  <a:solidFill>
                    <a:srgbClr val="FFFFFF"/>
                  </a:solidFill>
                  <a:latin typeface="+mn-lt"/>
                  <a:ea typeface="+mn-ea"/>
                  <a:cs typeface="+mn-cs"/>
                </a:rPr>
                <a:t>Built</a:t>
              </a:r>
              <a:r>
                <a:rPr lang="en-US" sz="1500" dirty="0">
                  <a:solidFill>
                    <a:srgbClr val="FFFFFF"/>
                  </a:solidFill>
                  <a:latin typeface="+mn-lt"/>
                  <a:ea typeface="+mn-ea"/>
                  <a:cs typeface="+mn-cs"/>
                </a:rPr>
                <a:t xml:space="preserve"> Spring Boot 3.3 + PostgreSQL backend · 28 integration tests passing</a:t>
              </a:r>
              <a:br/>
              <a:r>
                <a:rPr lang="en-US" sz="1500" b="1" dirty="0">
                  <a:solidFill>
                    <a:srgbClr val="FFFFFF"/>
                  </a:solidFill>
                  <a:latin typeface="+mn-lt"/>
                  <a:ea typeface="+mn-ea"/>
                  <a:cs typeface="+mn-cs"/>
                </a:rPr>
                <a:t>Progress</a:t>
              </a:r>
              <a:r>
                <a:rPr lang="en-US" sz="1500" dirty="0">
                  <a:solidFill>
                    <a:srgbClr val="FFFFFF"/>
                  </a:solidFill>
                  <a:latin typeface="+mn-lt"/>
                  <a:ea typeface="+mn-ea"/>
                  <a:cs typeface="+mn-cs"/>
                </a:rPr>
                <a:t xml:space="preserve"> 41 of 88 functional items implemented</a:t>
              </a:r>
              <a:br/>
              <a:r>
                <a:rPr lang="en-US" sz="1500" b="1" dirty="0">
                  <a:solidFill>
                    <a:srgbClr val="FFFFFF"/>
                  </a:solidFill>
                  <a:latin typeface="+mn-lt"/>
                  <a:ea typeface="+mn-ea"/>
                  <a:cs typeface="+mn-cs"/>
                </a:rPr>
                <a:t>Next</a:t>
              </a:r>
              <a:r>
                <a:rPr lang="en-US" sz="1500" dirty="0">
                  <a:solidFill>
                    <a:srgbClr val="FFFFFF"/>
                  </a:solidFill>
                  <a:latin typeface="+mn-lt"/>
                  <a:ea typeface="+mn-ea"/>
                  <a:cs typeface="+mn-cs"/>
                </a:rPr>
                <a:t xml:space="preserve"> Notifications, Google SSO, ownership checks, AI-drafted minutes</a:t>
              </a:r>
            </a:p>
          </p:txBody>
        </p:sp>
      </p:grpSp>
      <p:grpSp>
        <p:nvGrpSpPr>
          <p:cNvPr id="29" name="thanks"/>
          <p:cNvGrpSpPr/>
          <p:nvPr/>
        </p:nvGrpSpPr>
        <p:grpSpPr>
          <a:xfrm>
            <a:off x="10148107" y="5621655"/>
            <a:ext cx="1444961" cy="695134"/>
            <a:chOff x="10148107" y="5621655"/>
            <a:chExt cx="1444961" cy="695134"/>
          </a:xfrm>
        </p:grpSpPr>
        <p:sp>
          <p:nvSpPr>
            <p:cNvPr id="27" name="TextBox 27"/>
            <p:cNvSpPr txBox="1"/>
            <p:nvPr/>
          </p:nvSpPr>
          <p:spPr>
            <a:xfrm>
              <a:off x="10148107" y="5621655"/>
              <a:ext cx="1444961" cy="410718"/>
            </a:xfrm>
            <a:prstGeom prst="rect">
              <a:avLst/>
            </a:prstGeom>
            <a:noFill/>
            <a:ln>
              <a:noFill/>
            </a:ln>
          </p:spPr>
          <p:txBody>
            <a:bodyPr wrap="none" lIns="0" tIns="0" rIns="0" bIns="0" anchor="t" anchorCtr="0">
              <a:spAutoFit/>
            </a:bodyPr>
            <a:lstStyle/>
            <a:p>
              <a:pPr algn="r"/>
              <a:r>
                <a:rPr lang="en-US" sz="2100" b="1" dirty="0">
                  <a:solidFill>
                    <a:schemeClr val="accent2"/>
                  </a:solidFill>
                  <a:latin typeface="+mn-lt"/>
                  <a:ea typeface="+mn-ea"/>
                  <a:cs typeface="+mn-cs"/>
                </a:rPr>
                <a:t>Thank you</a:t>
              </a:r>
            </a:p>
          </p:txBody>
        </p:sp>
        <p:sp>
          <p:nvSpPr>
            <p:cNvPr id="28" name="TextBox 28"/>
            <p:cNvSpPr txBox="1"/>
            <p:nvPr/>
          </p:nvSpPr>
          <p:spPr>
            <a:xfrm>
              <a:off x="10443275" y="5994082"/>
              <a:ext cx="1147507" cy="322707"/>
            </a:xfrm>
            <a:prstGeom prst="rect">
              <a:avLst/>
            </a:prstGeom>
            <a:noFill/>
            <a:ln>
              <a:noFill/>
            </a:ln>
          </p:spPr>
          <p:txBody>
            <a:bodyPr wrap="none" lIns="0" tIns="0" rIns="0" bIns="0" anchor="t" anchorCtr="0">
              <a:spAutoFit/>
            </a:bodyPr>
            <a:lstStyle/>
            <a:p>
              <a:pPr algn="r"/>
              <a:r>
                <a:rPr lang="en-US" sz="1650" dirty="0">
                  <a:solidFill>
                    <a:srgbClr val="FFFFFF"/>
                  </a:solidFill>
                  <a:latin typeface="+mn-lt"/>
                  <a:ea typeface="+mn-ea"/>
                  <a:cs typeface="+mn-cs"/>
                </a:rPr>
                <a:t>Questions?</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apstone_tracking_pitch">
  <a:themeElements>
    <a:clrScheme name="capstone_tracking_pitch">
      <a:dk1>
        <a:srgbClr val="1D2430"/>
      </a:dk1>
      <a:lt1>
        <a:srgbClr val="FFFFFF"/>
      </a:lt1>
      <a:dk2>
        <a:srgbClr val="1F497D"/>
      </a:dk2>
      <a:lt2>
        <a:srgbClr val="F2F5FA"/>
      </a:lt2>
      <a:accent1>
        <a:srgbClr val="16325C"/>
      </a:accent1>
      <a:accent2>
        <a:srgbClr val="F28C28"/>
      </a:accent2>
      <a:accent3>
        <a:srgbClr val="2F80ED"/>
      </a:accent3>
      <a:accent4>
        <a:srgbClr val="16325C"/>
      </a:accent4>
      <a:accent5>
        <a:srgbClr val="5B6678"/>
      </a:accent5>
      <a:accent6>
        <a:srgbClr val="D5DCE6"/>
      </a:accent6>
      <a:hlink>
        <a:srgbClr val="F28C28"/>
      </a:hlink>
      <a:folHlink>
        <a:srgbClr val="2F80ED"/>
      </a:folHlink>
    </a:clrScheme>
    <a:fontScheme name="capstone_tracking_pitch">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apstone_tracking_pit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apstone_tracking_pitch">
  <a:themeElements>
    <a:clrScheme name="capstone_tracking_pitch">
      <a:dk1>
        <a:srgbClr val="1D2430"/>
      </a:dk1>
      <a:lt1>
        <a:srgbClr val="FFFFFF"/>
      </a:lt1>
      <a:dk2>
        <a:srgbClr val="1F497D"/>
      </a:dk2>
      <a:lt2>
        <a:srgbClr val="F2F5FA"/>
      </a:lt2>
      <a:accent1>
        <a:srgbClr val="16325C"/>
      </a:accent1>
      <a:accent2>
        <a:srgbClr val="F28C28"/>
      </a:accent2>
      <a:accent3>
        <a:srgbClr val="2F80ED"/>
      </a:accent3>
      <a:accent4>
        <a:srgbClr val="16325C"/>
      </a:accent4>
      <a:accent5>
        <a:srgbClr val="5B6678"/>
      </a:accent5>
      <a:accent6>
        <a:srgbClr val="D5DCE6"/>
      </a:accent6>
      <a:hlink>
        <a:srgbClr val="F28C28"/>
      </a:hlink>
      <a:folHlink>
        <a:srgbClr val="2F80ED"/>
      </a:folHlink>
    </a:clrScheme>
    <a:fontScheme name="capstone_tracking_pitch">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apstone_tracking_pitch">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2026-09-24T10:57:00Z</dcterms:created>
  <dcterms:modified xsi:type="dcterms:W3CDTF">2026-09-24T10:57:00Z</dcterms:modified>
  <cp:category/>
  <cp:contentStatus/>
</cp:coreProperties>
</file>